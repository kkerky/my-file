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b48e6697d4a65" /><Relationship Type="http://schemas.openxmlformats.org/officeDocument/2006/relationships/extended-properties" Target="/docProps/app.xml" Id="R29973de7f43a49dc" /><Relationship Type="http://schemas.openxmlformats.org/officeDocument/2006/relationships/officeDocument" Target="/ppt/presentation.xml" Id="R449b4b4117dc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29002836b4f3e"/>
  </p:sldMasterIdLst>
  <p:notesMasterIdLst>
    <p:notesMasterId xmlns:r="http://schemas.openxmlformats.org/officeDocument/2006/relationships" r:id="R78baf901fc40463b"/>
  </p:notesMasterIdLst>
  <p:sldIdLst>
    <p:sldId xmlns:r="http://schemas.openxmlformats.org/officeDocument/2006/relationships" id="256" r:id="Rb0d9104c9c894b01"/>
    <p:sldId xmlns:r="http://schemas.openxmlformats.org/officeDocument/2006/relationships" id="257" r:id="R38d27c54377948d8"/>
    <p:sldId xmlns:r="http://schemas.openxmlformats.org/officeDocument/2006/relationships" id="258" r:id="Ra7153c0e59f940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b3d1b156c34839" /><Relationship Type="http://schemas.openxmlformats.org/officeDocument/2006/relationships/slideMaster" Target="/ppt/slideMasters/slideMaster1.xml" Id="R46429002836b4f3e" /><Relationship Type="http://schemas.openxmlformats.org/officeDocument/2006/relationships/notesMaster" Target="/ppt/notesMasters/notesMaster1.xml" Id="R78baf901fc40463b" /><Relationship Type="http://schemas.openxmlformats.org/officeDocument/2006/relationships/presProps" Target="/ppt/presProps.xml" Id="Re5af100af89a40db" /><Relationship Type="http://schemas.openxmlformats.org/officeDocument/2006/relationships/tableStyles" Target="/ppt/tableStyles.xml" Id="R40302d720aaf4b89" /><Relationship Type="http://schemas.openxmlformats.org/officeDocument/2006/relationships/slide" Target="/ppt/slides/slide1.xml" Id="Rb0d9104c9c894b01" /><Relationship Type="http://schemas.openxmlformats.org/officeDocument/2006/relationships/slide" Target="/ppt/slides/slide2.xml" Id="R38d27c54377948d8" /><Relationship Type="http://schemas.openxmlformats.org/officeDocument/2006/relationships/slide" Target="/ppt/slides/slide3.xml" Id="Ra7153c0e59f9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16a2ba91e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e0fde364fb4cad" /><Relationship Type="http://schemas.openxmlformats.org/officeDocument/2006/relationships/notesMaster" Target="/ppt/notesMasters/notesMaster1.xml" Id="R7f06bc2ffc9646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83862fdb84b03" /><Relationship Type="http://schemas.openxmlformats.org/officeDocument/2006/relationships/notesMaster" Target="/ppt/notesMasters/notesMaster1.xml" Id="Ra30e351a16544e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1c138d8a44db5" /><Relationship Type="http://schemas.openxmlformats.org/officeDocument/2006/relationships/notesMaster" Target="/ppt/notesMasters/notesMaster1.xml" Id="R4f4b4a0a902e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本ページは DEV、TEST、PROD の区分に依存しない基本コンポーネントと通信関係のみを示しており、最終的な環境設計を表すものではありません。</a:t>
            </a:r>
          </a:p>
          <a:p xmlns:a="http://schemas.openxmlformats.org/drawingml/2006/main">
            <a:r>
              <a:t>- Horizontal Discovery は MID Server から対象へアクセスします。ACC は Agent から MID Server へ WebSocket 接続を確立します。Azure Cloud Discovery は Azure API を通じてクラウド側のリソース情報を取得します。</a:t>
            </a:r>
          </a:p>
          <a:p xmlns:a="http://schemas.openxmlformats.org/drawingml/2006/main">
            <a:r>
              <a:t>- 環境数、Subscription、Resource Group、VNet/Subnet、MID Server の台数、権限境界は、後続の設計段階で確認する必要があります。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は ID ディレクトリの基盤です。本ページの 4 階層は Azure Resource Manager が公式に定義する管理スコープです。</a:t>
            </a:r>
          </a:p>
          <a:p xmlns:a="http://schemas.openxmlformats.org/drawingml/2006/main">
            <a:r>
              <a:t>- Management Group は複数 Subscription を横断したガバナンスに利用します。Subscription はリソース利用、課金、クォータ、アクセス制御の重要な境界です。</a:t>
            </a:r>
          </a:p>
          <a:p xmlns:a="http://schemas.openxmlformats.org/drawingml/2006/main">
            <a:r>
              <a:t>- Resource Group はライフサイクルが近い関連リソースを管理します。Resource は VM、VNet、Disk、NIC などの実体です。</a:t>
            </a:r>
          </a:p>
          <a:p xmlns:a="http://schemas.openxmlformats.org/drawingml/2006/main">
            <a:r>
              <a:t>- Resource Manager は Portal、CLI、PowerShell、REST、SDK からの要求を受け取り、認証と認可を行った後、対応する Azure サービスへ転送します。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本ページは用語の早見表であり、各製品の正式な定義や設計書に代わるものではありません。</a:t>
            </a:r>
          </a:p>
          <a:p xmlns:a="http://schemas.openxmlformats.org/drawingml/2006/main">
            <a:r>
              <a:t>- Azure の固有名詞は Microsoft の公式英語名称を残し、報告で理解しやすい日本語の意味を括弧内に記載しています。</a:t>
            </a:r>
          </a:p>
          <a:p xmlns:a="http://schemas.openxmlformats.org/drawingml/2006/main">
            <a:r>
              <a:t>- ServiceNow と通信プロトコルの用語は別区分とし、Azure ネイティブ リソースとの混同を避けています。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9109c62ec4d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39c64025a4f4d" /><Relationship Type="http://schemas.openxmlformats.org/officeDocument/2006/relationships/slideLayout" Target="/ppt/slideLayouts/slideLayout1.xml" Id="R23eba3cd75f645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ba3cd75f645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fca3ccd85487f" /><Relationship Type="http://schemas.openxmlformats.org/officeDocument/2006/relationships/notesSlide" Target="/ppt/notesSlides/notesSlide1.xml" Id="R90795d4bf7b8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afb2e023d450c" /><Relationship Type="http://schemas.openxmlformats.org/officeDocument/2006/relationships/image" Target="/ppt/media/image.png" Id="R8a7dff13d146466c" /><Relationship Type="http://schemas.openxmlformats.org/officeDocument/2006/relationships/notesSlide" Target="/ppt/notesSlides/notesSlide2.xml" Id="Rf3441208278545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df78dc1444f0f" /><Relationship Type="http://schemas.openxmlformats.org/officeDocument/2006/relationships/notesSlide" Target="/ppt/notesSlides/notesSlide3.xml" Id="Rbd9f813ac21f4c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E8C6C-4BE7-44B5-96FC-262D11E2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01｜構成図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4A6EB-0D70-4C3B-90E5-203A70C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PC2.0 Azure / ServiceNow ITOM（IT 運用管理）基本構成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DF03B-9D4F-45EE-9135-BE98CAA7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本ページはコンポーネントと通信関係のみを示します。環境数、Subscription（サブスクリプション）、Resource Group（リソース グループ）、VNet/Subnet（仮想ネットワーク／サブネット）の分割方針は未確定です。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C0D17-2AE8-4D96-929F-9D9D6B53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F47AB-0366-44CB-9824-D74B149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68A5D-865A-4C12-81A2-C268531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445D"/>
          </a:solidFill>
          <a:ln xmlns:a="http://schemas.openxmlformats.org/drawingml/2006/main" w="9525">
            <a:solidFill>
              <a:srgbClr val="29445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077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インスタンスとの対応関係は別途確認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42351-A661-46DC-AD53-05E059E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70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</a:t>
            </a:r>
          </a:p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MID Server から対象へアクセス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81AF7-64A3-4FCA-9B8E-0CD65691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182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Agent Client Collector（エージェント収集機能）</a:t>
            </a:r>
          </a:p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ACC Agent から MID Server 経由で送信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2BE4F-D17C-4164-B65E-6F213F7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F4F5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86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Cloud Discovery（Azure クラウドディスカバリ）</a:t>
            </a:r>
          </a:p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API 経由でクラウドリソースを取得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86385-59B8-4F09-8F71-7BF9C7A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F8C84-84D9-4A25-BA97-FA91B7C1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CF824-1CD3-4BED-A36E-0A17232F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792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D2FF7-33D2-401A-A0CE-441D568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4020C-6F82-441B-829B-F7845E0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908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Microsoft Entra Tenant（ID テナント）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Subscription（サブスクリプション）：範囲は要確認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9ED2D-719A-4B26-809B-338E1317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RBAC（ロールベース アクセス制御）｜Tag（タグ）｜Azure Policy（ポリシー）｜Azure Monitor（監視）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CE8E2-BC3A-442A-B34D-144EFB4D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 API（リソース管理 API）</a:t>
            </a:r>
          </a:p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A93E0-2C8B-41E5-9EB6-ABD57EEE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E277A-E5F7-4485-8192-2AB3ABD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の管理・ネットワーク範囲（数、名称、境界は要確認）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8D9E5-CD44-42E2-806B-15F6A53A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Server（中間サーバー）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Discovery（水平ディスカバリ）を実行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データを受信し ServiceNow へ転送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台数・設定：要確認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7E44E-07AF-4B1C-80DA-1B195C8C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管理対象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Windows / Linux / Network Device（ネットワーク機器）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Agent（ACC エージェント、適用可能な対象）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対象リソース一覧：要確認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0BC34-9E3D-4B28-8DAE-EDEAAA8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C3F98-D6FD-4F5B-93EE-CE90E50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6901F-34E9-4399-B951-CCEAF8DE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68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オプションの共通コンポーネント：Palo Alto（ファイアウォール）/ NSG（ネットワーク セキュリティ グループ）/ Route Table（ルート テーブル）/ Azure Bastion（安全な接続）/ Log Analytics（ログ分析）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D5101-8E91-4CCF-9257-8D79E44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今後の確認事項：環境数｜Subscription（サブスクリプション）/ Resource Group（リソース グループ）/ VNet（仮想ネットワーク）/ Subnet（サブネット）の区分｜MID 台数｜権限と Credential（認証情報）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68FEF-6D1A-46A8-94D4-B5DDA09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6A52F-60DE-4720-A3A9-B035218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73245-6A27-4390-A733-4476B62A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2934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A426B-864B-4AF9-9367-3FADCFAA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02｜Azure 管理階層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E5217-501F-4543-B587-5952C2CE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各階層の定義・含まれるもの・管理対象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EE81B-D7BD-476E-AF2B-F1E9FFB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Microsoft では 4 つの Management Scope（管理スコープ）を定義しており、下位階層は上位で設定された Azure RBAC（ロールベース アクセス制御）と Azure Policy（ポリシー）を継承します。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C21B3-37AC-481A-B358-D8EB99BC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8A076-1001-442A-8AA1-0A35C30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Tenant（ID テナント）：Azure の User（ユーザー）、Group（グループ）、Service Principal（サービス プリンシパル）を一元管理します。同一の Management Group（管理グループ）配下の Subscription（サブスクリプション）は、同じ Tenant（テナント）に属する必要があります。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E73FD-588B-44F5-81C9-B162656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1  Management Group（管理グループ）｜複数 Subscription のガバナンス階層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定義：Subscription の上位に位置する Management Scope（管理スコープ）で、複数の Subscription を統合管理します。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含まれるもの：子 Management Group、Subscription　管理対象：Azure RBAC / Azure Policy / Compliance（コンプライアンス）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PC2.0：カスタム Management Group を設定するか要確認。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F0975-C38E-4A48-B19C-54E1F47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2  Subscription（サブスクリプション）｜課金、Quota（クォータ）、権限の境界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定義：Azure リソースの利用、料金、クォータ、アクセス制御に関する重要な範囲です。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含まれるもの：Resource Group（リソース グループ）、Subscription レベルのリソースと設定　PC2.0：数と範囲は要確認。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CEDE4-F785-4C58-8815-0B44FA16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3  Resource Group（リソース グループ）｜Lifecycle（ライフサイクル）管理用コンテナー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定義：同じソリューションやライフサイクルを持つ関連 Resource（リソース）をまとめて管理します。各 Resource が所属できる Resource Group は 1 つです。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含まれるもの：VM、VNet、Disk、NIC、NSG など　PC2.0：数と命名は要確認。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5B391-07B9-4555-B414-4A840A8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  Resource（リソース）｜実際に作成・稼働する対象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定義：Azure 上で作成、更新、削除、監視できる具体的な管理対象です。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Compute：VM（仮想マシン）/ Disk（ディスク）　Network：VNet（仮想ネットワーク）/ Subnet（サブネット）/ NIC（ネットワーク インターフェイス）/ NSG（ネットワーク セキュリティ グループ）/ Route Table（ルート テーブル）/ Public IP（パブリック IP）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Operations：Key Vault（キー管理）/ Log Analytics（ログ分析）/ Azure Bastion（安全な接続サービス）。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F8502-7F85-4163-A3E7-808E8D85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Microsoft 公式の階層図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39FC-62BB-401A-8FE1-7D36E6B7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dff13d146466c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72CA3-6DED-46DD-96C6-8C56A4B3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9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Resource Manager（リソース マネージャー）の位置付け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58338-5918-4AE9-AF07-DD641C02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7600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Azure Portal（ポータル）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Azure CLI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CC9E4-C8CB-4EE0-BAF8-7C62043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2CB12-7D88-4EBD-BAF1-CE58FDAE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>
            <a:normAutofit fontScale="6200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Manager（リソース マネージャー）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Authentication（認証）・Authorization（認可）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D1B5B-0F88-467C-BA11-B83150C2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8691"/>
          </a:solidFill>
          <a:ln xmlns:a="http://schemas.openxmlformats.org/drawingml/2006/main" w="9525">
            <a:solidFill>
              <a:srgbClr val="7886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91883-2A09-4B8B-884E-F2532230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  <p:txBody>
          <a:bodyPr xmlns:a="http://schemas.openxmlformats.org/drawingml/2006/main" anchor="ctr">
            <a:normAutofit fontScale="8406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Provider（リソース プロバイダー）→ Resource（リソース）</a:t>
            </a:r>
          </a:p>
          <a:p xmlns:a="http://schemas.openxmlformats.org/drawingml/2006/main">
            <a:pPr algn="ctr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Microsoft.Compute：VM｜Microsoft.Network：VNet / NIC｜Microsoft.Storage：Disk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78704-8D55-42AE-8BD4-DAA6A816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継承方向：Management Group（管理グループ）→ Subscription（サブスクリプション）→ Resource Group（リソース グループ）→ Resource（リソース）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5B65D-FD3C-4348-AE80-91216E1E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出典：Microsoft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13D44-8F2D-4039-915E-B29DB921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829B7-27EB-453A-AC41-FF5BAD97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A55E3-0739-4724-B1EC-0E68533B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6755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2B652-A37E-4A8F-9374-630B4366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03｜用語集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24D09-0B9C-40C5-8E0A-758534DD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/ ServiceNow 用語早見表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2D292-D1A0-4A14-8090-9814BF5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表記方針：English official name（日本語の意味）。IT に詳しくない方にも伝わる説明を優先しています。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FD17A-8ED0-4E9C-BF8A-66D2497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6CCA9-C398-4364-82C5-C53D0F6D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IDENTITY &amp; SCOPE｜ID と管理スコープ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Tenant（ID テナント）：Azure の ID ディレクトリと管理境界。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User / Group（ユーザー / グループ）：ユーザー アカウントとその集合。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 Principal（サービス プリンシパル）：プログラムや外部システムが Azure にアクセスするための非対話型 ID。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Group（管理グループ）：Subscription の上位で権限とポリシーを統合管理する単位。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Subscription（サブスクリプション）：課金、クォータ、権限、リソース管理の重要な範囲。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Group（リソース グループ）：ライフサイクルが近い Resource をまとめる管理単位。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Resource（リソース）：Azure 上で実際に作成・管理する対象。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688BB-F703-43EF-B64A-2E428711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GOVERNANCE &amp; OPERATIONS｜ガバナンスと運用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Manager（リソース マネージャー）：Azure リソースの管理要求を一元的に受け付けて処理する仕組み。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Provider（リソース プロバイダー）：特定種類の Azure Resource を提供するサービス。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RBAC（ロールベース アクセス制御）：誰が、どの範囲で、何を実行できるかを決める仕組み。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Policy（ポリシー）：リソースが組織ルールに適合しているか確認・制限する仕組み。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Tag（タグ）：検索や費用整理のためにリソースへ付ける分類情報。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Monitor（監視）：Azure の監視データを収集・分析するサービス。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Log Analytics Workspace（ログ分析ワークスペース）：ログを集約して保存・検索する領域。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Key Vault（キー コンテナー）：パスワード、キー、証明書を安全に保管するサービス。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C0442-5393-4C2D-A688-19D6790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NETWORK &amp; COMPUTE｜ネットワークとコンピュート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VNet / Virtual Network（仮想ネットワーク）：Azure 上で分離されたプライベート ネットワークの範囲。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Subnet（サブネット）：VNet 内をさらに分割したアドレス範囲。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NIC / Network Interface（ネットワーク インターフェイス）：VM を Subnet に接続する仮想 NIC。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NSG / Network Security Group（ネットワーク セキュリティ グループ）：ルールに基づいてネットワーク通信を許可または拒否する仕組み。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Route Table（ルート テーブル）：ネットワーク通信の次の転送先を定める設定。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Public IP（パブリック IP）：インターネットからアクセス可能な IP アドレス。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VM / Virtual Machine（仮想マシン）：Windows または Linux を実行するクラウド サーバー。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Managed Disk（マネージド ディスク）：VM が使用する Azure 管理のディスク。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Bastion（安全な接続サービス）：Azure Portal から VM へ安全に接続するサービス。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DF122-C7D6-4753-B969-14E6728F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SERVICENOW &amp; PROTOCOLS｜ServiceNow と通信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Server（中間サーバー）：ServiceNow と管理対象環境を接続するコンポーネント。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Discovery（水平ディスカバリ）：IP 範囲を起点にホストやネットワーク機器を検出する方式。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Cloud Discovery（Azure クラウドディスカバリ）：Azure API を通じてクラウドリソース情報を取得する方式。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/ Agent Client Collector（エージェント収集機能）：対象上の Agent が情報を収集して送信する仕組み。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Credential（認証情報）：Discovery が対象へログインするためのアカウントやキーなど。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SSH：Linux へのリモートアクセスで一般的に使用。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WMI：Windows の管理情報取得で一般的に使用。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SNMP：ネットワーク機器の検出で一般的に使用。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WSS：ACC と MID Server 間で使用する暗号化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D206A-ADED-4CAF-870B-0FA0A50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利用上の注意：報告資料では英語名 + 日本語表記を使用し、実際の設定画面、アカウント申請、手順書では英語名を基準とします。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1038B-13B6-4EE8-8D6E-F7822411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3CDCA-5CDA-4B64-8EEF-A6CDA349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ITOM｜用語説明版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4A39A-FFFA-4678-936D-81AD5F21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3402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2026-09-03T05:33:52.6150000Z</dcterms:created>
  <dcterms:modified xsi:type="dcterms:W3CDTF">2026-09-03T05:33:52.6150000Z</dcterms:modified>
</coreProperties>
</file>