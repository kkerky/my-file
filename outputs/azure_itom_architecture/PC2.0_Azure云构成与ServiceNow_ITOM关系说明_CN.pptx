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48ac0292454c17" /><Relationship Type="http://schemas.openxmlformats.org/officeDocument/2006/relationships/extended-properties" Target="/docProps/app.xml" Id="Rbd419ff3fc82441a" /><Relationship Type="http://schemas.openxmlformats.org/officeDocument/2006/relationships/officeDocument" Target="/ppt/presentation.xml" Id="Rb0de61dad880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e5628613b4894"/>
  </p:sldMasterIdLst>
  <p:notesMasterIdLst>
    <p:notesMasterId xmlns:r="http://schemas.openxmlformats.org/officeDocument/2006/relationships" r:id="Ra7e82577c1324ba0"/>
  </p:notesMasterIdLst>
  <p:sldIdLst>
    <p:sldId xmlns:r="http://schemas.openxmlformats.org/officeDocument/2006/relationships" id="256" r:id="Re36be388a0224672"/>
    <p:sldId xmlns:r="http://schemas.openxmlformats.org/officeDocument/2006/relationships" id="257" r:id="Racfd399580b841fd"/>
    <p:sldId xmlns:r="http://schemas.openxmlformats.org/officeDocument/2006/relationships" id="258" r:id="R135156ee3646480f"/>
    <p:sldId xmlns:r="http://schemas.openxmlformats.org/officeDocument/2006/relationships" id="259" r:id="Red996476ffad484b"/>
    <p:sldId xmlns:r="http://schemas.openxmlformats.org/officeDocument/2006/relationships" id="260" r:id="R72b970aefa134945"/>
    <p:sldId xmlns:r="http://schemas.openxmlformats.org/officeDocument/2006/relationships" id="261" r:id="R2deb2bc052e64213"/>
    <p:sldId xmlns:r="http://schemas.openxmlformats.org/officeDocument/2006/relationships" id="262" r:id="R2f5f3839aadd4c66"/>
    <p:sldId xmlns:r="http://schemas.openxmlformats.org/officeDocument/2006/relationships" id="263" r:id="R47d059971ddd4434"/>
    <p:sldId xmlns:r="http://schemas.openxmlformats.org/officeDocument/2006/relationships" id="264" r:id="R404b08973a82455b"/>
    <p:sldId xmlns:r="http://schemas.openxmlformats.org/officeDocument/2006/relationships" id="265" r:id="Re8bbe4cc16204bdf"/>
    <p:sldId xmlns:r="http://schemas.openxmlformats.org/officeDocument/2006/relationships" id="266" r:id="R42abce3159b84d97"/>
    <p:sldId xmlns:r="http://schemas.openxmlformats.org/officeDocument/2006/relationships" id="267" r:id="R1f15c4fe06014ae5"/>
    <p:sldId xmlns:r="http://schemas.openxmlformats.org/officeDocument/2006/relationships" id="268" r:id="Ref832d84a7a94100"/>
    <p:sldId xmlns:r="http://schemas.openxmlformats.org/officeDocument/2006/relationships" id="269" r:id="R50fd2180a2214387"/>
    <p:sldId xmlns:r="http://schemas.openxmlformats.org/officeDocument/2006/relationships" id="270" r:id="Rb85df5e9215f40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82db67c5124c3b" /><Relationship Type="http://schemas.openxmlformats.org/officeDocument/2006/relationships/slideMaster" Target="/ppt/slideMasters/slideMaster1.xml" Id="Rb66e5628613b4894" /><Relationship Type="http://schemas.openxmlformats.org/officeDocument/2006/relationships/notesMaster" Target="/ppt/notesMasters/notesMaster1.xml" Id="Ra7e82577c1324ba0" /><Relationship Type="http://schemas.openxmlformats.org/officeDocument/2006/relationships/presProps" Target="/ppt/presProps.xml" Id="Rc2416f7b0a99415f" /><Relationship Type="http://schemas.openxmlformats.org/officeDocument/2006/relationships/tableStyles" Target="/ppt/tableStyles.xml" Id="R14cd2c8f104848ab" /><Relationship Type="http://schemas.openxmlformats.org/officeDocument/2006/relationships/slide" Target="/ppt/slides/slide1.xml" Id="Re36be388a0224672" /><Relationship Type="http://schemas.openxmlformats.org/officeDocument/2006/relationships/slide" Target="/ppt/slides/slide2.xml" Id="Racfd399580b841fd" /><Relationship Type="http://schemas.openxmlformats.org/officeDocument/2006/relationships/slide" Target="/ppt/slides/slide3.xml" Id="R135156ee3646480f" /><Relationship Type="http://schemas.openxmlformats.org/officeDocument/2006/relationships/slide" Target="/ppt/slides/slide4.xml" Id="Red996476ffad484b" /><Relationship Type="http://schemas.openxmlformats.org/officeDocument/2006/relationships/slide" Target="/ppt/slides/slide5.xml" Id="R72b970aefa134945" /><Relationship Type="http://schemas.openxmlformats.org/officeDocument/2006/relationships/slide" Target="/ppt/slides/slide6.xml" Id="R2deb2bc052e64213" /><Relationship Type="http://schemas.openxmlformats.org/officeDocument/2006/relationships/slide" Target="/ppt/slides/slide7.xml" Id="R2f5f3839aadd4c66" /><Relationship Type="http://schemas.openxmlformats.org/officeDocument/2006/relationships/slide" Target="/ppt/slides/slide8.xml" Id="R47d059971ddd4434" /><Relationship Type="http://schemas.openxmlformats.org/officeDocument/2006/relationships/slide" Target="/ppt/slides/slide9.xml" Id="R404b08973a82455b" /><Relationship Type="http://schemas.openxmlformats.org/officeDocument/2006/relationships/slide" Target="/ppt/slides/slide10.xml" Id="Re8bbe4cc16204bdf" /><Relationship Type="http://schemas.openxmlformats.org/officeDocument/2006/relationships/slide" Target="/ppt/slides/slide11.xml" Id="R42abce3159b84d97" /><Relationship Type="http://schemas.openxmlformats.org/officeDocument/2006/relationships/slide" Target="/ppt/slides/slide12.xml" Id="R1f15c4fe06014ae5" /><Relationship Type="http://schemas.openxmlformats.org/officeDocument/2006/relationships/slide" Target="/ppt/slides/slide13.xml" Id="Ref832d84a7a94100" /><Relationship Type="http://schemas.openxmlformats.org/officeDocument/2006/relationships/slide" Target="/ppt/slides/slide14.xml" Id="R50fd2180a2214387" /><Relationship Type="http://schemas.openxmlformats.org/officeDocument/2006/relationships/slide" Target="/ppt/slides/slide15.xml" Id="Rb85df5e9215f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015947a31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c3bcaf90340dd" /><Relationship Type="http://schemas.openxmlformats.org/officeDocument/2006/relationships/notesMaster" Target="/ppt/notesMasters/notesMaster1.xml" Id="Rb222c4370863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abbe383204d68" /><Relationship Type="http://schemas.openxmlformats.org/officeDocument/2006/relationships/notesMaster" Target="/ppt/notesMasters/notesMaster1.xml" Id="Re1663973012c43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29a818d2774365" /><Relationship Type="http://schemas.openxmlformats.org/officeDocument/2006/relationships/notesMaster" Target="/ppt/notesMasters/notesMaster1.xml" Id="Rafe195a0956b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dc08d1d02244aa" /><Relationship Type="http://schemas.openxmlformats.org/officeDocument/2006/relationships/notesMaster" Target="/ppt/notesMasters/notesMaster1.xml" Id="Rd381a3684b7b4f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28c3501b4d4611" /><Relationship Type="http://schemas.openxmlformats.org/officeDocument/2006/relationships/notesMaster" Target="/ppt/notesMasters/notesMaster1.xml" Id="R58b04a301d724c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76024e7c4b48ff" /><Relationship Type="http://schemas.openxmlformats.org/officeDocument/2006/relationships/notesMaster" Target="/ppt/notesMasters/notesMaster1.xml" Id="Rcc651a030ef642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20cbf056fb43a3" /><Relationship Type="http://schemas.openxmlformats.org/officeDocument/2006/relationships/notesMaster" Target="/ppt/notesMasters/notesMaster1.xml" Id="Rca79c98ffd6c4e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a4eb45bda94dc6" /><Relationship Type="http://schemas.openxmlformats.org/officeDocument/2006/relationships/notesMaster" Target="/ppt/notesMasters/notesMaster1.xml" Id="R85d55e851caa4d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1dae88acae44dc" /><Relationship Type="http://schemas.openxmlformats.org/officeDocument/2006/relationships/notesMaster" Target="/ppt/notesMasters/notesMaster1.xml" Id="R74b455f23cb34b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f3645bb9264bd3" /><Relationship Type="http://schemas.openxmlformats.org/officeDocument/2006/relationships/notesMaster" Target="/ppt/notesMasters/notesMaster1.xml" Id="R244a4d51674e4d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b4e89c84084c82" /><Relationship Type="http://schemas.openxmlformats.org/officeDocument/2006/relationships/notesMaster" Target="/ppt/notesMasters/notesMaster1.xml" Id="R40bda4f452f641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b8d6b26efa4d9d" /><Relationship Type="http://schemas.openxmlformats.org/officeDocument/2006/relationships/notesMaster" Target="/ppt/notesMasters/notesMaster1.xml" Id="R548b0de633a341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46c08528a04333" /><Relationship Type="http://schemas.openxmlformats.org/officeDocument/2006/relationships/notesMaster" Target="/ppt/notesMasters/notesMaster1.xml" Id="Rfaa9116608aa4f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c789a5fa974bd0" /><Relationship Type="http://schemas.openxmlformats.org/officeDocument/2006/relationships/notesMaster" Target="/ppt/notesMasters/notesMaster1.xml" Id="R25d1ae9c195646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9f9e2574b74678" /><Relationship Type="http://schemas.openxmlformats.org/officeDocument/2006/relationships/notesMaster" Target="/ppt/notesMasters/notesMaster1.xml" Id="Rfe80eb90523e4e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先说明本资料不以 Azure 产品清单为目的，而是解释 ITOM 建设为什么需要这些 Azure 组件。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三种方式可以并用。其差异不是产品优劣，而是观察位置与数据来源不同。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Management Group 并非小型 PoC 的必选项；本页把它放入层级中，是为了说明生产规模扩大后的治理位置。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https://learn.microsoft.com/en-us/entra/fundamentals/faq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Azure 中同一 VNet 的子网默认可以通过系统路由互通；安全隔离需要 NSG、路由与防火墙策略共同设计。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https://learn.microsoft.com/en-us/azure/virtual-network/network-overview</a:t>
            </a:r>
          </a:p>
          <a:p xmlns:a="http://schemas.openxmlformats.org/drawingml/2006/main">
            <a:r>
              <a:t>- https://learn.microsoft.com/en-us/azure/virtual-machines/managed-disks-overview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Azure Monitor 是监视平台；ServiceNow Discovery 是配置项发现。两者可以集成，但职责不同。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https://learn.microsoft.com/en-us/azure/virtual-network/network-overview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https://learn.microsoft.com/en-us/azure/azure-resource-manager/management/tag-resources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本页是能力边界概览。实际字段和 CI 类受 ServiceNow 版本、插件、Pattern、权限和目标环境影响。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https://www.servicenow.com/docs/r/it-operations-management/itom-visibility/data-collected-azure-discovery.html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MID Server 的目标平台要求取决于协议与功能，不应仅根据被发现主机的 OS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https://www.servicenow.com/docs/r/servicenow-platform/mid-server/t_ConfigureMIDIPRange.html</a:t>
            </a:r>
          </a:p>
          <a:p xmlns:a="http://schemas.openxmlformats.org/drawingml/2006/main">
            <a:r>
              <a:t>- https://learn.microsoft.com/en-us/azure/virtual-network/network-overview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官方说明为 Agent 打开到 MID Server 的 WebSocket；MID 再把消息转发给 ServiceNow。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https://www.servicenow.com/docs/r/it-operations-management/agent-client-collector/acc-configure-websocket-endpoint.html</a:t>
            </a:r>
          </a:p>
          <a:p xmlns:a="http://schemas.openxmlformats.org/drawingml/2006/main">
            <a:r>
              <a:t>- https://www.servicenow.com/docs/r/it-operations-management/agent-client-collector/acc-planning-checklist.html</a:t>
            </a:r>
          </a:p>
          <a:p xmlns:a="http://schemas.openxmlformats.org/drawingml/2006/main">
            <a:r>
              <a:t>- https://www.servicenow.com/docs/r/it-operations-management/agent-client-collector/acc-deployment-checklist.html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Azure Cloud Discovery 的具体资源类型会随版本和 Pattern 更新，应在目标实例与官方 data collected 页面中确认。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- https://www.servicenow.com/docs/r/it-operations-management/discovery/discovery-manager.html</a:t>
            </a:r>
          </a:p>
          <a:p xmlns:a="http://schemas.openxmlformats.org/drawingml/2006/main">
            <a:r>
              <a:t>- https://www.servicenow.com/docs/r/it-operations-management/discovery-and-service-mapping-patterns/azure-cloud-discovery-patterns.html</a:t>
            </a:r>
          </a:p>
          <a:p xmlns:a="http://schemas.openxmlformats.org/drawingml/2006/main">
            <a:r>
              <a:t>- https://www.servicenow.com/docs/r/it-operations-management/itom-visibility/data-collected-azure-discovery.html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本页关于三种方式互补属于基于官方能力边界的设计归纳；实际 CI 合并必须在目标实例验证。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https://www.servicenow.com/docs/r/it-operations-management/itom-visibility/data-collected-azure-discovery.html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本页为 PC2.0 项目建议，不是 Microsoft 或 ServiceNow 的强制拓扑。</a:t>
            </a:r>
          </a:p>
          <a:p xmlns:a="http://schemas.openxmlformats.org/drawingml/2006/main">
            <a:r>
              <a:t>- 单 Subscription 降低初期建设门槛，但订阅级权限、配额、Policy 和 Cloud Discovery 范围会跨环境，需要额外管控。</a:t>
            </a:r>
          </a:p>
          <a:p xmlns:a="http://schemas.openxmlformats.org/drawingml/2006/main">
            <a:r>
              <a:t>- 生产双 MID 为可用性建议；最终数量依据负载、协议、网络区和维护窗口确定。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https://learn.microsoft.com/en-us/azure/azure-resource-manager/management/tag-resources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关于 Cloud Discovery 在 Resource Group 级最小权限下能否完整发现全部资源类型，应依据目标版本 API 权限表和 PoC 结果确认。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https://learn.microsoft.com/en-us/azure/azure-resource-manager/management/tag-resources</a:t>
            </a:r>
          </a:p>
          <a:p xmlns:a="http://schemas.openxmlformats.org/drawingml/2006/main">
            <a:r>
              <a:t>- https://www.servicenow.com/docs/r/it-operations-management/discovery/discovery-manager.html</a:t>
            </a:r>
          </a:p>
          <a:p xmlns:a="http://schemas.openxmlformats.org/drawingml/2006/main">
            <a:r>
              <a:t>- https://www.servicenow.com/docs/r/it-operations-management/discovery-and-service-mapping-patterns/azure-cloud-discovery-patterns.html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汇报时重点说明：ServiceNow 团队无法单独解决 Azure 路由、NSG、目标权限和软件分发问题。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https://www.servicenow.com/docs/r/it-operations-management/agent-client-collector/acc-deployment-checklist.html</a:t>
            </a:r>
          </a:p>
          <a:p xmlns:a="http://schemas.openxmlformats.org/drawingml/2006/main">
            <a:r>
              <a:t>- https://www.servicenow.com/docs/r/it-operations-management/discovery/discovery-manager.html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生产推广前必须验证卸载和失败回收，而不仅是成功安装。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https://www.servicenow.com/docs/r/it-operations-management/agent-client-collector/acc-planning-checklist.html</a:t>
            </a:r>
          </a:p>
          <a:p xmlns:a="http://schemas.openxmlformats.org/drawingml/2006/main">
            <a:r>
              <a:t>- https://www.servicenow.com/docs/r/it-operations-management/agent-client-collector/acc-deployment-checklist.html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汇报后可把本页作为后续设计和手顺书的官方索引。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https://learn.microsoft.com/en-us/azure/virtual-network/network-overview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https://learn.microsoft.com/en-us/azure/virtual-machines/managed-disks-overview</a:t>
            </a:r>
          </a:p>
          <a:p xmlns:a="http://schemas.openxmlformats.org/drawingml/2006/main">
            <a:r>
              <a:t>- https://learn.microsoft.com/en-us/azure/azure-resource-manager/management/tag-resources</a:t>
            </a:r>
          </a:p>
          <a:p xmlns:a="http://schemas.openxmlformats.org/drawingml/2006/main">
            <a:r>
              <a:t>- https://learn.microsoft.com/en-us/entra/fundamentals/faq</a:t>
            </a:r>
          </a:p>
          <a:p xmlns:a="http://schemas.openxmlformats.org/drawingml/2006/main">
            <a:r>
              <a:t>- https://learn.microsoft.com/en-us/entra/identity/managed-identities-azure-resources/overview-for-developers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- https://www.servicenow.com/docs/r/it-operations-management/discovery/discovery-manager.html</a:t>
            </a:r>
          </a:p>
          <a:p xmlns:a="http://schemas.openxmlformats.org/drawingml/2006/main">
            <a:r>
              <a:t>- https://www.servicenow.com/docs/r/it-operations-management/discovery-and-service-mapping-patterns/azure-cloud-discovery-patterns.html</a:t>
            </a:r>
          </a:p>
          <a:p xmlns:a="http://schemas.openxmlformats.org/drawingml/2006/main">
            <a:r>
              <a:t>- https://www.servicenow.com/docs/r/it-operations-management/itom-visibility/data-collected-azure-discovery.html</a:t>
            </a:r>
          </a:p>
          <a:p xmlns:a="http://schemas.openxmlformats.org/drawingml/2006/main">
            <a:r>
              <a:t>- https://www.servicenow.com/docs/r/servicenow-platform/mid-server/t_ConfigureMIDIPRange.html</a:t>
            </a:r>
          </a:p>
          <a:p xmlns:a="http://schemas.openxmlformats.org/drawingml/2006/main">
            <a:r>
              <a:t>- https://www.servicenow.com/docs/r/it-operations-management/agent-client-collector/acc-planning-checklist.html</a:t>
            </a:r>
          </a:p>
          <a:p xmlns:a="http://schemas.openxmlformats.org/drawingml/2006/main">
            <a:r>
              <a:t>- https://www.servicenow.com/docs/r/it-operations-management/agent-client-collector/acc-deployment-checklist.html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38ecdee2f4a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a3a9a8cd7a4bb2" /><Relationship Type="http://schemas.openxmlformats.org/officeDocument/2006/relationships/slideLayout" Target="/ppt/slideLayouts/slideLayout1.xml" Id="Rb5c9a8fd8aaf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c9a8fd8aaf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435a03d694e2b" /><Relationship Type="http://schemas.openxmlformats.org/officeDocument/2006/relationships/notesSlide" Target="/ppt/notesSlides/notesSlide1.xml" Id="Red4220c4b729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ac372e8e24304" /><Relationship Type="http://schemas.openxmlformats.org/officeDocument/2006/relationships/notesSlide" Target="/ppt/notesSlides/notesSlide2.xml" Id="Ref4f988648844b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47328786b420d" /><Relationship Type="http://schemas.openxmlformats.org/officeDocument/2006/relationships/notesSlide" Target="/ppt/notesSlides/notesSlide3.xml" Id="R4c77b09e9a3f49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c6c6125614de3" /><Relationship Type="http://schemas.openxmlformats.org/officeDocument/2006/relationships/notesSlide" Target="/ppt/notesSlides/notesSlide4.xml" Id="Rf0c4a26a5bc0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0a1be0eb34af8" /><Relationship Type="http://schemas.openxmlformats.org/officeDocument/2006/relationships/notesSlide" Target="/ppt/notesSlides/notesSlide5.xml" Id="Rd173263e5f3748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6b4b3578a4fae" /><Relationship Type="http://schemas.openxmlformats.org/officeDocument/2006/relationships/notesSlide" Target="/ppt/notesSlides/notesSlide6.xml" Id="Rebade96ffb41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21a5c740c4f1c" /><Relationship Type="http://schemas.openxmlformats.org/officeDocument/2006/relationships/notesSlide" Target="/ppt/notesSlides/notesSlide7.xml" Id="R65f1c3d982e048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8c5ee6dd4b4d" /><Relationship Type="http://schemas.openxmlformats.org/officeDocument/2006/relationships/notesSlide" Target="/ppt/notesSlides/notesSlide8.xml" Id="Ra0647f22910d43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0c06838c41bb" /><Relationship Type="http://schemas.openxmlformats.org/officeDocument/2006/relationships/notesSlide" Target="/ppt/notesSlides/notesSlide9.xml" Id="Rfa76550574124d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f7ce778674a71" /><Relationship Type="http://schemas.openxmlformats.org/officeDocument/2006/relationships/notesSlide" Target="/ppt/notesSlides/notesSlide10.xml" Id="R949f0f02f71a40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11b34457d4270" /><Relationship Type="http://schemas.openxmlformats.org/officeDocument/2006/relationships/notesSlide" Target="/ppt/notesSlides/notesSlide11.xml" Id="R9cab29f43a1f45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94afd1cac4220" /><Relationship Type="http://schemas.openxmlformats.org/officeDocument/2006/relationships/notesSlide" Target="/ppt/notesSlides/notesSlide12.xml" Id="R868c4fe2990a43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f624fc301463a" /><Relationship Type="http://schemas.openxmlformats.org/officeDocument/2006/relationships/notesSlide" Target="/ppt/notesSlides/notesSlide13.xml" Id="R7416fdd53f4e4e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23d924c644dcd" /><Relationship Type="http://schemas.openxmlformats.org/officeDocument/2006/relationships/notesSlide" Target="/ppt/notesSlides/notesSlide14.xml" Id="Rfcc4e23548274b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81afc6a43447d" /><Relationship Type="http://schemas.openxmlformats.org/officeDocument/2006/relationships/notesSlide" Target="/ppt/notesSlides/notesSlide15.xml" Id="Rfe320859e13449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A41E6-9E4A-47A5-8F69-09E83B96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46496-C5B7-4D0B-BB37-A11A7118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99769-005B-489F-AF3B-730935AC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F8B2E-80F3-434C-BB00-521D499E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AZURE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9CB2A-DF35-44F1-90E3-8229022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628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云构成与</a:t>
            </a:r>
          </a:p>
          <a:p xmlns:a="http://schemas.openxmlformats.org/drawingml/2006/main">
            <a:pPr algn="l">
              <a:defRPr sz="35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ServiceNow ITOM 的关系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68062-3C90-4EC1-991D-74AFCC2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面向 PC2.0｜Discovery・ACC・Cloud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F17B4-AE43-4C38-9FB6-C3FD753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2BD26-33FD-42DF-9A70-8595359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目的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ADDEA-4CF5-4F94-AF71-F2D92D2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用一套图说明 Azure 从大到小包含什么、各组件负责什么，</a:t>
            </a:r>
          </a:p>
          <a:p xmlns:a="http://schemas.openxmlformats.org/drawingml/2006/main">
            <a:pPr algn="l">
              <a:defRPr sz="157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以及三种 ITOM 获取方式如何共同进入 CMDB。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60D38-05D2-4A91-A329-9862F3AB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00125"/>
            <a:ext cx="80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5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5A7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328EA-0DE9-44F8-A2C1-8E9873C0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 ITOM 数据路径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041BF-FE4A-4131-BBF6-954FFA5E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43175"/>
            <a:ext cx="80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D3322-78E6-44E0-9035-47F5ECD3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24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套 PC2.0 推荐架构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ED198-706E-4F87-8EC2-9D14A1A2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86225"/>
            <a:ext cx="80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EBBBD-C1E1-46C7-9718-CE84FB2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67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页可汇报资料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0DC85-C169-4F45-B8FC-C9EC99E0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484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依据 Microsoft Learn 与 ServiceNow 官方文档整理</a:t>
            </a:r>
          </a:p>
        </p:txBody>
      </p:sp>
    </p:spTree>
    <p:extLst>
      <p:ext uri="{BB962C8B-B14F-4D97-AF65-F5344CB8AC3E}">
        <p14:creationId xmlns:p14="http://schemas.microsoft.com/office/powerpoint/2010/main" val="491374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A3889-9454-4837-ADCE-56D4AF9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E23BE-6B3F-45FF-BDB1-F08B3985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先记住三句话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03D1B-816A-4806-936B-893AC16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提供运行环境，ITOM 用不同入口看见同一资产的不同侧面。后续设计围绕“范围、通路、身份”展开。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033F8-2847-4E73-B32F-8A24205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402ED-EB7D-4DC5-8160-A120FF2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52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EC7C5-603B-4D57-A96C-43885090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2B7C7-AADE-4C6F-B52B-A8D707FA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067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1｜Azure 是分层管理的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EE73-0A58-4915-901F-9A2722B2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Tenant / Management Group / Subscription / Resource Group / Resource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越往下越具体；上层策略和权限会影响下层。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42DD9-FA25-4843-BE0D-9247D85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352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D9213-4379-41CF-B75F-ECC981B9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DDA9A-94F9-4709-A13C-4CB3B78F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3067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2｜三种获取方式不互相替代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0902D-C717-4988-8629-6351B8B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Cloud Discovery：看云平台资源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Horizontal Discovery：看 OS 与网络设备内部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ACC：由代理持续把主机信息送出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6107F-C49F-441D-A3C2-60352915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352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3929D-1A4E-439F-B143-101136C1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FAFF9-7C39-4FF2-9494-78C110FF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3067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3｜一套 Subscription 可以做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E5D30-C7C1-4856-AE04-1B8BF903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DEV / TEST / PROD 可先按 Resource Group 与 VNet 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但权限、路由、Credential、MID 与数据范围必须明确隔离。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048FB-8D92-4623-8E15-08C2FE5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官方结构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A5092-26A0-413A-9D93-E4948AAA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05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官方定义的层级和组件关系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1A575-54BD-44C6-927A-DC24AEFC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958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官方能力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AD737-AA47-4E35-AD84-531D8405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05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ServiceNow 官方支持的数据路径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5F6CA-2B96-44C7-8D20-7F04EBD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项目建议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67C87-9D6E-4B5F-B01E-47A373E8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053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PC2.0 的推荐落地方式，不是官方强制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70539-2FBF-4ABE-AF13-750841E5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7A3EF-E94A-4A82-A9AA-8C85B3D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关键判断：先问“要发现云资源，还是要发现主机内部？” 再选择 Cloud Discovery、Horizontal Discovery 或 ACC。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E9261-CA9F-47ED-B50D-8E2B03D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5461E-13E1-448A-BFC5-DF2AB28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05BD2-DBAD-4E5F-A239-C7A6B8FB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5541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22A78-87A2-4EAF-8C28-3E67A6D4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AZURE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4BB78-AD31-4BC7-A53F-8F62E8FB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从大到小的管理层级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B5881-36CF-436E-81BD-98ED084C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身份边界在 Tenant，计费与配额边界在 Subscription，日常建设通常落到 Resource Group 和具体资源。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CFFBE-5539-4705-A0A3-A835B39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AAFE9-E010-4F21-8C51-E5FE8D0B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371725"/>
            <a:ext cx="8639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18E6B-CF1F-474E-B994-E95DB1D2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81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0FD87-13AF-49AD-AFD3-3F431978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09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AB12-42B6-4DE9-88E1-0B993DC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038350" cy="22098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23CFB-B28A-4F51-AB3E-4FB60DA6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666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BC5A6-9801-43AF-8B49-28275DCE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Tenant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7E94E-87A3-4FC2-9D2E-852ADE2F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身份目录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用户、组、应用身份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Subscription 信任某个 Entra Tenant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24EEC-4455-467D-80DA-2B1ACA47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81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58A05-2B40-4DD4-8D6B-A633D512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09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740B5-CD09-4C79-BB80-4F323411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90825"/>
            <a:ext cx="2038350" cy="22098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61EBA-54E7-4B5A-9384-68F27ECA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90825"/>
            <a:ext cx="666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B035F-15E0-4536-8E50-2C8C359F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Management 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95745-E262-4618-BC39-0DC64013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多订阅治理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统一 Policy / RBAC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规模小时可不使用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6ADA8-B9E8-4F6B-8D81-D022418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81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FA361-F154-48B7-AB2F-F1CCD87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9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195C6-AE5B-4F6F-B94B-3A19842C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90825"/>
            <a:ext cx="2038350" cy="22098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2267E-2CAC-44F7-8DDA-446E98AB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90825"/>
            <a:ext cx="666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53C24-8697-4711-9742-7DEAAF38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Subscription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9FF0B-E176-4B8C-A06D-8907E7C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计费与配额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资源提供程序、费用、配额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Cloud Discovery 的重要范围单位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DC398-5895-4277-9604-68D65751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3E361-73AB-4581-8878-03010CF6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09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9DB61-8ADB-4B51-8E6D-F420E467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2038350" cy="22098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39AEA-37C7-49A5-A08D-0757703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666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DE32E-E3C3-4F47-959D-CA8C290A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146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Resource Group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0BB7A5-F4F5-4BBD-9F1A-A2D57D1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生命周期容器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集中管理相关资源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可设置 RBAC / Policy / Lock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0D957-E130-4421-9CCA-CC577DB2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181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2A516-895E-4FB3-8B52-ABB8A046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209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1D1B63-7C01-4711-980F-2A826A4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90825"/>
            <a:ext cx="2038350" cy="22098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C43EC6-489E-4AD3-AC59-43F51B4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90825"/>
            <a:ext cx="666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EF0A5-1CCA-4957-BCFB-F69E178A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Resource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1FF89E-E63D-4D6A-8C49-8E1268F2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173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实际对象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VNet、VM、Disk、NIC、Public IP、Database 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FFB884-992A-4365-940C-682F29B0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7BD869-7B64-4431-9ABC-90A1C05B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继承逻辑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43A89B-D67A-4535-9D4A-96AA381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05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上层设置会影响下层。权限授予时既要看角色，也要看作用范围（Scope）。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5D8B40-3D12-44D1-915A-3475AE33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317CBC-89DB-465A-97F5-9F56442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8FF491-DE44-4B1F-A500-AD5E2E8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5517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389A17-BAA7-4F63-886A-6DE9C47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AZURE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83C12-57D2-4BEE-AE6B-38D2E135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一个 Azure 环境里通常包含什么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72D58-6CA8-4148-8FEB-BB8B66C8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VNet 是私有网络边界；Subnet 划分地址；NIC 把 VM 接入 Subnet；NSG 与路由分别负责“是否允许”和“从哪里走”。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AB38E-2852-41B6-924C-F7BD7F02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4F53F-3B3B-48E3-B03F-D8002597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52130-D417-474F-9921-4849E5DB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VNet｜10.20.0.0/16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9E50C-F4F6-43FD-ADAE-0B5D7808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2194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420CE-85A3-4620-AC3E-71187B84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Subnet-App｜10.20.10.0/24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49A94-304B-47B5-BACC-B26B96C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NSG-App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12CDA-E735-4D6D-A7FA-2550E26B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146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Route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67DF2-2E44-43C6-ACE4-30D93E8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2714625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AE38C-9607-4094-9348-456D59AE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F614D-587E-4619-B3C6-3DC8E4D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VM-App-01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60138-6D2E-409B-A4E6-322BF4D6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4098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NIC 10.20.10.4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OS Disk + Data Disk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623C6-C160-4A26-80B3-341FF9F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2194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E1582-040F-47D9-B804-5C4D4E71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Subnet-MID｜10.20.20.0/24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7A42C-FE92-455F-9EEA-401F2AD2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1465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NSG-MID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E0EE5-7B00-4FE9-BEC6-5C74F091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Route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3C8FD-2E22-41FC-A29B-20176EA9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95675"/>
            <a:ext cx="2714625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40B4C-BFAE-4356-A710-ECEF2B1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95675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59280-A61E-4E62-82B3-B6C741BF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MID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8B01A-FDA4-4A3E-BE04-706246ED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24098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访问目标网段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向 ServiceNow / Azure API 发起出站连接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F4F49-8BDE-4941-974B-BDA6A575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FEE13-1C72-4BE7-A66F-391984A9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666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4911E-A58A-455B-A829-052009F3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7642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边界与运维组件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B182A0-7B2E-43A0-8EE6-53FA01E0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19325"/>
            <a:ext cx="30289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Firewall / Palo Alto NVA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Bastion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Public IP / NAT Gateway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Private DNS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Monitor / Log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B2063D-153B-4AA5-BFBB-6992224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1A103-304B-4FB5-8CAA-A31FAFA3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不要混淆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C98FB-919F-4F34-BB9A-A6BE2883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05375"/>
            <a:ext cx="2876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NSG：允许或拒绝流量</a:t>
            </a:r>
          </a:p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Route Table：决定流量路径</a:t>
            </a:r>
          </a:p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Firewall：集中检查并执行安全策略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1B489-D607-4165-B07E-B9287B7A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B326B-9445-46FE-AAAA-B915CAF2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7AC04-F572-4677-9880-672B12DD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2791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0986A8-F83A-48BB-9EF5-67B342BF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COMPONENT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3FEC5-E86D-472E-BD57-94F85134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各组件是干什么的，和 ITOM 有什么关系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E2796-73D6-4BD0-8940-6D65356A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不是所有组件都由 ITOM 团队建设，但它们会决定 Discovery 能否连通、能看到什么、由谁授权。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A5CF3-7080-44AA-AF57-B922CA7D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3E765-C5AC-4A37-96EE-53AEB02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AF686-AE8C-49EB-A025-928A71E6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3BC7A-311B-4D93-B373-B4E50ACB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CEC5F-DDAA-41D9-A0A5-C3279BE9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573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 Azure 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62B8C-97DC-469B-9988-24B2D4F4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594D3-4828-4BC2-9D9E-A0B4075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57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ITOM 的关系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0EE9B-A746-4807-986B-AF944B5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1095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D7072-E371-4C14-8E55-2856E8DC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1845A-B77B-4AAB-8732-4593F92F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身份与权限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8E0C3-7521-4CC2-B2D0-09864D2F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050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Entra ID / User / Group / Service Principal / Managed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F6F58-F860-4E5B-9936-C079E7C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050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谁能登录、谁能调用 Azure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2562A-7D85-4334-99F5-170F1200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050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Cloud Discovery 认证；人员与自动化最小权限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DC780-11B3-4CC0-8702-ACC87283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78022-8681-4EF6-9FE4-9581E0E0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6227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治理范围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BC2CD-49F1-4710-AC71-EA65DA91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241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Subscription / Resource Group / Tag / RBAC / Policy / 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FF87F-FFBC-48E1-A792-A0384E03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241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资源归属、权限范围、命名与保护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60548-5F03-457A-9242-265875D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241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决定发现范围、环境区分与变更保护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4FA56-D6B0-48F6-87FA-18D25CA3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1095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2A80D-2B4E-4E93-9F0C-C9F08D10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24261-F356-4438-89EE-04FD6D34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15E4B-F9A2-48F0-8FA2-C8CCF431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43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VNet / Subnet / NIC / IP / NSG / Route / Firewall / DNS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E6ED3-BFBA-456F-BA4E-B9FDA0A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43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连接资源并控制路径与流量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7DE970-15C1-4A49-B9F4-C16EC259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43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决定 MID、ACC、目标设备之间能否通信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4EE54-C2E9-4545-83F0-DA4EA9B8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65CF30-0E75-4414-817D-2374ECBC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计算与存储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35B3FD-D72C-4EEB-8596-4BCCD4E8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624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VM / VMSS / Disk / Snapshot /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2CC63-74A3-42F4-B14F-CB33A47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624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承载 Windows、Linux 与应用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168D69-5176-42F4-8F3E-208FDC6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624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Horizontal Discovery / ACC 的主要主机对象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10B3C0-C1E9-41D5-A719-9AD7B3B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95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BB478D-87EF-49DF-B0E5-CD0936A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0859A-773C-44DF-94A2-3546EE4F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平台服务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ED86EE-1E1F-4E67-92B8-01652FA8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815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Load Balancer / App Service / Database / Storage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60D482-2A68-4B58-9A95-D869D8D0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815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提供 Azure 托管能力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186CAE-08CE-482F-8841-E8F7017C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815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主要由 Cloud Discovery 通过 Azure API 获取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EEF41A-5364-46BF-B47D-61F948B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C6B"/>
          </a:solidFill>
          <a:ln xmlns:a="http://schemas.openxmlformats.org/drawingml/2006/main" w="9525">
            <a:solidFill>
              <a:srgbClr val="4B5C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BCCF7C-BEF5-4291-A452-7A448A11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3B3260-94EF-47EA-AA9B-F6614E7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006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Monitor / Log Analytics / Alert / Backup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4AB642-9BAC-4ABA-834D-A09EF866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006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监视、告警、日志与恢复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D6A26A-D1F1-47B4-9BC0-1F81727F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4006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和 ITOM 数据互补，不等同于 CMDB Discovery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127371-522A-4EC2-8FC0-72A315D6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75038F-3CA8-42F3-8C24-285E39B9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BB6A0D-8ED2-48A8-BBD4-640BD36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5643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300BC9-D56D-4869-9974-F9C493A9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ITOM VISIBILITY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96703-AADA-4179-B6D2-037B7B11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三种获取方式看到的是不同侧面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133A2-DB5A-4517-BAE1-52611A9C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组合使用时，Azure API 提供“云侧上下文”，MID 扫描或 ACC 提供“OS 内部事实”。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92A4C-950F-4857-AD4A-D5B9FA99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A3FCD-418E-4335-91B5-E51D7524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37147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19A2C-CAC3-43AF-9353-B025D416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1998B-F275-48A7-8DD6-8397BB7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9B110-F88C-462D-80C4-93304290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MID 主动访问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7D0B9-ABA9-4679-8F27-01DDB467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主要路径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D0E57-E30C-4637-9B82-E4999AB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ServiceNow → MID → 目标 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2344F-7908-4E83-B667-804AC9C6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主要获得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542E8-A995-494D-8D1A-D43D54F0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OS、硬件、网络接口、进程、安装软件、网络设备等；具体内容取决于 Credential 与 Pattern。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F2242-8600-45DA-B355-30D2D825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37147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ED780-35F1-4D80-B16C-3F6EB61C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C89A5-1648-4D13-AFD6-921C41F9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D318D-ED01-4467-806C-9EE8A78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Agent 主动送出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19422-F814-4D89-AAF2-2A6B0B8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76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主要路径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85AF3-96E1-45C5-ADA0-D2339ED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24225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目标主机 ACC → MID → ServiceNow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2BF51-B7D2-4DD7-AD77-DD096E53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38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主要获得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8E661-B0A3-487D-BCA6-87EFFD13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053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持续获得主机侧信息与检查结果；不依赖 MID 主动登录目标，但需要 Agent 与 MID 的 WebSocket 通路。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678D9-3B42-43C4-B586-68C6D13F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37147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B43E0-1586-4B9A-A8C7-7FA8693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9D3A1-7EEF-4E6A-8CA1-287F1403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Cloud Discovery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7144E-E672-4B50-99C5-268239D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19375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Azure API 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95DB91-9273-4420-AA83-AA2BF72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76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主要路径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D809F-5B54-43E8-9E88-F50BA6CF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ServiceNow → MID → Azure Resource Manager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FD9D3-A0D7-4BC0-8CF7-2134930D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38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主要获得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90F54-90A7-4B73-B34A-50716D8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053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Subscription、Resource Group、VNet、Subnet、VM、Disk、NIC、LB、Database 等云资源和关系。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18988-5B21-41C0-8DEA-D64B808E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578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共同目的：将可信数据写入 / 更新 CMDB，并通过 IRE 与 Reconciliation 控制识别和来源优先级。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959D4-C3A3-45A1-A825-297115E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7817BD-5C0E-4768-89DA-3F789A4B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97E4A-D1C6-4491-85B8-104B9E4F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7825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5003B0-6F2C-483B-91A1-EE6BD35D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A383D-4959-4325-9D25-19ADC8AA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MID Server 从网络侧主动发现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EE39D-C1F0-434A-9F51-42C5834D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Schedule 决定“扫什么、何时扫、用哪个 MID”；网络通路与 Credential 决定能否深入到 OS 和应用层。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26465-154E-4F52-BF34-34AD0815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01AEF-971B-42A4-B803-04ADEA0F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876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838F4-25B2-48F4-9BA0-10D2940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76550"/>
            <a:ext cx="876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000FC-A2CA-489E-8A68-3B0A87A6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76550"/>
            <a:ext cx="876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FA65D-09EF-4401-A4BA-D17F184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66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0C0CC-ED8B-4A91-8966-03773BB5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A3C4E-E5D4-4029-B280-F63E5CD3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ServiceNow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9FCBF-5C6A-4309-A46A-F083A071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Discovery Schedule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Credential / Pattern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ECC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B3CFE-C4A4-42B5-A3FE-01987C9D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6220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901C7-4A83-45DC-83B1-E5C14815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62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9FD41-A1FA-4FC0-895A-1B7DB70B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860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MID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9F7C7-BF4B-44E1-AC4A-44857D62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2892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已验证为 Up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具备目标能力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绑定 IP Range /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D8770-F934-44E8-911D-300FD59A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3D594-BCA4-4907-9394-A3B9D8E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43C4B-C82D-4129-A26E-097EA458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Azure 网络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07A8E-F379-41BB-9F75-CF7155A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VNet / Peering / Route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NSG / Firewall / DNS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F7868-A4C8-43A4-A828-A6A1522F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E5700-FA8F-4609-9819-3B1A8BF6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CE7BE-D325-4884-8831-5CD8C310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8602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发现目标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48CFA-087F-4305-B2E6-999A91A7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28925"/>
            <a:ext cx="1695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Windows / Linux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SNMP 网络设备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应用与中间件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C3C81-3D08-43BA-9617-9833168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881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HTTPS / ECC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3F5D5-4892-4B81-870D-22881174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路由与策略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2DE8C-372B-4C80-8061-632357A3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43175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881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WMI / SSH / SNMP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D6061-8F1D-49D4-97A5-584018B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295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716DB-BBF8-4721-9C47-89CAA8B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必须准备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3481E-FB1E-4F87-9E1C-78FDE694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035CD-15E3-46E0-AC13-A1CAA87F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目标 IP 范围和网络路由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B8EC6-B671-46B4-94E6-E51B86AE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9E384D-57B4-4F60-8C78-8C5DAA30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NSG / Firewall 允许所需协议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03768-E926-48D5-9FE3-097E0249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01A1B5-DBE3-436C-A07F-82DBE936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有效 Credential 与目标权限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F8F89C-CB24-4FB5-9DA8-9621BF57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295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FDED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17648-7F26-400E-9F88-B14E002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常见误区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4FF27F-B27A-406B-A5AA-300A140F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在 ServiceNow 中给 MID 配置 IP Range，</a:t>
            </a:r>
          </a:p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只影响 MID 选择，并不会自动建立 Azure 网络可达性。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2CCF6A-084E-43C6-B816-02A3CA9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8F9E18-B250-4543-9280-DB3C99DE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13B5BB-64A1-439A-AC0F-19F3CE11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4083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E7EA2-CB79-4D02-9233-E31654AC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AGENT CLIENT COLLECTOR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8B2EA-2981-40F1-8D31-10FDCE1C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ACC 由主机上的 Agent 主动连接 MID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80EBC-123B-4D81-AC68-EB169B98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安装渠道负责把 ACC 放到目标机上；运行阶段由 ACC 建立 WebSocket，与具有 ACC 能力的 MID 通信。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D9F00-214B-436A-A324-43B60175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70D05-3A2F-4397-938B-AAF135FE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00350"/>
            <a:ext cx="9715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3C0A3-37B3-429F-81EE-5FF84ADD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9715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07811-2247-4BF3-A95E-60A9028A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571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2E56D-4095-4438-9E8C-2A4704FB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6B39C-A56E-432E-B01E-DD35EAA6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64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目标 Windows / Linux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CDD9D-57DF-4CAA-8813-7A3C918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安装 ACC Agent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应用 Policy / Check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主动发起连接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D67A1-6B44-4A75-A416-2B951E14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09800"/>
            <a:ext cx="2495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D40A1-5909-46AD-AD4E-F27F5644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098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F870D-19FC-449D-962B-6A662B7D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ACC MID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33FEF-02F9-4700-BFD3-7F0D992A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76525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WebSocket Endpoint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转发 Agent 数据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保持到 ServiceNow 的通路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3C553-57D5-41A6-8669-0C6AA5C4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25908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40411-CF4A-4DBC-8E8E-C1C56041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E5A38-C51E-4058-BC0A-714BE351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2305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ServiceNow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FFEB5-AC5A-43AD-A4C4-ACF91BA6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76525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ACC 管理与健康状态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数据处理与 CMDB 更新</a:t>
            </a:r>
          </a:p>
          <a:p xmlns:a="http://schemas.openxmlformats.org/drawingml/2006/main">
            <a:pPr algn="l">
              <a:def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Agent Issues /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CBC2F-822F-485A-8F6D-E42DF4D7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5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WSS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87C87-038E-44E5-832C-BDC58399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527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HTTPS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0B004-529D-445B-83C9-C23F3199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124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58835-BBDF-4EEA-B0A7-DC3D311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7D8DF-56AD-4DB0-A445-0D83E536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安装渠道是另一条线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1120D-44D1-485C-A47F-08730C40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81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Windows：可通过 MECM 等软件分发工具静默安装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Linux：可通过脚本、Ansible、Satellite 等机制安装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安装工具不是 ACC 的运行通信路径。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C0BE9-B433-48FE-8BFB-EEF8561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29125"/>
            <a:ext cx="4133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D59FF-476A-4364-A6BC-667451D8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29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312A4-3AED-4DCC-8997-10017FB3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3848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设计关注点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D262F-F06B-4659-9455-2D907A6E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3829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Agent → MID 的 DNS / 端口 / 证书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环境独立的 API Key / Policy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代理规模、升级、卸载与失败回收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5BD71-3421-4924-BAEC-245CF658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4138DF-4979-419E-B388-BF1CC88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C9A260-C405-4068-A57F-DC4C54A7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4703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E29E6-A1DC-47C2-8489-2144AE4A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AZURE CLOUD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C172D-7F01-4891-9EFD-44DD415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通过 Azure API 发现云资源与云关系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B8111-CBC3-47BC-A16A-1C925D0A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它不登录每台 VM；它使用 Azure Service Principal 的权限读取 Azure Resource Manager 等 API。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52869-F6F3-47D0-B083-BDDD5030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CD77F-34B2-4CCB-AB2E-6D44447F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800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F6C4C-7671-4D1B-B1AA-BD23582C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800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7CFAD-8640-47DD-90A4-9C22592B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800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5C093-6DAA-47DF-BC9C-244E55E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343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7D235-AB9E-4278-8CED-841AA939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80D0A-8CA8-4CE9-AC19-015C061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57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ServiceNow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3B0D5-F11B-4977-9557-C7247688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Credential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Cloud Discovery Schedule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目标 Subscription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D1793-8005-4033-99AA-D03F0075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2209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7811C-B666-4122-AC94-1C1CAA50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69A6C-891F-4E44-9C51-082A4F18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90775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MID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D07EA-8082-48D4-B2F7-D449631E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33675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状态 Up / Validated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Cloud Management 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7A70B-6B6E-4E5C-AE04-BF9FD512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2209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6E5B5-F71B-4573-9473-3741D17B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C1588-4DF4-418F-95CB-F3EDFCA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90775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Azure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46E5E-ADFB-4B04-B7FF-563FC107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33675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Service Principal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Tenant ID / Client ID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所需 API 权限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45FE3-0AFF-49E2-8BF0-62BABDEF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809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BE957-643A-4E0B-8839-6F1BBA16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68343-C87A-4E43-942F-DEE557F8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907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6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Azure Resources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5CFB0-60AD-4BC3-A77C-5022937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33675"/>
            <a:ext cx="150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RG / VNet / Subnet</a:t>
            </a:r>
          </a:p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VM / Disk / NIC / IP</a:t>
            </a:r>
          </a:p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LB / DB / Storage 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5C8A9-9EA1-4FEB-8490-94B24FD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DFA3E-79DA-4CF5-B63C-702E797C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Cloud Discovery 能说明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566B1-36E4-4EC7-890F-21C009B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9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这台 VM 属于哪个 Subscription / Resource Group / VNet / Subnet，连接了哪些 Disk、NIC、IP 或 Load Balancer。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F8D1D0-8694-491D-B895-814B05FA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不能单独替代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E386F-20CD-4E7D-9054-CAE79F1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6257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VM 内部软件、进程、配置文件的深度发现。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0E9E0-46EE-4B5C-A822-465DCAF4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EB8C94-4D11-41D8-ABA8-7D095BF4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F051C6-8D5E-46AD-BF6F-02C1B469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67367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7403E-5C08-4A2F-84AC-0ABDE7A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COMBINED VISIBILITY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496A7-BAFE-4778-AC1E-36AB42E1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同一台 Azure VM：三种方式分别补什么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D6DFA-0B1C-4421-861F-2C8BF2F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最佳结果不是重复扫描，而是让云侧身份、主机内部事实和持续状态在 CMDB 中形成可治理的数据。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B6D36-F286-440F-9FDE-B89E1D1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21205-E190-410B-9D62-33E1FAB4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361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6DE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E256B-1C8D-4914-AAF0-C882BFA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38475"/>
            <a:ext cx="361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6DE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E4ACD-1FAF-41B9-8B08-0EDA66D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38475"/>
            <a:ext cx="361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6DE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F8F7E-D978-49BB-826C-FDE8B54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8575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C6673-EF48-45F4-8655-80226829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2DB5D-EB4D-401D-A807-AE4407D1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Cloud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5EC4D-ECE9-4D66-8CFF-F3757741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552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云平台身份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Subscription / RG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VNet / Subnet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VM / NIC / Disk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7987C-3EA0-4415-8770-BA42CB71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81200"/>
            <a:ext cx="28575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69AF-CDD1-4836-B480-5388EDB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8120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EC33B-4BDA-4DA4-9FD5-C9A93928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050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73B9D-82C7-4E98-B5A5-5CACFC87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47925"/>
            <a:ext cx="2552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操作系统与硬件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进程 / 软件 / 接口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目标 Credential</a:t>
            </a:r>
          </a:p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按计划主动发现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DD43B-0061-45B1-9577-1CFA50D9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81200"/>
            <a:ext cx="20002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152D7-6379-46CE-88C5-EBE34A4F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8120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E0CB2-4AA0-4B2F-A2D3-D6BD521B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0502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73BAF-34C6-4620-91AF-00455B7F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47925"/>
            <a:ext cx="1695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Agent 持续收集</a:t>
            </a:r>
          </a:p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主机检查结果</a:t>
            </a:r>
          </a:p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无需 MID 主动登录</a:t>
            </a:r>
          </a:p>
          <a:p xmlns:a="http://schemas.openxmlformats.org/drawingml/2006/main">
            <a:pPr algn="l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需要 Agent 运维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6C7B0-0E00-40B8-9AAC-9238BAC5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20002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B8C90-D1A8-4828-ABFF-C414E43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6D16A-2CEF-462D-A5C0-B7BF109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0502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CMDB / 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A42A6-8307-44D6-BE10-BA0782FD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47925"/>
            <a:ext cx="1695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识别 CI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合并与更新来源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保留关系与云侧上下文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8B55B-3EB1-4A1E-BE0F-0AD38825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84010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E7CFD-63D5-422E-98DD-252DF9D5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BDCDC-CC3F-4F1E-A820-96195921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784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同一资产能否最终落到同一个 CI，取决于目标 CI Class、Identifier、IRE、Reconciliation、Pattern 和数据质量。</a:t>
            </a:r>
          </a:p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因此必须用“重复 CI 数、字段来源、关系完整性”做验证。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F01BD-5A0F-40E9-85AA-C3E3B705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33900"/>
            <a:ext cx="22288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FDED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DBF57-5A7F-4F37-B49C-0AC30747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05350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避免绝对承诺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EA3716-3920-4EEA-A641-E8A13E41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不能仅凭“同一 IP”</a:t>
            </a:r>
          </a:p>
          <a:p xmlns:a="http://schemas.openxmlformats.org/drawingml/2006/main">
            <a:pPr algn="ctr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就保证自动合并。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25671-40B1-4A41-B1E2-D836F17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222908-4EE2-4E84-BEC4-F18923C4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26DC4-7C3D-48CF-B246-3FB40C10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5434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717AE8-8E6A-4E1E-8D76-ADD3835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PC2.0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AFE10-FAC3-4E9B-8CE7-13157C8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方案 C｜一套 Subscription 下分离 DEV / TEST / PROD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056C4-5D74-4E6A-8D26-34D3A35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最低建设门槛：先用资源组、VNet、RBAC、Credential、MID Group 和 Tag 建立环境边界；需要更强隔离时再拆 Subscription。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38D90-3B81-4C15-BCC7-3C44723D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169E8-C53F-4572-BD5A-F9A74567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F1217-4DE5-4AA9-B084-EBDDFD2C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Microsoft Entra Tenant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A7F63-11FE-4A78-B619-025A239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105537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073D2-6E36-4C20-A169-96B86601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Subscription｜PC2.0-ITOM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23541-CD56-4408-B877-C9BE68E8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009900" cy="25431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C1494-173C-4ED9-8EBD-84B5264C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7BD3E-806A-4C09-A707-B3775461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1600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rg-pc20-dev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9A947-0C74-4A13-B16D-6886AED6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2667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7F027-322E-4AC0-BE07-29757DC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7E234-A11C-4233-9B8D-12990E2F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3857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vnet-dev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C366D-8854-45E6-962C-2CEC08F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814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独立地址空间 / NSG / Route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目标 VM 与应用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47022-B793-404A-9C2B-4813EB9E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MID-DEV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2EAE4-AA75-466B-83CD-AFE75289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009900" cy="25431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5D77A-0BFB-4F52-8425-E75FDA13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216ED-04D7-4F90-ACC7-E28C6DAA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1600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rg-pc20-test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40DCB-2B5B-49D3-B529-C2C4DDFF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667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70A0C-21DB-43C8-9D42-93159112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14B93-BC79-4E33-BE8A-D11C7B7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3857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vnet-test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80763-6274-4A46-AE58-F9B1A602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814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独立地址空间 / NSG / Route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目标 VM 与应用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E27AA-AC3F-4155-985D-E973886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MID-TEST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F52DA-AAA2-4813-A765-15D3213C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3009900" cy="25431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7CCCF-2FD3-4344-AFF5-EFF8E5C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PROD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95915-F6A7-4915-9607-29FF84C2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1600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rg-pc20-prod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B0434-72B5-4A40-9462-DAC6E202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2667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DCA1B-910E-44A1-A42C-E5A2E9DC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8C6DEA-38FA-4540-BB65-3D38345A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3857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vnet-prod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C8B84-34B3-427E-A308-911553D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814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独立地址空间 / NSG / Route</a:t>
            </a:r>
          </a:p>
          <a:p xmlns:a="http://schemas.openxmlformats.org/drawingml/2006/main">
            <a:pPr algn="l">
              <a:def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目标 VM 与应用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458A1-ECA4-454C-AF8F-CA2EEE7C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0125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MID-PROD 01/02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152F1F-9D55-427B-A9D6-4AB5B83A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9563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8CFDC-5E2B-4307-BA72-2C6E77C3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483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共通规则：Environment Tag｜命名规范｜最小权限 RBAC｜独立 Credential / API Key / Schedule｜PROD Resource Lock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99A35B-59C6-476C-A13C-000EF777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6BC6E1-E2F6-4A1A-9A97-B7D3F312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C00E8E-EAE6-40AE-AE23-040A6C2A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1946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3D5E26-D7AF-4806-8916-7192E49A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DESIGN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17750-F9DE-4FED-A495-C6426D93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一套 Subscription 方案必须补上的保护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F658A-D2EF-48B1-9AB7-0EF16A8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最需要防的是权限和数据范围“穿过环境边界”，而不是 VNet 名字是否分开。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1C099-AE7F-457B-B0B6-A61088E8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23C4D-F01A-4CE2-8343-FCAFA5F8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5722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18D4B-5BBF-42CE-813E-E0877D6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F22A1-3B8C-4040-9434-87531C99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38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17EFA-2370-48DE-BB51-0E9A5626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335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身份隔离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6BA93-AD8A-4990-8C62-56557CC3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0500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DEV / TEST / PROD 分别使用 Service Principal、Credential、ACC API Key；禁止共享生产密钥。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1B78A-E18C-4648-A530-F623500B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972800" cy="65722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107EC-0D7A-4E90-9FD0-E16A12CE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D7460-C6D6-48E1-BAFF-C02CE6B8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38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6A37E-295B-424A-95F7-D23B5EC2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527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权限隔离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075E6-D26F-4FC3-9557-4CBB919C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人员只授予对应 Resource Group 范围的 RBAC；订阅级 Owner / Contributor 严格控制。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824E3-4CA8-489E-AB07-AF1C976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65722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1D0FD-C098-4010-85C9-0E0A208D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CBBCC-0E98-4925-A227-CB09463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8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53799-31E4-4A98-8E5E-37947802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718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网络隔离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A06BE-5D33-40B0-9A62-173B95AB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4330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VNet 默认不互通；仅通过明确的 Peering / Firewall / Route 开放必要路径。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8DA6A-B2A8-41F9-A9E0-C6652340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65722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EFD85-A3C5-4986-88F1-56EA0704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D0085-4B40-47EF-B766-46EC017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38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1D21D-7F1A-4DE1-96CF-3226140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910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数据隔离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60DD4-1DCD-4F09-A8CE-266B8A9B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624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Schedule、MID Group、IP Range 与 Tag 明确到环境；上线前核对写入目标与重复 CI。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FD843-0DB4-48F2-A5E7-B754ABD2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65722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FDED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95780-30F1-4862-A713-36D9DE4A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9F62A-F2F5-4B7D-890B-4617706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38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6F33F-89E5-4A16-8423-302FF8A0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101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生产保护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AAB9FC-80CB-4477-9C68-CEB990CD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关键资源使用 Lock、变更审批、监视与备份；PoC 配置不得直接复制到 PROD。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1B3D7-ABA6-401E-9729-CF3864B9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30567-F5D4-4803-8010-A650E248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10648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Discovery 的自然范围是 Azure Subscription；若三个 ServiceNow 环境必须完全隔离，需优先验证权限范围，必要时改为分 Subscription。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562EAC-ED57-4F48-A7BD-A09B8E3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A8C11-E7CA-4DC7-B563-C7C74FE8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074436-CC65-4582-9397-F2969C6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55194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A0E7B2-B292-4246-B078-F75CE717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885F3-D12A-4F26-BC3F-645544BE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谁负责准备什么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C960B-B52E-4B8D-91E0-0FC5D55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ITOM 建设不是单一团队任务。网络、身份、主机和 ServiceNow 配置必须在同一张检查表上闭环。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6D6AB-98BF-4592-9B2C-B21126D4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FF74C-F5EC-412C-B01E-A93830A5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52700" cy="3943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B96F2-6E79-4364-B1AD-0DAC5EC3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49034-3813-4018-BAEE-D866740C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/ Cloud 团队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68B04-D3C6-4F64-8668-882EA250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D82AF-09B7-4EE5-B45C-10F56851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9C148-613B-45C0-A9C8-DE145F10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Subscription / RG / VNet / Subnet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473EF-89E8-4437-88EC-1D8160D4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A7913-BB33-47B7-835B-2E80EC9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F92B5-40B1-4073-8D9D-2268300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Route / NSG / Firewall / DNS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194A7-8544-4637-B8CE-6E29D2AA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E51BE-8DD1-42C8-8759-20649B5C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F1932-467E-4CA7-AD9D-93D2F3D6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Service Principal 与 RBAC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8D65F-0384-4C27-94A7-227C8371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749E3-EC6C-4F7F-A8D9-845E13F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1DD7C-4A0F-4AEA-BBDF-40264D0E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Azure Monitor / Resource 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D9E87-EA5E-48B2-86A9-EABE128B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552700" cy="3943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FDBAA-8DFC-4747-9E5D-B49A18AB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23C6B-E518-4A0F-8DCF-CD4F2BCC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335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 团队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D74C0-4A01-4FF1-953A-5644109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86689-8D86-4AD2-B949-5C2BA8FB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1EF16-6E0F-463C-B506-AE55C743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67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MID Server / Capability / 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C1611-E4E2-41A7-A0A6-DD386852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19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D7F2E-92A5-4054-A2CF-129CEB1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C22EE-024F-42BC-A8F9-10E62117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623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Discovery / Cloud Schedule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00C1B-D1A0-41DF-999A-5D46F33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5E494-2868-4786-8A21-9A693F4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2432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31733-D748-4C91-A7ED-0E74FBA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57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Credential / Pattern /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8BCEE-A9F0-4C49-8C70-FBD0AF95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10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282CF-9243-48BF-9E71-21086B75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1965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61546-2197-4036-8C22-55D89E26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529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CMDB / IRE / 重复 CI 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31CD2B-C4CE-494B-9A1B-5D95A3CB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552700" cy="3943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6CB601-B55A-4396-97CF-AF60B431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5A2FB4-57C1-4B39-9C80-E24E248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 / MECM / 运维团队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E7A174-03F9-4CA2-884D-4068948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1DB89C-CC42-49B4-83B9-C6237187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FED38F-EC3E-4F26-90E8-E71370CE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目标主机账号与权限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07D8CC-5A69-43A7-A120-2EB84BED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19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46FBB9-7F02-4F16-B840-4BEE994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49601B-F992-41F8-9DF7-F5CA3688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623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ACC 软件分发与升级卸载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06482B-6460-407A-A8B8-C0255EBF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DBAFB6-3FC1-452B-AEF4-7E00DEF7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95F68B-5E0A-41DE-A8BD-4F7F495D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Windows / Linux 防火墙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6F15A3-5C21-45AE-A1E7-3DFA04D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0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FF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6E0855-E8BE-4B36-8BD8-2A3B405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AB8BA4-4283-4C89-93B7-5A7D538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529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维护窗口与异常回收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A5B678-53A7-4289-9CF4-DFE4271E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552700" cy="3943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BD86F9-76FF-4642-8CAD-369976E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C00CAB-4FA4-4102-A407-ADF28AFE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335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26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Security / Network 团队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EA654D-3BC9-47A7-9379-9AF10DE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FDED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9A5AE7-C64C-4CD6-98B6-64659F84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7BE619-A0C2-4D08-8136-E675A2C0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允许端口与通信方向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F43DB2-FE44-4549-A166-DE37B6B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19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FDED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D76415-9C3F-4092-A937-7B033C33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6A3B25-33E7-4E52-A303-4953F42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623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Palo Alto / Azure Firewall 策略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787DCD-318C-4951-88DF-AE3A2E64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FDEDE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85D629-652B-4C71-9C27-B3F834B9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2432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D4923C-FF93-44BF-992E-EC7780AB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57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Credential 保管规则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B7D463-098A-4775-91ED-63F6B4F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0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DEC"/>
          </a:solidFill>
          <a:ln xmlns:a="http://schemas.openxmlformats.org/drawingml/2006/main" w="9525">
            <a:solidFill>
              <a:srgbClr val="FDED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7E64AF-F0B2-4034-8F41-8BA3D72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965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FA6DB7-B7A5-4EFF-A3CC-8B9038B5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529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审计与生产变更审批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3A30F0-6B12-464F-8B72-184FEBFC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0E8369-69D8-4843-B9EF-AC8BA76A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9B24E7-5BC7-4227-8C22-2FA59462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016383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0A5D1C-2FA7-4A41-9265-ECE0C88A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4D732-DBB1-4D77-A123-948CA10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建议按 DEV → TEST → PROD 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3522-8F04-4D95-8A5F-508E6D9B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先验证边界和数据质量，再扩大范围；每一步都有明确的完成条件。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2C659-0904-4EA3-A024-3ED641BB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69108-3EF6-4E84-8C1D-8253CD3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81325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DD6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99BB2-9A6D-4AF0-B724-C5BA1AFF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33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79D7F-051C-4F07-A461-4D124928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09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E252E-7488-4059-A642-C96A50FB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现状盘点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80473-06C5-4800-AB8B-DF1D9F10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Subscription / RG / VNet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ServiceNow 实例与插件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目标 OS / 应用清单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7B0FB-629E-4646-9AE1-71D13B4A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33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DEE2D-DFDF-4A09-8030-1D674E8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9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F9BBC-5D46-4864-9A06-D4836E38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766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DEV 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DEFF4-C17C-4F9B-B75E-1B62B1EC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05250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MID 通路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Azure Service Principal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ACC 小规模安装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05536-0FA9-4C23-B44E-C74128C3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AE3A"/>
          </a:solidFill>
          <a:ln xmlns:a="http://schemas.openxmlformats.org/drawingml/2006/main" w="9525">
            <a:solidFill>
              <a:srgbClr val="5DAE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E4A24-A50A-4E3F-8A5E-71D32BCF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9D892-C0D0-4B15-9C50-C2661B7A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三路验证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1898A-DB7D-4B6A-A240-7EB81D2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Cloud Discovery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ACC 数据回传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9A2E9-41D0-4A61-BD05-D116F93B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33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09E72-C5A8-4D13-BEFA-1C268D40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9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88884-A72A-4B23-A2C9-2EAC9F5C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766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数据质量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55176-65E7-4B51-A1BE-97C9CCE1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重复 CI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字段来源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关系与更新周期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65F8A-84CA-4453-90E8-F8C7D150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33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F3DBA-50F1-4BAE-A1E8-3A353B1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9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C9FA9-9624-49F8-A961-113F7BA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TEST 放大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AD068-B4CD-4698-85EE-E6542A6B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安全评审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故障与卸载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性能与运维手顺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2EF84-EA5E-4DB5-8F71-13E9B8F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336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7B6D4-6FF1-4E0A-98EC-B36DF795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9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29048-433F-4DD1-9707-44D0FCD4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PROD Pilot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DB7CBC-C1AD-4CE8-B61F-32C3DF66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05250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小批量发布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监视与回退</a:t>
            </a:r>
          </a:p>
          <a:p xmlns:a="http://schemas.openxmlformats.org/drawingml/2006/main">
            <a:pPr algn="ctr">
              <a:def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签署上线判断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B7E175-3E4B-4F87-A6F4-1776008D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21786F-F871-444B-ACBE-19DEDDC1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第一轮会议需要决定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B19F2-67BD-4DEB-B716-9168B5F3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14950"/>
            <a:ext cx="830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1) ServiceNow 环境对应关系　2) 三个 VNet 的地址范围　3) MID 配置与数量　4) Cloud Discovery 权限范围　5) ACC 安装渠道与目标台数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53E03-9C23-4E63-85C3-18B521D1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3A8911-E644-44B3-93F9-82552620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62C81E-3C92-4C0A-A725-0AE5A09D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01382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676D6-915B-4041-B6F2-CE4395C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OFFICIAL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CD93F-4F38-45B4-86D4-2F7887D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官方参考资料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B137B-DB2B-4750-B273-A1A15077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C6B"/>
                </a:solidFill>
                <a:latin typeface="Microsoft YaHei"/>
                <a:ea typeface="Microsoft YaHei"/>
                <a:cs typeface="Microsoft YaHei"/>
              </a:rPr>
              <a:t>所有链接访问日期：2026-09-03。详细出处同时保存在各页 Speaker Notes 的 [Sources] 区块中。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A90D1-9740-4374-A823-24016D6E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AB7A7-FC9C-4406-B1F7-9B89AE9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72D56-DA25-49E4-8699-39EC199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Microsoft Learn｜Azure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C050D-0C10-4BE1-8CB1-27B36A3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667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01  Azure Resource Manager 管理范围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learn.microsoft.com/.../management/overview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02  VNet 与 Subnet 设计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learn.microsoft.com/.../design-guide/vnets-subnets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03  Virtual Network 概览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learn.microsoft.com/.../virtual-network/network-overview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04  Azure RBAC 概览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learn.microsoft.com/.../role-based-access-control/overview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05  Azure Monitor / Managed Disk / Tags / Entra / Managed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8369C-93CD-459E-920E-0E3BF66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2578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EDF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ACF17-1196-4054-BBAC-56BC0BA3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AE3A"/>
                </a:solidFill>
                <a:latin typeface="Microsoft YaHei"/>
                <a:ea typeface="Microsoft YaHei"/>
                <a:cs typeface="Microsoft YaHei"/>
              </a:rPr>
              <a:t>ServiceNow Docs｜ITOM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3AD9E-F5DF-45FA-AAE8-F5630623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667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01  Create a Discovery Schedule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servicenow.com/docs/.../t_CreateADiscoverySchedule.html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02  ACC server deployment / WebSocket endpoint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servicenow.com/docs/.../acc-server-deployment.html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03  Azure Cloud Discovery / Discovery Manager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servicenow.com/docs/.../azure-cloud-discovery.html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04  Azure Cloud Discovery patterns</a:t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     servicenow.com/docs/.../azure-cloud-discovery-patterns.html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05  Data collected for Azure Discovery / MID IP ranges / ACC checklist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D9A4E-C82C-46DA-B789-5B9118FA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C4345-1FBE-44DC-B90E-0F3C790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PC2.0 Azure × ServiceNow ITOM｜Official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01585-9418-4385-B540-A8EA644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1808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9512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2026-09-03T04:18:39.9560000Z</dcterms:created>
  <dcterms:modified xsi:type="dcterms:W3CDTF">2026-09-03T04:18:39.9560000Z</dcterms:modified>
</coreProperties>
</file>