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9ef21222e4728" /><Relationship Type="http://schemas.openxmlformats.org/officeDocument/2006/relationships/extended-properties" Target="/docProps/app.xml" Id="Rbf5b230bc9bb405d" /><Relationship Type="http://schemas.openxmlformats.org/officeDocument/2006/relationships/officeDocument" Target="/ppt/presentation.xml" Id="R22df2011d72f49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de33005ca46fe"/>
  </p:sldMasterIdLst>
  <p:notesMasterIdLst>
    <p:notesMasterId xmlns:r="http://schemas.openxmlformats.org/officeDocument/2006/relationships" r:id="R4d888512ec954ae2"/>
  </p:notesMasterIdLst>
  <p:sldIdLst>
    <p:sldId xmlns:r="http://schemas.openxmlformats.org/officeDocument/2006/relationships" id="256" r:id="R8a75189e0b8f45ee"/>
    <p:sldId xmlns:r="http://schemas.openxmlformats.org/officeDocument/2006/relationships" id="257" r:id="R874080d6b9ad4719"/>
    <p:sldId xmlns:r="http://schemas.openxmlformats.org/officeDocument/2006/relationships" id="258" r:id="R84c0e1a6216c49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80c67ba4345e6" /><Relationship Type="http://schemas.openxmlformats.org/officeDocument/2006/relationships/slideMaster" Target="/ppt/slideMasters/slideMaster1.xml" Id="Rd30de33005ca46fe" /><Relationship Type="http://schemas.openxmlformats.org/officeDocument/2006/relationships/notesMaster" Target="/ppt/notesMasters/notesMaster1.xml" Id="R4d888512ec954ae2" /><Relationship Type="http://schemas.openxmlformats.org/officeDocument/2006/relationships/presProps" Target="/ppt/presProps.xml" Id="Rd14926b54124419b" /><Relationship Type="http://schemas.openxmlformats.org/officeDocument/2006/relationships/tableStyles" Target="/ppt/tableStyles.xml" Id="Rdee80b21637949c0" /><Relationship Type="http://schemas.openxmlformats.org/officeDocument/2006/relationships/slide" Target="/ppt/slides/slide1.xml" Id="R8a75189e0b8f45ee" /><Relationship Type="http://schemas.openxmlformats.org/officeDocument/2006/relationships/slide" Target="/ppt/slides/slide2.xml" Id="R874080d6b9ad4719" /><Relationship Type="http://schemas.openxmlformats.org/officeDocument/2006/relationships/slide" Target="/ppt/slides/slide3.xml" Id="R84c0e1a6216c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7fadb0d67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03eefb5704a91" /><Relationship Type="http://schemas.openxmlformats.org/officeDocument/2006/relationships/notesMaster" Target="/ppt/notesMasters/notesMaster1.xml" Id="R9ec1096a24a24d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2c4938a9248f2" /><Relationship Type="http://schemas.openxmlformats.org/officeDocument/2006/relationships/notesMaster" Target="/ppt/notesMasters/notesMaster1.xml" Id="R7cf93c666b2f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7134f1c61460d" /><Relationship Type="http://schemas.openxmlformats.org/officeDocument/2006/relationships/notesMaster" Target="/ppt/notesMasters/notesMaster1.xml" Id="Rcf588503495547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Cloud Discovery 使用的 App registration 和 Service Principal 位于 Microsoft Entra Tenant；通过 Azure RBAC 将访问权限分配到目标 Subscription，再读取其下的 Resource Group 和 Resource。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本页是术语速查，不用于替代各产品的完整定义或设计文档。</a:t>
            </a:r>
          </a:p>
          <a:p xmlns:a="http://schemas.openxmlformats.org/drawingml/2006/main">
            <a:r>
              <a:t>- Azure 专有名词优先保留 Microsoft 官方英文名称，并用括号给出便于汇报的中文含义。</a:t>
            </a:r>
          </a:p>
          <a:p xmlns:a="http://schemas.openxmlformats.org/drawingml/2006/main">
            <a:r>
              <a:t>- ServiceNow 和通信协议术语单独列出，避免被误认为 Azure 原生资源。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46eca047d4f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f3ddc0f294514" /><Relationship Type="http://schemas.openxmlformats.org/officeDocument/2006/relationships/slideLayout" Target="/ppt/slideLayouts/slideLayout1.xml" Id="R1fd863796128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863796128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53de7b74a42a9" /><Relationship Type="http://schemas.openxmlformats.org/officeDocument/2006/relationships/notesSlide" Target="/ppt/notesSlides/notesSlide1.xml" Id="R00992c6b6295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f4f1d390a4347" /><Relationship Type="http://schemas.openxmlformats.org/officeDocument/2006/relationships/image" Target="/ppt/media/image.png" Id="R9198f5f2d6814223" /><Relationship Type="http://schemas.openxmlformats.org/officeDocument/2006/relationships/notesSlide" Target="/ppt/notesSlides/notesSlide2.xml" Id="Rb79c641117714c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0628c5fde4a35" /><Relationship Type="http://schemas.openxmlformats.org/officeDocument/2006/relationships/notesSlide" Target="/ppt/notesSlides/notesSlide3.xml" Id="R9c78c6bd181a43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72121-4005-4EBE-BFBA-DB3C394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A4BDB-8F42-4470-986F-353B903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运维管理）基本构成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1EA96-2227-4B46-B832-0E18100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本页只说明组件与通信关系；环境数量、Subscription（订阅）、Resource Group（资源组）和 VNet/Subnet（虚拟网络/子网）划分尚未确定。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7ED29-06EB-4AD7-A022-DF42D361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CEF3E-3A49-4010-83BD-CF95D18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51B95-A9C9-4CDD-8933-FFDEA06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EDD60-D185-4F68-9942-250C041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Discovery（水平发现）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FEED9-468D-4D37-A2FA-49A51E8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Collector（代理客户端收集器）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经 MID Server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551C4-4708-43EB-B2E4-D2BFEE73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云发现）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07D27-67C7-46B0-919F-64E4E16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EF919-D4B6-4164-A948-EC52016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8AC32-089A-49DC-B2D1-B13554DE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54497-D011-435D-8644-EC7A1F3B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F52E1-AAB8-4402-A688-9F6DB14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Tenant（身份租户）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Subscription（订阅）：范围待确认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6BB20-D498-441A-84EC-5C13A95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RBAC（角色权限）｜Tag（标签）｜Azure Policy（策略）｜Azure Monitor（监控）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320A6-44A3-4949-9876-DA585457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API（资源管理接口）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C7A4C-8720-4593-A875-6BD9DB9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E09F4-5489-4897-9016-6581312F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B9BBF-D97E-4C5B-9594-CD5EF44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执行 Horizontal Discovery（水平发现）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0C4B7-FA76-40EE-8470-C1914DC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Device（网络设备）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代理，适用目标）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4700A-542B-48AE-8C4D-D735E29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E5989-1C45-4AA8-BF98-42C4AFB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4A91F-FD7C-4922-8C1B-5C84204F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可选共通组件：Palo Alto（防火墙）/ NSG（网络安全组）/ Route Table（路由表）/ Azure Bastion（安全登录）/ Log Analytics（日志分析）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B657C-B8C1-414A-83DE-D7FA773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后续确认：环境数量｜Subscription（订阅）/ Resource Group（资源组）/ VNet（虚拟网络）/ Subnet（子网）划分｜MID 数量｜权限与 Credential（认证信息）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4BF13-07BB-4615-992D-EDE099D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80967-B4CC-43D4-8689-94DC848A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BFC48-5467-494A-91AA-3FD5C80E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7109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FE616-B08C-4152-AD61-B3A6374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5CCAF-71A6-4513-B8AB-B42DB6E8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809DD-43FD-4EDD-9576-9B3D57EE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官方定义四个 Management Scope（管理作用域）；下层会继承上层设置的 Azure RBAC（角色访问控制）与 Azure Policy（策略）。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3F7F1-50B9-4B94-9918-2259D53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5857A-82E1-49E9-B28C-356BA26E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Tenant（身份租户）：统一管理 Azure 的 User（用户）、Group（用户组）、App registration（应用注册）和 Service Principal（服务主体）；Cloud Discovery 使用的 App 身份创建在这里。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3CE89-AFDE-4385-8FF2-D310C19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Group（管理组）｜多 Subscription（订阅）治理层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定义：位于 Subscription 之上的 Management Scope（管理作用域），用于统一管理多个 Subscription。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管理：Azure RBAC / Azure Policy / Compliance（合规性）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F661A-2175-492D-9855-5878A70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Subscription（订阅）｜计费、Quota（配额）与权限边界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资源使用、费用、配额与访问控制的重要范围。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包含：Resource Group（资源组）、Subscription 级资源与设置　PC2.0：数量与范围待确认。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8730B-8110-4038-82B7-A8C4FAE5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Group（资源组）｜Lifecycle（生命周期）管理容器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 Resource（资源）作为一组管理；每个 Resource 只能属于一个 Resource Group。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CA9E2-E278-41AE-9C5A-62A0B32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Resource（资源）｜实际创建和运行的对象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计算：VM（虚拟机）/ Disk（磁盘）　网络：VNet（虚拟网络）/ Subnet（子网）/ NIC（网卡）/ NSG（网络安全组）/ Route Table（路由表）/ Public IP（公网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运维：Key Vault（密钥保管库）/ Log Analytics（日志分析）/ Azure Bastion（安全登录服务）。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F76EE-2326-45E4-9FBF-9D32C3E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95CF-6209-4B40-8DC1-976A0D3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8f5f2d6814223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AFF85-1743-423A-8FF0-8522CC7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Cloud Discovery App 的所属与权限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DFF5F-5446-4CA2-87D8-873CE697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124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77179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  <a:p xmlns:a="http://schemas.openxmlformats.org/drawingml/2006/main">
            <a:pPr algn="ctr">
              <a:def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App registration → Service Principal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4A6BF-0385-4B8C-85BD-A9484C52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143500"/>
            <a:ext cx="2857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2E5BD-AA64-420B-ADE5-94087BDE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95900"/>
            <a:ext cx="2476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RBAC Role Assignment（访问权限分配）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F5DDD-8767-402B-8840-7CC062D1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524500"/>
            <a:ext cx="2857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35BD1-922C-4888-A77F-21AB0569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7690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8662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Subscription（PoC 目标范围）</a:t>
            </a:r>
          </a:p>
          <a:p xmlns:a="http://schemas.openxmlformats.org/drawingml/2006/main">
            <a:pPr algn="ctr">
              <a:def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 → Resource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E57EF-0B97-4207-A5B1-2F817089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继承方向：Management Group（管理组）→ Subscription（订阅）→ Resource Group（资源组）→ Resource（资源）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2406B-140A-4C11-84DF-EB304F8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76504-56DC-43C0-BAD9-B0E87A1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F97D1-8349-4B5A-88D5-6331D47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DE5AF-B5F2-4632-B0CE-E1DE8865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6375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42B87-2D74-446D-93A3-F243FC5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03｜术语参考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24BCD-D30E-4596-B7B9-96C5C58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专有名词速查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1567-DE44-4D26-8FAC-8E652A3B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统一写法：English official name（中文含义）。以下解释以普通人能够理解为优先。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DB193-CF49-49AB-9F50-6607C44C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E456E-1157-4608-ACA6-0AD1CE8B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SCOPE｜身份与管理层级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Tenant（身份租户）：Azure 的身份目录与管理边界。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Group（用户 / 用户组）：人员账号及账号集合。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Principal（应用身份）：供程序或外部系统访问 Azure 的非人工账号。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Group（管理组）：在 Subscription 上层统一管理权限和策略。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Subscription（订阅）：计费、配额、权限和资源管理的重要范围。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Group（资源组）：管理生命周期相近的一组 Resource。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Resource（资源）：Azure 中实际创建和管理的对象。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6719B-00F7-45CB-B2BB-5D58BAE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OPERATIONS｜治理与运维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Manager（资源管理器）：统一接收和处理 Azure 资源管理请求。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Provider（资源提供程序）：提供某类 Azure Resource 的服务。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RBAC（角色访问控制）：决定谁能在什么范围做什么。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Policy（策略）：检查或限制资源是否符合组织规则。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Tag（标签）：给资源添加分类信息，方便检索和费用整理。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Monitor（监控）：收集并分析 Azure 的监控数据。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Workspace（日志分析工作区）：集中保存和查询日志。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Vault（密钥保管库）：安全保存密码、密钥和证书。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A8EB-91D0-4745-BCAD-1978414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COMPUTE｜网络与计算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Network（虚拟网络）：Azure 中隔离的私有网络范围。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Subnet（子网）：在 VNet 内进一步划分的地址范围。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Interface（网卡）：把 VM 连接到 Subnet。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Group（网络安全组）：按规则允许或拒绝网络流量。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Table（路由表）：规定网络流量下一步从哪里走。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IP（公网 IP）：可从互联网访问的地址。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Machine（虚拟机）：运行 Windows 或 Linux 的云服务器。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Disk（托管磁盘）：供 VM 使用的 Azure 磁盘。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Bastion（安全登录服务）：通过 Portal 安全连接 VM。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87BC5-1F80-4DF6-AA6E-76F6983E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与通信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Server（中间服务器）：连接 ServiceNow 与被管理环境。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Discovery（水平发现）：从 IP 范围发现主机和设备。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云发现）：通过 Azure API 获取云资源信息。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Collector（代理客户端收集器）：由目标上的 Agent 收集并回传数据。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Credential（认证信息）：Discovery 登录目标所需的账号、密钥等。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SSH：常用于远程访问 Linux。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WMI：常用于读取 Windows 管理信息。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SNMP：常用于发现网络设备。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与 MID Server 使用的加密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63457-979D-4A27-B9ED-780AB8C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使用建议：汇报正文保留英文 + 中文；实际配置画面、账户申请和手顺书以英文名称为准。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DB160-FB0A-46A0-A31E-DC61961E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1EC02-B00D-4D7F-8BF4-D9C0CAED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33CBB-4B42-4A34-BC13-3D9029C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9978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2026-09-03T07:40:09.7610000Z</dcterms:created>
  <dcterms:modified xsi:type="dcterms:W3CDTF">2026-09-03T07:40:09.7620000Z</dcterms:modified>
</coreProperties>
</file>