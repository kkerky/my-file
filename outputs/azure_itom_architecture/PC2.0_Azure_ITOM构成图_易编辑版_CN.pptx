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a7a8c9c35a4e38" /><Relationship Type="http://schemas.openxmlformats.org/officeDocument/2006/relationships/extended-properties" Target="/docProps/app.xml" Id="Rd72681cbb42b402a" /><Relationship Type="http://schemas.openxmlformats.org/officeDocument/2006/relationships/officeDocument" Target="/ppt/presentation.xml" Id="Rd0e4d3e7614b43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54db0fa168492d"/>
  </p:sldMasterIdLst>
  <p:notesMasterIdLst>
    <p:notesMasterId xmlns:r="http://schemas.openxmlformats.org/officeDocument/2006/relationships" r:id="R1c53b3e2bde44073"/>
  </p:notesMasterIdLst>
  <p:sldIdLst>
    <p:sldId xmlns:r="http://schemas.openxmlformats.org/officeDocument/2006/relationships" id="256" r:id="R2744ed145f3848d1"/>
    <p:sldId xmlns:r="http://schemas.openxmlformats.org/officeDocument/2006/relationships" id="257" r:id="R40169860811847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528bde596641b7" /><Relationship Type="http://schemas.openxmlformats.org/officeDocument/2006/relationships/slideMaster" Target="/ppt/slideMasters/slideMaster1.xml" Id="Rc854db0fa168492d" /><Relationship Type="http://schemas.openxmlformats.org/officeDocument/2006/relationships/notesMaster" Target="/ppt/notesMasters/notesMaster1.xml" Id="R1c53b3e2bde44073" /><Relationship Type="http://schemas.openxmlformats.org/officeDocument/2006/relationships/presProps" Target="/ppt/presProps.xml" Id="R25a9e0ad3f8f481b" /><Relationship Type="http://schemas.openxmlformats.org/officeDocument/2006/relationships/tableStyles" Target="/ppt/tableStyles.xml" Id="R5e5775e6b2be4789" /><Relationship Type="http://schemas.openxmlformats.org/officeDocument/2006/relationships/slide" Target="/ppt/slides/slide1.xml" Id="R2744ed145f3848d1" /><Relationship Type="http://schemas.openxmlformats.org/officeDocument/2006/relationships/slide" Target="/ppt/slides/slide2.xml" Id="R40169860811847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33b0b5b2be4d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3530e6f644632" /><Relationship Type="http://schemas.openxmlformats.org/officeDocument/2006/relationships/notesMaster" Target="/ppt/notesMasters/notesMaster1.xml" Id="Raf59d45614c346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7b49de36f14d31" /><Relationship Type="http://schemas.openxmlformats.org/officeDocument/2006/relationships/notesMaster" Target="/ppt/notesMasters/notesMaster1.xml" Id="R159c72e0f49a48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本页是 PC2.0 的项目建议构成，不是 Microsoft 或 ServiceNow 的强制模板。</a:t>
            </a:r>
          </a:p>
          <a:p xmlns:a="http://schemas.openxmlformats.org/drawingml/2006/main">
            <a:r>
              <a:t>- Horizontal Discovery 由 MID 主动访问目标；ACC 由 Agent 建立到 MID 的 WebSocket 连接；Azure Cloud Discovery 通过 Azure API 获取云侧资源信息。</a:t>
            </a:r>
          </a:p>
          <a:p xmlns:a="http://schemas.openxmlformats.org/drawingml/2006/main">
            <a:r>
              <a:t>- DEV / TEST / PROD 在同一 Subscription 中，通过 Resource Group、VNet、权限以及独立 Credential / API Key 做逻辑隔离。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Microsoft Entra Tenant 是身份目录基础；本页主体的四层是 Azure Resource Manager 官方定义的管理作用域。</a:t>
            </a:r>
          </a:p>
          <a:p xmlns:a="http://schemas.openxmlformats.org/drawingml/2006/main">
            <a:r>
              <a:t>- Management Group 用于跨 Subscription 的治理；Subscription 是资源使用、计费、配额和访问控制的重要边界。</a:t>
            </a:r>
          </a:p>
          <a:p xmlns:a="http://schemas.openxmlformats.org/drawingml/2006/main">
            <a:r>
              <a:t>- Resource Group 管理生命周期相近的相关资源；Resource 是 VM、VNet、Disk、NIC 等实际对象。</a:t>
            </a:r>
          </a:p>
          <a:p xmlns:a="http://schemas.openxmlformats.org/drawingml/2006/main">
            <a:r>
              <a:t>- Resource Manager 接收 Portal、CLI、PowerShell、REST 或 SDK 请求，完成身份验证和授权，再把请求转发给对应 Azure 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960db036841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4019bb342b42a6" /><Relationship Type="http://schemas.openxmlformats.org/officeDocument/2006/relationships/slideLayout" Target="/ppt/slideLayouts/slideLayout1.xml" Id="Rf5b67127e6f548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b67127e6f548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7c4bbb59e41d3" /><Relationship Type="http://schemas.openxmlformats.org/officeDocument/2006/relationships/notesSlide" Target="/ppt/notesSlides/notesSlide1.xml" Id="R2905980affad46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845342a264ee0" /><Relationship Type="http://schemas.openxmlformats.org/officeDocument/2006/relationships/image" Target="/ppt/media/image.png" Id="R45d86efe30b94d20" /><Relationship Type="http://schemas.openxmlformats.org/officeDocument/2006/relationships/notesSlide" Target="/ppt/notesSlides/notesSlide2.xml" Id="R11fdcccb22cb42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44D281-A49B-49D3-BE5C-5CA48374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01｜构成图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02967-6E44-40B0-847A-C018B641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PC2.0 Azure / ServiceNow ITOM 构成图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6B237-03B4-4B7B-AD9B-75959DE3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一套 Subscription 内，以 Resource Group、VNet、权限和连接信息分开 DEV / TEST / PROD。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C51B2-E51E-4B2F-9A12-34F3AA38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4AB61-4278-4A91-B0DC-BCEAC648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22EAD-129F-44D6-B46B-A5D1169D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76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24C"/>
          </a:solidFill>
          <a:ln xmlns:a="http://schemas.openxmlformats.org/drawingml/2006/main" w="9525">
            <a:solidFill>
              <a:srgbClr val="17324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87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实例对应关系另行确认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1AC5A-11F4-45AA-B399-4A71931C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EDFA"/>
          </a:solidFill>
          <a:ln xmlns:a="http://schemas.openxmlformats.org/drawingml/2006/main" w="9525">
            <a:solidFill>
              <a:srgbClr val="D9EDF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Horizontal Discovery</a:t>
            </a:r>
          </a:p>
          <a:p xmlns:a="http://schemas.openxmlformats.org/drawingml/2006/main">
            <a:pPr algn="ctr">
              <a:def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MID 主动访问目标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6B505-EAD2-4513-B133-D7A34346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5F2DE"/>
          </a:solidFill>
          <a:ln xmlns:a="http://schemas.openxmlformats.org/drawingml/2006/main" w="9525">
            <a:solidFill>
              <a:srgbClr val="E5F2D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Agent Client Collector</a:t>
            </a:r>
          </a:p>
          <a:p xmlns:a="http://schemas.openxmlformats.org/drawingml/2006/main">
            <a:pPr algn="ctr">
              <a:def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Agent 经 MID 回传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50AA1-64C1-4775-BC33-C192A59F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9C8"/>
          </a:solidFill>
          <a:ln xmlns:a="http://schemas.openxmlformats.org/drawingml/2006/main" w="9525">
            <a:solidFill>
              <a:srgbClr val="FDE9C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Azure Cloud Discovery</a:t>
            </a:r>
          </a:p>
          <a:p xmlns:a="http://schemas.openxmlformats.org/drawingml/2006/main">
            <a:pPr algn="ctr">
              <a:defRPr sz="8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通过 Azure API 取得云资源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1D79B-4173-449A-89A9-4B32633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038B5-377D-46E6-89D3-1B153242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114300" tIns="9525" rIns="19050" bIns="95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C7AB7-9358-4D65-8CB7-423BF907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Cloud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F48CE-C115-4EE1-B96B-A939B579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C5066-EF95-4ACD-B0AD-AC58CD6B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Microsoft Entra Tenant</a:t>
            </a:r>
          </a:p>
          <a:p xmlns:a="http://schemas.openxmlformats.org/drawingml/2006/main">
            <a:pPr algn="ctr">
              <a:def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Subscription：PC2.0-ITOM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555A4-CEBA-474E-A7C7-E46F83F5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3276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共同控制：RBAC ｜ Tag ｜ Policy ｜ Monitor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4B0EA-B283-491B-ADFD-78CAD093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47850"/>
            <a:ext cx="2019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828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Resource Manager API</a:t>
            </a:r>
          </a:p>
          <a:p xmlns:a="http://schemas.openxmlformats.org/drawingml/2006/main">
            <a:pPr algn="ctr">
              <a:def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Cloud Discovery 读取云资源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05E1E-6A92-4D5D-B59E-CA5E7B1B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3812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14A72-67A5-42B7-8913-0582C818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DEV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rg-pc20-dev  |  vnet-dev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A2EF8-533C-4A8D-9044-9148A1FC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4D975-22A0-4A43-B223-00675782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52825"/>
            <a:ext cx="2038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MID-DEV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AFE48-ADB8-4F5B-ADDC-928348A2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81475"/>
            <a:ext cx="12001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952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22043-C38A-4B5C-AD9E-5D477E48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720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业务 VM + ACC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D765F9-DF9F-4B0B-8018-7F92C405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3812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66899-EB4B-46DD-BB05-68E877F2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rg-pc20-test  |  vnet-test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463B65-5F63-4AE7-9286-A0BF6B02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29A1DB-7AC2-4E7F-8A4E-75ABCC4C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52825"/>
            <a:ext cx="2038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MID-TEST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BA898-D7AB-403E-B082-20595CDA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81475"/>
            <a:ext cx="12001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952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E0E946-CE0F-4FD4-8259-91C59FF8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业务 VM + ACC 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3C1A48-FF1A-4AD2-8A36-CA96A246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B824FC-0782-407A-A3AF-653A08CF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PROD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rg-pc20-prod  |  vnet-prod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EB9A5-BC65-4A48-9E46-7D328D15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8D77A4-1D41-4675-9737-A28B6A63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52825"/>
            <a:ext cx="2038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MID-PROD 01 / 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78D207-BA1C-49E6-BC2A-2CE57634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81475"/>
            <a:ext cx="12001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952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0DB219-400D-460A-AFB7-14016782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业务 VM + ACC Agent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13C605-57CD-42B7-8D1F-0869AE39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环境隔离重点：RG + VNet + RBAC + 独立 Credential / API Key</a:t>
            </a:r>
          </a:p>
          <a:p xmlns:a="http://schemas.openxmlformats.org/drawingml/2006/main">
            <a:pPr algn="ctr">
              <a:def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可选共通组件：Palo Alto / Bastion / Log Analytics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CCE23C-FF37-4358-B3A4-7E071ADF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8588EF-0BEC-4BC7-91BA-EF7BAAE4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ITOM｜精简版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1EBF7E-5660-4D97-B4E1-62C8B1D1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1259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0386EA-78A0-4FB3-A343-FFACC333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02｜Azure 管理层级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058A6-44CB-466F-9226-C5FFB89C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每个层级是什么、包含什么、管理什么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6273D-B1B6-4297-A63A-43FC4C5F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Microsoft 官方定义四个管理作用域；越往下越具体，下层会继承上层设置的 RBAC 与 Policy。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6BABF-8815-40E4-AF58-EC8E1909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FC06C-2FE4-4147-BB19-7AC6C529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  <p:txBody>
          <a:bodyPr xmlns:a="http://schemas.openxmlformats.org/drawingml/2006/main" wrap="square" lIns="171450" tIns="57150" rIns="1714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身份基础｜Microsoft Entra Tenant：包含用户、组、Service Principal；同一 Management Group 下的 Subscription 必须信任同一 Tenant。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72D50-9374-49E5-9C0B-F027B7A3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727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1  Management Group｜多订阅治理层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定义：位于 Subscription 之上的治理作用域，用于统一管理多个订阅。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包含：子 Management Group、Subscription　管理：RBAC / Policy / Compliance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PC2.0：单一 Subscription 阶段可先使用 Tenant root group。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CC5F6-DCAD-4FED-991C-F23E847A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277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2  Subscription｜计费、配额与权限边界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定义：Azure 资源使用、费用、配额与访问控制的重要边界。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包含：Resource Group、订阅级资源与设置　PC2.0：PC2.0-ITOM Subscription。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13AF9-D23F-4200-9C74-E8AB838C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7277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3  Resource Group｜生命周期管理容器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定义：把同一解决方案、同一生命周期的相关资源作为一组管理；每个资源只能属于一个 RG。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包含：VM、VNet、Disk、NIC、NSG 等　PC2.0：rg-pc20-dev / test / prod。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BD2BF-6759-47DF-BB00-CEC0F8A8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77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4  Resource｜实际创建和运行的对象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定义：Azure 中可以创建、更新、删除和监控的具体可管理对象。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计算：VM / Disk　网络：VNet / Subnet / NIC / NSG / Route Table / Public IP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运维：Key Vault / Log Analytics / Bastion。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0EBF7-D180-4C88-AFDE-E68D3D7C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Microsoft 官方层级图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5AD64-1FEF-43EE-A4F6-9F82DB58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86efe30b94d20"/>
          <a:stretch xmlns:a="http://schemas.openxmlformats.org/drawingml/2006/main"/>
        </p:blipFill>
        <p:spPr>
          <a:xfrm xmlns:a="http://schemas.openxmlformats.org/drawingml/2006/main">
            <a:off x="8192861" y="2324100"/>
            <a:ext cx="3083379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016C5-2C0E-4459-8E20-B9427907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Resource Manager 的位置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6A0E9-5905-4808-8EA6-523350F5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1466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Portal / CLI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FFF7D-6060-48FB-A854-3181B225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958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713A1-9329-4D7F-B2E2-10590962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5297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>
            <a:normAutofit fontScale="9657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Azure Resource Manager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认证・授权・统一管理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81B37-BECD-4F1F-900F-2102AC8F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248275"/>
            <a:ext cx="2476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7F8D"/>
          </a:solidFill>
          <a:ln xmlns:a="http://schemas.openxmlformats.org/drawingml/2006/main" w="9525">
            <a:solidFill>
              <a:srgbClr val="6F7F8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1C4E4-06E8-4DF6-B1E2-F59EED93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864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Resource Provider → 实际资源</a:t>
            </a:r>
          </a:p>
          <a:p xmlns:a="http://schemas.openxmlformats.org/drawingml/2006/main">
            <a:pPr algn="ctr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Compute：VM｜Network：VNet / NIC｜Storage：Disk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062B1-936D-4B5A-8479-9362D930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7277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398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继承方向：Management Group → Subscription → Resource Group →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4C4C7-765C-4700-AE6D-76FB5E58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76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资料：Microsoft Learn｜Resource Manager overview / Management Groups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E4200-67FF-4E16-9C27-631C1650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50100-B668-4739-9D1D-64ADD71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ITOM｜精简版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B3070-AEE1-4371-9BE9-CAB14F88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11660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2026-09-03T04:52:31.6110000Z</dcterms:created>
  <dcterms:modified xsi:type="dcterms:W3CDTF">2026-09-03T04:52:31.6110000Z</dcterms:modified>
</coreProperties>
</file>