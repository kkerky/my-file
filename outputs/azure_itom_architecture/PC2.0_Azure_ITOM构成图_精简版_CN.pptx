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a86360a6bc1433b" /><Relationship Type="http://schemas.openxmlformats.org/officeDocument/2006/relationships/extended-properties" Target="/docProps/app.xml" Id="R4737164f7d484472" /><Relationship Type="http://schemas.openxmlformats.org/officeDocument/2006/relationships/officeDocument" Target="/ppt/presentation.xml" Id="Rd7db83999acb4e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08b20a574e403f"/>
  </p:sldMasterIdLst>
  <p:notesMasterIdLst>
    <p:notesMasterId xmlns:r="http://schemas.openxmlformats.org/officeDocument/2006/relationships" r:id="R163b02a8d17146bf"/>
  </p:notesMasterIdLst>
  <p:sldIdLst>
    <p:sldId xmlns:r="http://schemas.openxmlformats.org/officeDocument/2006/relationships" id="256" r:id="R09937bf9ef8e4bb2"/>
    <p:sldId xmlns:r="http://schemas.openxmlformats.org/officeDocument/2006/relationships" id="257" r:id="Rb2a4d51f8cdc48d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a3a04362e14674" /><Relationship Type="http://schemas.openxmlformats.org/officeDocument/2006/relationships/slideMaster" Target="/ppt/slideMasters/slideMaster1.xml" Id="R7b08b20a574e403f" /><Relationship Type="http://schemas.openxmlformats.org/officeDocument/2006/relationships/notesMaster" Target="/ppt/notesMasters/notesMaster1.xml" Id="R163b02a8d17146bf" /><Relationship Type="http://schemas.openxmlformats.org/officeDocument/2006/relationships/presProps" Target="/ppt/presProps.xml" Id="R4e01b1c9ffc44b67" /><Relationship Type="http://schemas.openxmlformats.org/officeDocument/2006/relationships/tableStyles" Target="/ppt/tableStyles.xml" Id="Rab12d2534e524003" /><Relationship Type="http://schemas.openxmlformats.org/officeDocument/2006/relationships/slide" Target="/ppt/slides/slide1.xml" Id="R09937bf9ef8e4bb2" /><Relationship Type="http://schemas.openxmlformats.org/officeDocument/2006/relationships/slide" Target="/ppt/slides/slide2.xml" Id="Rb2a4d51f8cdc48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9919ff04554d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809620ad734ea2" /><Relationship Type="http://schemas.openxmlformats.org/officeDocument/2006/relationships/notesMaster" Target="/ppt/notesMasters/notesMaster1.xml" Id="Re658a949947f42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4c38d37d7543a1" /><Relationship Type="http://schemas.openxmlformats.org/officeDocument/2006/relationships/notesMaster" Target="/ppt/notesMasters/notesMaster1.xml" Id="R64ee604df86c4d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- 本页是 PC2.0 的项目建议构成，不是 Microsoft 或 ServiceNow 的强制模板。</a:t>
            </a:r>
          </a:p>
          <a:p xmlns:a="http://schemas.openxmlformats.org/drawingml/2006/main">
            <a:r>
              <a:t>- Horizontal Discovery 由 MID 主动访问目标；ACC 由 Agent 建立到 MID 的 WebSocket 连接；Azure Cloud Discovery 通过 Azure API 获取云侧资源信息。</a:t>
            </a:r>
          </a:p>
          <a:p xmlns:a="http://schemas.openxmlformats.org/drawingml/2006/main">
            <a:r>
              <a:t>- DEV / TEST / PROD 在同一 Subscription 中，通过 Resource Group、VNet、权限以及独立 Credential / API Key 做逻辑隔离。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https://learn.microsoft.com/en-us/azure/azure-resource-manager/management/overview</a:t>
            </a:r>
          </a:p>
          <a:p xmlns:a="http://schemas.openxmlformats.org/drawingml/2006/main">
            <a:r>
              <a:t>- https://learn.microsoft.com/en-us/azure/networking/design-guide/vnets-subnets</a:t>
            </a:r>
          </a:p>
          <a:p xmlns:a="http://schemas.openxmlformats.org/drawingml/2006/main">
            <a:r>
              <a:t>- https://www.servicenow.com/docs/r/it-operations-management/discovery/t_CreateADiscoverySchedule.html</a:t>
            </a:r>
          </a:p>
          <a:p xmlns:a="http://schemas.openxmlformats.org/drawingml/2006/main">
            <a:r>
              <a:t>- https://www.servicenow.com/docs/r/it-operations-management/agent-client-collector/acc-server-deployment.html</a:t>
            </a:r>
          </a:p>
          <a:p xmlns:a="http://schemas.openxmlformats.org/drawingml/2006/main">
            <a:r>
              <a:t>- https://www.servicenow.com/docs/r/it-operations-management/discovery/azure-cloud-discovery.html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- 左图说明 Azure 从 Management Group 到具体 Resource 的管理层级。</a:t>
            </a:r>
          </a:p>
          <a:p xmlns:a="http://schemas.openxmlformats.org/drawingml/2006/main">
            <a:r>
              <a:t>- 右图说明 Portal、PowerShell、CLI 和 REST 等入口都通过 Azure Resource Manager 管理资源。</a:t>
            </a:r>
          </a:p>
          <a:p xmlns:a="http://schemas.openxmlformats.org/drawingml/2006/main">
            <a:r>
              <a:t>- ServiceNow 的三种数据路径分别参考 Discovery schedule、ACC server deployment 与 Azure Cloud Discovery 官方页面。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https://learn.microsoft.com/en-us/azure/azure-resource-manager/management/overview</a:t>
            </a:r>
          </a:p>
          <a:p xmlns:a="http://schemas.openxmlformats.org/drawingml/2006/main">
            <a:r>
              <a:t>- https://learn.microsoft.com/en-us/azure/azure-resource-manager/management/media/overview/scope-levels.png</a:t>
            </a:r>
          </a:p>
          <a:p xmlns:a="http://schemas.openxmlformats.org/drawingml/2006/main">
            <a:r>
              <a:t>- https://learn.microsoft.com/en-us/azure/azure-resource-manager/management/media/overview/consistent-management-layer.png</a:t>
            </a:r>
          </a:p>
          <a:p xmlns:a="http://schemas.openxmlformats.org/drawingml/2006/main">
            <a:r>
              <a:t>- https://learn.microsoft.com/en-us/azure/networking/design-guide/vnets-subnets</a:t>
            </a:r>
          </a:p>
          <a:p xmlns:a="http://schemas.openxmlformats.org/drawingml/2006/main">
            <a:r>
              <a:t>- https://www.servicenow.com/docs/r/it-operations-management/discovery/t_CreateADiscoverySchedule.html</a:t>
            </a:r>
          </a:p>
          <a:p xmlns:a="http://schemas.openxmlformats.org/drawingml/2006/main">
            <a:r>
              <a:t>- https://www.servicenow.com/docs/r/it-operations-management/agent-client-collector/acc-server-deployment.html</a:t>
            </a:r>
          </a:p>
          <a:p xmlns:a="http://schemas.openxmlformats.org/drawingml/2006/main">
            <a:r>
              <a:t>- https://www.servicenow.com/docs/r/it-operations-management/discovery/azure-cloud-discovery.html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cd91db40db4b2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1a2204f7744cd5" /><Relationship Type="http://schemas.openxmlformats.org/officeDocument/2006/relationships/slideLayout" Target="/ppt/slideLayouts/slideLayout1.xml" Id="R23ec6d456e884f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ec6d456e884f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5536fa59474b9f" /><Relationship Type="http://schemas.openxmlformats.org/officeDocument/2006/relationships/notesSlide" Target="/ppt/notesSlides/notesSlide1.xml" Id="R1085e67c50d940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663cb27e534986" /><Relationship Type="http://schemas.openxmlformats.org/officeDocument/2006/relationships/image" Target="/ppt/media/image.png" Id="R5fad172abc244754" /><Relationship Type="http://schemas.openxmlformats.org/officeDocument/2006/relationships/image" Target="/ppt/media/image2.png" Id="Rb34844b540f94ee0" /><Relationship Type="http://schemas.openxmlformats.org/officeDocument/2006/relationships/notesSlide" Target="/ppt/notesSlides/notesSlide2.xml" Id="R9fa735db75a8440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7160320-D46B-4948-B714-670FFD14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rPr>
              <a:t>01｜构成图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103575-731F-4B14-9272-987B4D829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PC2.0 Azure / ServiceNow ITOM 构成图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FAB807-D4ED-4AD5-A087-96A64EDBD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1075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rPr>
              <a:t>一套 Subscription 内，以 Resource Group、VNet、权限和连接信息分开 DEV / TEST / PROD。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7C1FDF-CCFF-4AEF-B068-8AD5E869A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7F259A-DC7F-42EA-8D51-9FE92437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2019300" cy="331470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1DB2B8-8F44-465D-A855-BC8DE7201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9775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463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ServiceNow ITOM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2C3F4C-C89F-401E-B7AB-C5540107F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67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B8CC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8CCE0"/>
                </a:solidFill>
                <a:latin typeface="Microsoft YaHei"/>
                <a:ea typeface="Microsoft YaHei"/>
                <a:cs typeface="Microsoft YaHei"/>
              </a:rPr>
              <a:t>实例对应关系另行确认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654B6E-8AF2-4EC0-AEA9-B20AA459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90825"/>
            <a:ext cx="1638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EDFA"/>
          </a:solidFill>
          <a:ln xmlns:a="http://schemas.openxmlformats.org/drawingml/2006/main" w="9525">
            <a:solidFill>
              <a:srgbClr val="D9EDFA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5A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05A9E"/>
                </a:solidFill>
                <a:latin typeface="Microsoft YaHei"/>
                <a:ea typeface="Microsoft YaHei"/>
                <a:cs typeface="Microsoft YaHei"/>
              </a:rPr>
              <a:t>Horizontal Discovery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62CC2C-B8AA-46AB-80DD-9114F7BD3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MID 主动访问目标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C9183F-AE8A-45B1-AA43-C3995D80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1638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F2DE"/>
          </a:solidFill>
          <a:ln xmlns:a="http://schemas.openxmlformats.org/drawingml/2006/main" w="9525">
            <a:solidFill>
              <a:srgbClr val="E5F2DE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F9E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4F9E32"/>
                </a:solidFill>
                <a:latin typeface="Microsoft YaHei"/>
                <a:ea typeface="Microsoft YaHei"/>
                <a:cs typeface="Microsoft YaHei"/>
              </a:rPr>
              <a:t>Agent Client Collector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E2C735-982A-4B17-B5F1-73C95DEE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Agent 经 MID 回传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CE8FFE-3C79-406E-A097-922816192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95775"/>
            <a:ext cx="1638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9C8"/>
          </a:solidFill>
          <a:ln xmlns:a="http://schemas.openxmlformats.org/drawingml/2006/main" w="9525">
            <a:solidFill>
              <a:srgbClr val="FDE9C8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98B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98B0C"/>
                </a:solidFill>
                <a:latin typeface="Microsoft YaHei"/>
                <a:ea typeface="Microsoft YaHei"/>
                <a:cs typeface="Microsoft YaHei"/>
              </a:rPr>
              <a:t>Azure Cloud Discovery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0D1C5A-D3EE-4D9F-94C8-C2F8042D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00575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通过 Azure API 取得云资源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1DEEF0-E186-4C1D-9C99-DFDA52D3F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876550"/>
            <a:ext cx="723900" cy="2000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9525">
            <a:solidFill>
              <a:srgbClr val="0078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433E0A-0D12-4140-ACBB-6C6C499B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638550"/>
            <a:ext cx="723900" cy="20002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4F9E32"/>
          </a:solidFill>
          <a:ln xmlns:a="http://schemas.openxmlformats.org/drawingml/2006/main" w="9525">
            <a:solidFill>
              <a:srgbClr val="4F9E3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E5338F-DFEF-4949-87F9-34C0FF44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400550"/>
            <a:ext cx="723900" cy="2000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8B0C"/>
          </a:solidFill>
          <a:ln xmlns:a="http://schemas.openxmlformats.org/drawingml/2006/main" w="9525">
            <a:solidFill>
              <a:srgbClr val="E98B0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418EEE-39CC-484C-9ADF-05035291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543050"/>
            <a:ext cx="8401050" cy="4019550"/>
          </a:xfrm>
          <a:prstGeom xmlns:a="http://schemas.openxmlformats.org/drawingml/2006/main" prst="roundRect">
            <a:avLst>
              <a:gd name="adj" fmla="val 2844"/>
            </a:avLst>
          </a:prstGeom>
          <a:solidFill xmlns:a="http://schemas.openxmlformats.org/drawingml/2006/main">
            <a:srgbClr val="EAF5FD"/>
          </a:solidFill>
          <a:ln xmlns:a="http://schemas.openxmlformats.org/drawingml/2006/main" w="9525">
            <a:solidFill>
              <a:srgbClr val="0078D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FF9BB3-3499-4100-8B73-F064CECA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57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5A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5A9E"/>
                </a:solidFill>
                <a:latin typeface="Microsoft YaHei"/>
                <a:ea typeface="Microsoft YaHei"/>
                <a:cs typeface="Microsoft YaHei"/>
              </a:rPr>
              <a:t>Microsoft Entra Tenant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A21B6B-35A4-4138-8818-B4F407A3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962150"/>
            <a:ext cx="23241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5A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5A9E"/>
                </a:solidFill>
                <a:latin typeface="Microsoft YaHei"/>
                <a:ea typeface="Microsoft YaHei"/>
                <a:cs typeface="Microsoft YaHei"/>
              </a:rPr>
              <a:t>Subscription：PC2.0-ITOM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106B78-2E1F-486E-A5E2-1BB049AB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812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rPr>
              <a:t>共同控制：RBAC ｜ Tag ｜ Policy ｜ Monitor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120E29-BD82-490A-A237-15222C08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847850"/>
            <a:ext cx="2019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E98B0C"/>
            </a:solidFill>
            <a:prstDash val="solid"/>
          </a:ln>
        </p:spPr>
        <p:txBody>
          <a:bodyPr xmlns:a="http://schemas.openxmlformats.org/drawingml/2006/main" anchor="ctr">
            <a:normAutofit fontScale="98742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Azure Resource Manager API</a:t>
            </a:r>
          </a:p>
          <a:p xmlns:a="http://schemas.openxmlformats.org/drawingml/2006/main">
            <a:pPr algn="ctr">
              <a:defRPr sz="975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Cloud Discovery 读取云资源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7768F3-CCC9-4681-89DA-C8BF247A1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81300"/>
            <a:ext cx="2381250" cy="22288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DDB847-5E92-41C0-8563-E4325D98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81300"/>
            <a:ext cx="23812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078D4"/>
          </a:solidFill>
          <a:ln xmlns:a="http://schemas.openxmlformats.org/drawingml/2006/main" w="9525">
            <a:solidFill>
              <a:srgbClr val="0078D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1B6556-67D5-4F21-97CA-83986402C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76575"/>
            <a:ext cx="2381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9525">
            <a:solidFill>
              <a:srgbClr val="0078D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286E89-991E-467A-980A-5DC2E8DB3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575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DEV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D3EE69-305B-4A7D-B4D3-3E045C2F6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575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rg-pc20-dev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FE95A1-AB9D-4040-BBAC-80AE21816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31470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rPr>
              <a:t>vnet-dev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199B9E-7F69-42BA-ADF7-9F0EC421C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648075"/>
            <a:ext cx="20383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5FD"/>
          </a:solidFill>
          <a:ln xmlns:a="http://schemas.openxmlformats.org/drawingml/2006/main" w="9525">
            <a:solidFill>
              <a:srgbClr val="0078D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MID-DEV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EE1A7A-D214-4E85-94C3-6F0B3BBA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171950"/>
            <a:ext cx="704850" cy="1905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4F9E32"/>
          </a:solidFill>
          <a:ln xmlns:a="http://schemas.openxmlformats.org/drawingml/2006/main" w="9525">
            <a:solidFill>
              <a:srgbClr val="4F9E3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B17FBD-C25A-4A94-B298-1E16AB11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36245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F9E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4F9E32"/>
                </a:solidFill>
                <a:latin typeface="Microsoft YaHei"/>
                <a:ea typeface="Microsoft YaHei"/>
                <a:cs typeface="Microsoft YaHei"/>
              </a:rPr>
              <a:t>ACC / WSS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9EF5B1-9283-49B4-A8F3-F0D0184B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572000"/>
            <a:ext cx="20383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CCD6DE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业务 VM + ACC Agent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81653B-4434-4C33-B3D1-05C184DFC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81300"/>
            <a:ext cx="2381250" cy="22288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E1C913-654B-4090-8CC9-4A9099CD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81300"/>
            <a:ext cx="23812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4F9E32"/>
          </a:solidFill>
          <a:ln xmlns:a="http://schemas.openxmlformats.org/drawingml/2006/main" w="9525">
            <a:solidFill>
              <a:srgbClr val="4F9E3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7AC06A-0C48-4BC9-BC4D-034F7AE65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76575"/>
            <a:ext cx="2381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E32"/>
          </a:solidFill>
          <a:ln xmlns:a="http://schemas.openxmlformats.org/drawingml/2006/main" w="9525">
            <a:solidFill>
              <a:srgbClr val="4F9E3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3E1C089-E68B-4E1B-B130-D5BA64449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575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TEST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EA7DB4E-38C7-45A8-8E68-8CD9D2054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8575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rg-pc20-test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8137A8-3317-4226-9C11-3AAC68F8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1470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F9E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F9E32"/>
                </a:solidFill>
                <a:latin typeface="Microsoft YaHei"/>
                <a:ea typeface="Microsoft YaHei"/>
                <a:cs typeface="Microsoft YaHei"/>
              </a:rPr>
              <a:t>vnet-test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342982A-D6B1-4FFC-A267-E5DB8CB6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48075"/>
            <a:ext cx="20383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DF7E9"/>
          </a:solidFill>
          <a:ln xmlns:a="http://schemas.openxmlformats.org/drawingml/2006/main" w="9525">
            <a:solidFill>
              <a:srgbClr val="4F9E3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MID-TEST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15A8BB3-D841-4F00-926E-9F1A8C72E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71950"/>
            <a:ext cx="704850" cy="1905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4F9E32"/>
          </a:solidFill>
          <a:ln xmlns:a="http://schemas.openxmlformats.org/drawingml/2006/main" w="9525">
            <a:solidFill>
              <a:srgbClr val="4F9E3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DF686E9-7CE2-4048-A365-84604DFD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436245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F9E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4F9E32"/>
                </a:solidFill>
                <a:latin typeface="Microsoft YaHei"/>
                <a:ea typeface="Microsoft YaHei"/>
                <a:cs typeface="Microsoft YaHei"/>
              </a:rPr>
              <a:t>ACC / WSS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958BDF6-51DD-417D-89CE-E2CA07DE1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72000"/>
            <a:ext cx="20383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CCD6DE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业务 VM + ACC Agent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1FEA199-D8D7-47CA-8C72-CA8441C7D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81300"/>
            <a:ext cx="2381250" cy="22288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0AF2E8B-8A39-480D-BF82-243974325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81300"/>
            <a:ext cx="23812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E98B0C"/>
          </a:solidFill>
          <a:ln xmlns:a="http://schemas.openxmlformats.org/drawingml/2006/main" w="9525">
            <a:solidFill>
              <a:srgbClr val="E98B0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6384F34-A9B0-4919-95F2-799EF534C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76575"/>
            <a:ext cx="2381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8B0C"/>
          </a:solidFill>
          <a:ln xmlns:a="http://schemas.openxmlformats.org/drawingml/2006/main" w="9525">
            <a:solidFill>
              <a:srgbClr val="E98B0C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052940D-802B-4C45-9953-96FBDA89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575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PROD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4D0068E-9BE9-4EF2-A2FA-337D7B54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8575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rg-pc20-prod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97C577A-65AF-4082-80EC-44B65DD5C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31470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98B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E98B0C"/>
                </a:solidFill>
                <a:latin typeface="Microsoft YaHei"/>
                <a:ea typeface="Microsoft YaHei"/>
                <a:cs typeface="Microsoft YaHei"/>
              </a:rPr>
              <a:t>vnet-prod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3D3E6E-ED0C-4DD1-A923-8D8EF257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48075"/>
            <a:ext cx="20383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E98B0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MID-PROD 01 / 02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53A4958-66E7-4C3B-9B96-D98C312F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171950"/>
            <a:ext cx="704850" cy="1905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4F9E32"/>
          </a:solidFill>
          <a:ln xmlns:a="http://schemas.openxmlformats.org/drawingml/2006/main" w="9525">
            <a:solidFill>
              <a:srgbClr val="4F9E32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4702AFC-29C6-4A0B-A54E-B595894C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436245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F9E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4F9E32"/>
                </a:solidFill>
                <a:latin typeface="Microsoft YaHei"/>
                <a:ea typeface="Microsoft YaHei"/>
                <a:cs typeface="Microsoft YaHei"/>
              </a:rPr>
              <a:t>ACC / WSS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A9D7D61-C30B-4C44-82B1-0EFD10104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572000"/>
            <a:ext cx="20383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CCD6DE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业务 VM + ACC Agent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B38BAB1-EB1B-4DE8-835E-4DBE8E5D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734050"/>
            <a:ext cx="84010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839D487-5423-43AA-BC07-5747A8B3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84835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环境隔离重点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1E71353-961B-47EF-BED4-C4EA9BC8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848350"/>
            <a:ext cx="417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RG + VNet + RBAC + 独立 Credential / API Key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932E933-E836-4EC6-98AB-3D3948BA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81025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9744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rPr>
              <a:t>可选共通组件：Palo Alto / Bastion / Log Analytics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B2D1E5E-6A80-40BD-BB21-1925C8C3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76AB234-DC65-421A-AA74-7C9F0F99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F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F7F8D"/>
                </a:solidFill>
                <a:latin typeface="Microsoft YaHei"/>
                <a:ea typeface="Microsoft YaHei"/>
                <a:cs typeface="Microsoft YaHei"/>
              </a:rPr>
              <a:t>PC2.0 Azure × ServiceNow ITOM｜精简版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FCCFDF7-9CBA-4B27-9856-B405F56E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F7F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F7F8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584892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6AE430-B4EA-4F7B-A089-55A6BC43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rPr>
              <a:t>02｜官方参考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7E95EA-9F8B-43D7-AF9D-32D2E806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Microsoft 官方图与 ServiceNow 官方资料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A58D2A-4337-4E6F-A7C4-6FCEFC62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1075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rPr>
              <a:t>第一页是项目建议；本页用于说明 Azure 官方层级，以及三种 ITOM 路径的官方依据。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D2F45B-9695-4817-B3A9-0F2AA39A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5ED400-DDD7-4E7D-A936-81F77CC2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Azure 管理层级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E97056-E45F-4B12-9731-5E3B3F45E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447675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ad172abc244754"/>
          <a:stretch xmlns:a="http://schemas.openxmlformats.org/drawingml/2006/main"/>
        </p:blipFill>
        <p:spPr>
          <a:xfrm xmlns:a="http://schemas.openxmlformats.org/drawingml/2006/main">
            <a:off x="767443" y="1952625"/>
            <a:ext cx="4161064" cy="26479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7F1C13-CF3D-4197-9A69-4D5E4FF88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819650"/>
            <a:ext cx="20574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D"/>
          </a:solidFill>
          <a:ln xmlns:a="http://schemas.openxmlformats.org/drawingml/2006/main" w="9525">
            <a:solidFill>
              <a:srgbClr val="EAF5FD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5A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5A9E"/>
                </a:solidFill>
                <a:latin typeface="Microsoft YaHei"/>
                <a:ea typeface="Microsoft YaHei"/>
                <a:cs typeface="Microsoft YaHei"/>
              </a:rPr>
              <a:t>Microsoft Learn 官方图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48743E-5E90-4073-82B0-2A6A99E73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504950"/>
            <a:ext cx="565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Azure Resource Manager 工作方式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156E32-6580-4F82-BCEC-6D180E68E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828800"/>
            <a:ext cx="565785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4844b540f94ee0"/>
          <a:stretch xmlns:a="http://schemas.openxmlformats.org/drawingml/2006/main"/>
        </p:blipFill>
        <p:spPr>
          <a:xfrm xmlns:a="http://schemas.openxmlformats.org/drawingml/2006/main">
            <a:off x="6169819" y="1971675"/>
            <a:ext cx="4976813" cy="261937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585C4E-5551-4132-A4AC-6E82DC418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819650"/>
            <a:ext cx="20574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D"/>
          </a:solidFill>
          <a:ln xmlns:a="http://schemas.openxmlformats.org/drawingml/2006/main" w="9525">
            <a:solidFill>
              <a:srgbClr val="EAF5FD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5A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5A9E"/>
                </a:solidFill>
                <a:latin typeface="Microsoft YaHei"/>
                <a:ea typeface="Microsoft YaHei"/>
                <a:cs typeface="Microsoft YaHei"/>
              </a:rPr>
              <a:t>Microsoft Learn 官方图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3CB098-81CB-4B25-B95F-F2F18844F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250507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6FBF3C-A190-465F-AE92-3BE2BB6C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57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9525">
            <a:solidFill>
              <a:srgbClr val="0078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28366C-B7AC-4B4E-8E1A-244C45B3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2238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rPr>
              <a:t>Azure 基础结构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C5AE05-2750-4BBC-BBA8-13C5C4FD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38800"/>
            <a:ext cx="2238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rPr>
              <a:t>Resource Manager overview</a:t>
            </a:r>
          </a:p>
          <a:p xmlns:a="http://schemas.openxmlformats.org/drawingml/2006/main">
            <a:pPr algn="l">
              <a:defRPr sz="900" b="0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rPr>
              <a:t>VNet and subnets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A8753E-AF8F-4155-99D9-A70D93AE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5276850"/>
            <a:ext cx="250507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9F996F-55C8-4B85-8689-20B18089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5276850"/>
            <a:ext cx="57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E"/>
          </a:solidFill>
          <a:ln xmlns:a="http://schemas.openxmlformats.org/drawingml/2006/main" w="9525">
            <a:solidFill>
              <a:srgbClr val="005A9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059588-5953-40A5-8616-ECDBA0945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5381625"/>
            <a:ext cx="2238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5A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5A9E"/>
                </a:solidFill>
                <a:latin typeface="Microsoft YaHei"/>
                <a:ea typeface="Microsoft YaHei"/>
                <a:cs typeface="Microsoft YaHei"/>
              </a:rPr>
              <a:t>Horizontal Discovery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F73F25-0111-468F-80AA-741BF715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5638800"/>
            <a:ext cx="2238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rPr>
              <a:t>Create a Discovery schedule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7FCAE5-9ADF-417D-ABA6-891C46E62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276850"/>
            <a:ext cx="250507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544B8A-B410-4596-BD73-778068FB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276850"/>
            <a:ext cx="57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E32"/>
          </a:solidFill>
          <a:ln xmlns:a="http://schemas.openxmlformats.org/drawingml/2006/main" w="9525">
            <a:solidFill>
              <a:srgbClr val="4F9E3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AC1D26-9E0E-4388-AB6E-B3A9BA692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381625"/>
            <a:ext cx="2238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9E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4F9E32"/>
                </a:solidFill>
                <a:latin typeface="Microsoft YaHei"/>
                <a:ea typeface="Microsoft YaHei"/>
                <a:cs typeface="Microsoft YaHei"/>
              </a:rPr>
              <a:t>ACC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0A1D57-F029-42B8-AB34-C09C2245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638800"/>
            <a:ext cx="2238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rPr>
              <a:t>ACC server deployment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A18FEB-D509-4A00-B5C3-6A4A628A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276850"/>
            <a:ext cx="250507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A8C8F2-5959-46E6-94EE-7BF91977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276850"/>
            <a:ext cx="57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8B0C"/>
          </a:solidFill>
          <a:ln xmlns:a="http://schemas.openxmlformats.org/drawingml/2006/main" w="9525">
            <a:solidFill>
              <a:srgbClr val="E98B0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1D05A0-825A-4874-9E4A-8E7C4CA9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5381625"/>
            <a:ext cx="2238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98B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98B0C"/>
                </a:solidFill>
                <a:latin typeface="Microsoft YaHei"/>
                <a:ea typeface="Microsoft YaHei"/>
                <a:cs typeface="Microsoft YaHei"/>
              </a:rPr>
              <a:t>Cloud Discovery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5B7221-C6E5-47F8-A410-B895F1BA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5638800"/>
            <a:ext cx="2238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rPr>
              <a:t>Azure Cloud Discovery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ABD143-7C1A-4C9A-A5A0-9C66C4CC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7F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F7F8D"/>
                </a:solidFill>
                <a:latin typeface="Microsoft YaHei"/>
                <a:ea typeface="Microsoft YaHei"/>
                <a:cs typeface="Microsoft YaHei"/>
              </a:rPr>
              <a:t>官方图版权归 Microsoft；完整 URL 已保存在本页演讲者备注中。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628D50-6AF9-47DE-931D-A73DF0182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41AF9B-E7BB-4E15-B858-8D32BF9C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F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F7F8D"/>
                </a:solidFill>
                <a:latin typeface="Microsoft YaHei"/>
                <a:ea typeface="Microsoft YaHei"/>
                <a:cs typeface="Microsoft YaHei"/>
              </a:rPr>
              <a:t>PC2.0 Azure × ServiceNow ITOM｜精简版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55DF39-A77B-4478-9E9F-A1BB48F7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F7F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F7F8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019328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2026-09-03T04:35:07.7060000Z</dcterms:created>
  <dcterms:modified xsi:type="dcterms:W3CDTF">2026-09-03T04:35:07.7060000Z</dcterms:modified>
</coreProperties>
</file>