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7a95fcdd1c4513" /><Relationship Type="http://schemas.openxmlformats.org/officeDocument/2006/relationships/extended-properties" Target="/docProps/app.xml" Id="Rfc40c316db6c44c0" /><Relationship Type="http://schemas.openxmlformats.org/officeDocument/2006/relationships/officeDocument" Target="/ppt/presentation.xml" Id="R2a629e659f3445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a3617ad2be46f3"/>
  </p:sldMasterIdLst>
  <p:notesMasterIdLst>
    <p:notesMasterId xmlns:r="http://schemas.openxmlformats.org/officeDocument/2006/relationships" r:id="R1535d58a9be14531"/>
  </p:notesMasterIdLst>
  <p:sldIdLst>
    <p:sldId xmlns:r="http://schemas.openxmlformats.org/officeDocument/2006/relationships" id="256" r:id="Ra8c73769458e4cfa"/>
    <p:sldId xmlns:r="http://schemas.openxmlformats.org/officeDocument/2006/relationships" id="257" r:id="R50cb595136794fde"/>
    <p:sldId xmlns:r="http://schemas.openxmlformats.org/officeDocument/2006/relationships" id="258" r:id="Rfeb591fa617d44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c52af7f67f4e3b" /><Relationship Type="http://schemas.openxmlformats.org/officeDocument/2006/relationships/slideMaster" Target="/ppt/slideMasters/slideMaster1.xml" Id="R27a3617ad2be46f3" /><Relationship Type="http://schemas.openxmlformats.org/officeDocument/2006/relationships/notesMaster" Target="/ppt/notesMasters/notesMaster1.xml" Id="R1535d58a9be14531" /><Relationship Type="http://schemas.openxmlformats.org/officeDocument/2006/relationships/presProps" Target="/ppt/presProps.xml" Id="R0433d938faf343af" /><Relationship Type="http://schemas.openxmlformats.org/officeDocument/2006/relationships/tableStyles" Target="/ppt/tableStyles.xml" Id="Rc74d03002c104238" /><Relationship Type="http://schemas.openxmlformats.org/officeDocument/2006/relationships/slide" Target="/ppt/slides/slide1.xml" Id="Ra8c73769458e4cfa" /><Relationship Type="http://schemas.openxmlformats.org/officeDocument/2006/relationships/slide" Target="/ppt/slides/slide2.xml" Id="R50cb595136794fde" /><Relationship Type="http://schemas.openxmlformats.org/officeDocument/2006/relationships/slide" Target="/ppt/slides/slide3.xml" Id="Rfeb591fa617d44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ac61298f940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1e91da6e3143da" /><Relationship Type="http://schemas.openxmlformats.org/officeDocument/2006/relationships/notesMaster" Target="/ppt/notesMasters/notesMaster1.xml" Id="Ref3f3ecfff7849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c64aa3be7547ba" /><Relationship Type="http://schemas.openxmlformats.org/officeDocument/2006/relationships/notesMaster" Target="/ppt/notesMasters/notesMaster1.xml" Id="R542caea10504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6411f5b0694297" /><Relationship Type="http://schemas.openxmlformats.org/officeDocument/2006/relationships/notesMaster" Target="/ppt/notesMasters/notesMaster1.xml" Id="Rf71fb6e9f45049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本ページは DEV、TEST、PROD の区分に依存しない基本コンポーネントと通信関係のみを示しており、最終的な環境設計を表すものではありません。</a:t>
            </a:r>
          </a:p>
          <a:p xmlns:a="http://schemas.openxmlformats.org/drawingml/2006/main">
            <a:r>
              <a:t>- Horizontal Discovery は MID Server から対象へアクセスします。ACC は Agent から MID Server へ WebSocket 接続を確立します。Azure Cloud Discovery は Azure API を通じてクラウド側のリソース情報を取得します。</a:t>
            </a:r>
          </a:p>
          <a:p xmlns:a="http://schemas.openxmlformats.org/drawingml/2006/main">
            <a:r>
              <a:t>- 環境数、Subscription、Resource Group、VNet/Subnet、MID Server の台数、権限境界は、後続の設計段階で確認する必要があります。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は ID ディレクトリの基盤です。本ページの 4 階層は Azure Resource Manager が公式に定義する管理スコープです。</a:t>
            </a:r>
          </a:p>
          <a:p xmlns:a="http://schemas.openxmlformats.org/drawingml/2006/main">
            <a:r>
              <a:t>- Management Group は複数 Subscription を横断したガバナンスに利用します。Subscription はリソース利用、課金、クォータ、アクセス制御の重要な境界です。</a:t>
            </a:r>
          </a:p>
          <a:p xmlns:a="http://schemas.openxmlformats.org/drawingml/2006/main">
            <a:r>
              <a:t>- Resource Group はライフサイクルが近い関連リソースを管理します。Resource は VM、VNet、Disk、NIC などの実体です。</a:t>
            </a:r>
          </a:p>
          <a:p xmlns:a="http://schemas.openxmlformats.org/drawingml/2006/main">
            <a:r>
              <a:t>- 階層図は、上位でガバナンスと権限境界を管理し、下位へ進むほど Resource Group と実際の Azure Resource に近づく構造として読みます。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本ページは用語の早見表であり、各製品の正式な定義や設計書に代わるものではありません。</a:t>
            </a:r>
          </a:p>
          <a:p xmlns:a="http://schemas.openxmlformats.org/drawingml/2006/main">
            <a:r>
              <a:t>- Azure の固有名詞は Microsoft の公式英語名称を残し、報告で理解しやすい日本語の意味を括弧内に記載しています。</a:t>
            </a:r>
          </a:p>
          <a:p xmlns:a="http://schemas.openxmlformats.org/drawingml/2006/main">
            <a:r>
              <a:t>- ServiceNow と通信プロトコルの用語は別区分とし、Azure ネイティブ リソースとの混同を避けています。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https://learn.microsoft.com/en-us/azure/governance/policy/overview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https://learn.microsoft.com/en-us/azure/bastion/bastion-overview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16f47e73a43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fe17b333a145ea" /><Relationship Type="http://schemas.openxmlformats.org/officeDocument/2006/relationships/slideLayout" Target="/ppt/slideLayouts/slideLayout1.xml" Id="R513a3657834c4f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3a3657834c4f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8e31b12324cca" /><Relationship Type="http://schemas.openxmlformats.org/officeDocument/2006/relationships/notesSlide" Target="/ppt/notesSlides/notesSlide1.xml" Id="R88e0fa052f8041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f95a714354ae1" /><Relationship Type="http://schemas.openxmlformats.org/officeDocument/2006/relationships/image" Target="/ppt/media/image.png" Id="Rf3bbf479d575445e" /><Relationship Type="http://schemas.openxmlformats.org/officeDocument/2006/relationships/notesSlide" Target="/ppt/notesSlides/notesSlide2.xml" Id="Rf363ff0942ae4a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aefdd9d0f4af3" /><Relationship Type="http://schemas.openxmlformats.org/officeDocument/2006/relationships/notesSlide" Target="/ppt/notesSlides/notesSlide3.xml" Id="R388d4ea0bdbc4d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CF52D7-C0C5-4EF5-9EF1-3F1953B8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01｜構成図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F0049-26BB-46C7-A1BC-C03EE47E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PC2.0 Azure / ServiceNow ITOM（IT 運用管理）基本構成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1121F-A2F3-4F5B-B7AF-D9337F11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7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本ページはコンポーネントと通信関係のみを示します。環境数、Subscription（サブスクリプション）、Resource Group（リソース グループ）、VNet/Subnet（仮想ネットワーク／サブネット）の分割方針は未確定です。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1AC8C-4987-48DF-9212-D12F8A88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83EE0-0818-40B7-8CB0-50094B19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6067E-743D-4E74-896E-E223F446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445D"/>
          </a:solidFill>
          <a:ln xmlns:a="http://schemas.openxmlformats.org/drawingml/2006/main" w="9525">
            <a:solidFill>
              <a:srgbClr val="29445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077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インスタンスとの対応関係は別途確認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91590-E93A-457A-84EE-87BA609A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17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Horizontal Discovery（水平ディスカバリ）</a:t>
            </a:r>
          </a:p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MID Server から対象へアクセス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8ACCA-2170-4A70-9D78-C7947539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18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Agent Client Collector（エージェント収集機能）</a:t>
            </a:r>
          </a:p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ACC Agent から MID Server 経由で送信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A0575-1923-418D-B921-6982B1DF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F4F5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86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Azure Cloud Discovery（Azure クラウドディスカバリ）</a:t>
            </a:r>
          </a:p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Azure API 経由でクラウドリソースを取得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9FF95-6EF7-4B68-8E2E-7118FE07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AAB92-6BDD-41BA-8D36-C69E0294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C6B01-A40A-4EB3-8B12-CEA31077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792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46B81-9DF6-4F73-A532-EA6641E6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1EDFC-2D66-4949-9554-3765F434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908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Microsoft Entra Tenant（ID テナント）</a:t>
            </a:r>
          </a:p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Subscription（サブスクリプション）：範囲は要確認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14CA5-9832-4D67-8525-1C3D0B72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7141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RBAC（ロールベース アクセス制御）｜Tag（タグ）｜Azure Policy（ポリシー）｜Azure Monitor（監視）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8E828-26CF-436A-B092-17FA19BB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 API（リソース管理 API）</a:t>
            </a:r>
          </a:p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Cloud Discovery：VM / VNet / Subnet / NIC /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733BE-C769-40CF-83C7-A261B63F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924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9D0D5-E835-4E26-919A-CAE95FCD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543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の管理・ネットワーク範囲（数、名称、境界は要確認）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B9B91-4680-44A1-A325-4CD51E4C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Server（中間サーバー）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Horizontal Discovery（水平ディスカバリ）を実行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データを受信し ServiceNow へ転送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台数・設定：要確認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04A0B-D189-4003-BEBA-674F1680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管理対象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Windows / Linux / Network Device（ネットワーク機器）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Agent（ACC エージェント、適用可能な対象）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対象リソース一覧：要確認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4D4AE-0872-4FD1-AAC1-3C24FE18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1181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38100" tIns="9525" rIns="1333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SSH / WMI / SNMP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01A19-A7AD-4AC6-921F-BC79F94B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1811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333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A2420-5492-486B-A8AE-C37DDEA9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68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オプションの共通コンポーネント：Palo Alto（ファイアウォール）/ NSG（ネットワーク セキュリティ グループ）/ Route Table（ルート テーブル）/ Azure Bastion（安全な接続）/ Log Analytics（ログ分析）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A5894-F83C-46B6-A031-E5C02520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今後の確認事項：環境数｜Subscription（サブスクリプション）/ Resource Group（リソース グループ）/ VNet（仮想ネットワーク）/ Subnet（サブネット）の区分｜MID 台数｜権限と Credential（認証情報）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AAFEA6-1D53-4164-B08A-8ACAB3FC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CFCB7C-847F-4741-88F2-BA98CB5A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ITOM｜用語説明版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19F107-5B39-4684-A485-A6CF25AE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8028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58525-8560-43BD-B7B1-EFE327C8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02｜Azure 管理階層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5312C-470B-449E-BE5B-BE8A2FB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各階層の定義・含まれるもの・管理対象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F2257-E6A2-44C6-9772-607F2D4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Microsoft では 4 つの Management Scope（管理スコープ）を定義しており、下位階層は上位で設定された Azure RBAC（ロールベース アクセス制御）と Azure Policy（ポリシー）を継承します。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7250C-9E9C-4DC4-9FBF-7B55140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D162C-A18B-420A-8ECD-95B45A3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Tenant（ID テナント）：Azure の User（ユーザー）、Group（グループ）、Service Principal（サービス プリンシパル）を一元管理します。同一の Management Group（管理グループ）配下の Subscription（サブスクリプション）は、同じ Tenant（テナント）に属する必要があります。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9FBDE-A8BC-4FC8-B5F9-89C6666A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1  Management Group（管理グループ）｜複数 Subscription のガバナンス階層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定義：Subscription の上位に位置する Management Scope（管理スコープ）で、複数の Subscription を統合管理します。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含まれるもの：子 Management Group、Subscription　管理対象：Azure RBAC / Azure Policy / Compliance（コンプライアンス）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PC2.0：カスタム Management Group を設定するか要確認。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9D175-B269-49FF-A236-0D6694E6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2  Subscription（サブスクリプション）｜課金、Quota（クォータ）、権限の境界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定義：Azure リソースの利用、料金、クォータ、アクセス制御に関する重要な範囲です。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含まれるもの：Resource Group（リソース グループ）、Subscription レベルのリソースと設定　PC2.0：数と範囲は要確認。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800B9-3EA1-426B-B8C9-3E025C76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3  Resource Group（リソース グループ）｜Lifecycle（ライフサイクル）管理用コンテナー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定義：同じソリューションやライフサイクルを持つ関連 Resource（リソース）をまとめて管理します。各 Resource が所属できる Resource Group は 1 つです。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含まれるもの：VM、VNet、Disk、NIC、NSG など　PC2.0：数と命名は要確認。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2B94F-C603-48E4-9A5F-71860D2E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  Resource（リソース）｜実際に作成・稼働する対象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定義：Azure 上で作成、更新、削除、監視できる具体的な管理対象です。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Compute：VM（仮想マシン）/ Disk（ディスク）　Network：VNet（仮想ネットワーク）/ Subnet（サブネット）/ NIC（ネットワーク インターフェイス）/ NSG（ネットワーク セキュリティ グループ）/ Route Table（ルート テーブル）/ Public IP（パブリック IP）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Operations：Key Vault（キー管理）/ Log Analytics（ログ分析）/ Azure Bastion（安全な接続サービス）。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FD82F-7A30-4FA7-A918-FC44CBD7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Microsoft 公式の階層図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56C4D-F8A0-4A3C-81BE-8C1254CF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bf479d575445e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D55AC-DFA5-4A81-ADC8-B2CA160D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管理階層の見方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60FE3-BB73-4904-9600-FF11600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342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171450" tIns="76200" rIns="1714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Management Group → Subscription → Resource Group → Resource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上位：ガバナンス ルールと権限境界を統合管理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下位：実際に作成・稼働する Azure リソースを配置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RBAC / Azure Policy は各階層で設定でき、下位へ継承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93414-93CE-4F6C-AE61-C151ECF5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979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継承方向：Management Group（管理グループ）→ Subscription（サブスクリプション）→ Resource Group（リソース グループ）→ Resource（リソース）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04EE3-3E7E-44D5-A199-67F892BE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出典：Microsoft Learn｜Resource Manager overview / Management Groups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DE247-F79C-4E5C-85C6-420F46A3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38127-FCFE-42E1-8693-D0DF2FA0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ITOM｜用語説明版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C3D9F-821F-4618-8715-9BCD612B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1617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56D5A-26FB-4047-B38E-C6054997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03｜用語集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4F82B-5B3D-4990-852C-C38B71BF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/ ServiceNow 用語早見表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8942C-5AB9-45F7-9502-B73D45A7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表記方針：English official name（日本語の意味）。IT に詳しくない方にも伝わる説明を優先しています。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84B70-058D-42CA-8436-62A00DAF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26C80-AFE5-4A89-BC17-136FCD1B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IDENTITY &amp; SCOPE｜ID と管理スコープ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Tenant（ID テナント）：Azure の ID ディレクトリと管理境界。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User / Group（ユーザー / グループ）：ユーザー アカウントとその集合。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 Principal（サービス プリンシパル）：プログラムや外部システムが Azure にアクセスするための非対話型 ID。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Management Group（管理グループ）：Subscription の上位で権限とポリシーを統合管理する単位。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Subscription（サブスクリプション）：課金、クォータ、権限、リソース管理の重要な範囲。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Group（リソース グループ）：ライフサイクルが近い Resource をまとめる管理単位。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Resource（リソース）：Azure 上で実際に作成・管理する対象。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A4351-7DA5-48E1-BEFF-E9068659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GOVERNANCE &amp; OPERATIONS｜ガバナンスと運用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Manager（リソース マネージャー）：Azure リソースの管理要求を一元的に受け付けて処理する仕組み。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Provider（リソース プロバイダー）：特定種類の Azure Resource を提供するサービス。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RBAC（ロールベース アクセス制御）：誰が、どの範囲で、何を実行できるかを決める仕組み。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Policy（ポリシー）：リソースが組織ルールに適合しているか確認・制限する仕組み。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Tag（タグ）：検索や費用整理のためにリソースへ付ける分類情報。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Monitor（監視）：Azure の監視データを収集・分析するサービス。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Log Analytics Workspace（ログ分析ワークスペース）：ログを集約して保存・検索する領域。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Key Vault（キー コンテナー）：パスワード、キー、証明書を安全に保管するサービス。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72730-AB36-4481-A66C-A06E10D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NETWORK &amp; COMPUTE｜ネットワークとコンピュート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VNet / Virtual Network（仮想ネットワーク）：Azure 上で分離されたプライベート ネットワークの範囲。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Subnet（サブネット）：VNet 内をさらに分割したアドレス範囲。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NIC / Network Interface（ネットワーク インターフェイス）：VM を Subnet に接続する仮想 NIC。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NSG / Network Security Group（ネットワーク セキュリティ グループ）：ルールに基づいてネットワーク通信を許可または拒否する仕組み。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Route Table（ルート テーブル）：ネットワーク通信の次の転送先を定める設定。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Public IP（パブリック IP）：インターネットからアクセス可能な IP アドレス。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VM / Virtual Machine（仮想マシン）：Windows または Linux を実行するクラウド サーバー。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Managed Disk（マネージド ディスク）：VM が使用する Azure 管理のディスク。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Bastion（安全な接続サービス）：Azure Portal から VM へ安全に接続するサービス。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3BDD8-D09C-4BC0-B200-3055F455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SERVICENOW &amp; PROTOCOLS｜ServiceNow と通信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Server（中間サーバー）：ServiceNow と管理対象環境を接続するコンポーネント。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Horizontal Discovery（水平ディスカバリ）：IP 範囲を起点にホストやネットワーク機器を検出する方式。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Cloud Discovery（Azure クラウドディスカバリ）：Azure API を通じてクラウドリソース情報を取得する方式。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/ Agent Client Collector（エージェント収集機能）：対象上の Agent が情報を収集して送信する仕組み。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Credential（認証情報）：Discovery が対象へログインするためのアカウントやキーなど。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SSH：Linux へのリモートアクセスで一般的に使用。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WMI：Windows の管理情報取得で一般的に使用。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SNMP：ネットワーク機器の検出で一般的に使用。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WSS：ACC と MID Server 間で使用する暗号化 WebSocket 通信。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6DABE-AC38-4EF1-A41D-1D9C0B0F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41422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利用上の注意：報告資料では英語名 + 日本語表記を使用し、実際の設定画面、アカウント申請、手順書では英語名を基準とします。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616E3-EA27-4947-B238-294043C4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530E0-752B-4C49-9DDB-4436216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ITOM｜用語説明版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E7A33-5F51-43E1-9B6D-3E337453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816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2026-09-03T07:01:31.5580000Z</dcterms:created>
  <dcterms:modified xsi:type="dcterms:W3CDTF">2026-09-03T07:01:31.5580000Z</dcterms:modified>
</coreProperties>
</file>