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1a622298b34372" /><Relationship Type="http://schemas.openxmlformats.org/officeDocument/2006/relationships/extended-properties" Target="/docProps/app.xml" Id="Rca83dd5579dc449e" /><Relationship Type="http://schemas.openxmlformats.org/officeDocument/2006/relationships/officeDocument" Target="/ppt/presentation.xml" Id="R130542d9bd7741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a40ab2440e4faf"/>
  </p:sldMasterIdLst>
  <p:notesMasterIdLst>
    <p:notesMasterId xmlns:r="http://schemas.openxmlformats.org/officeDocument/2006/relationships" r:id="R09119904d32146c8"/>
  </p:notesMasterIdLst>
  <p:sldIdLst>
    <p:sldId xmlns:r="http://schemas.openxmlformats.org/officeDocument/2006/relationships" id="256" r:id="Rd079b4eaaa6441f8"/>
    <p:sldId xmlns:r="http://schemas.openxmlformats.org/officeDocument/2006/relationships" id="257" r:id="Rf39d124ae5ac48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80cbfc8b8047de" /><Relationship Type="http://schemas.openxmlformats.org/officeDocument/2006/relationships/slideMaster" Target="/ppt/slideMasters/slideMaster1.xml" Id="R21a40ab2440e4faf" /><Relationship Type="http://schemas.openxmlformats.org/officeDocument/2006/relationships/notesMaster" Target="/ppt/notesMasters/notesMaster1.xml" Id="R09119904d32146c8" /><Relationship Type="http://schemas.openxmlformats.org/officeDocument/2006/relationships/presProps" Target="/ppt/presProps.xml" Id="Ra9dcc661ee5c40fe" /><Relationship Type="http://schemas.openxmlformats.org/officeDocument/2006/relationships/tableStyles" Target="/ppt/tableStyles.xml" Id="R7f7d3f1f9c4841ea" /><Relationship Type="http://schemas.openxmlformats.org/officeDocument/2006/relationships/slide" Target="/ppt/slides/slide1.xml" Id="Rd079b4eaaa6441f8" /><Relationship Type="http://schemas.openxmlformats.org/officeDocument/2006/relationships/slide" Target="/ppt/slides/slide2.xml" Id="Rf39d124ae5ac48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09e255fd2440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1ea88b8c824ea9" /><Relationship Type="http://schemas.openxmlformats.org/officeDocument/2006/relationships/notesMaster" Target="/ppt/notesMasters/notesMaster1.xml" Id="R8c1b5a04746b49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51dfd14a6646e6" /><Relationship Type="http://schemas.openxmlformats.org/officeDocument/2006/relationships/notesMaster" Target="/ppt/notesMasters/notesMaster1.xml" Id="R38a65e5028574a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本页只表示不依赖 DEV、TEST、PROD 划分的基本组件和通信关系，不代表最终环境设计。</a:t>
            </a:r>
          </a:p>
          <a:p xmlns:a="http://schemas.openxmlformats.org/drawingml/2006/main">
            <a:r>
              <a:t>- Horizontal Discovery 由 MID 主动访问目标；ACC 由 Agent 建立到 MID 的 WebSocket 连接；Azure Cloud Discovery 通过 Azure API 获取云侧资源信息。</a:t>
            </a:r>
          </a:p>
          <a:p xmlns:a="http://schemas.openxmlformats.org/drawingml/2006/main">
            <a:r>
              <a:t>- 环境数量、Subscription、Resource Group、VNet/Subnet、MID 数量以及权限边界需要在后续设计阶段确认。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Microsoft Entra Tenant 是身份目录基础；本页主体的四层是 Azure Resource Manager 官方定义的管理作用域。</a:t>
            </a:r>
          </a:p>
          <a:p xmlns:a="http://schemas.openxmlformats.org/drawingml/2006/main">
            <a:r>
              <a:t>- Management Group 用于跨 Subscription 的治理；Subscription 是资源使用、计费、配额和访问控制的重要边界。</a:t>
            </a:r>
          </a:p>
          <a:p xmlns:a="http://schemas.openxmlformats.org/drawingml/2006/main">
            <a:r>
              <a:t>- Resource Group 管理生命周期相近的相关资源；Resource 是 VM、VNet、Disk、NIC 等实际对象。</a:t>
            </a:r>
          </a:p>
          <a:p xmlns:a="http://schemas.openxmlformats.org/drawingml/2006/main">
            <a:r>
              <a:t>- Resource Manager 接收 Portal、CLI、PowerShell、REST 或 SDK 请求，完成身份验证和授权，再把请求转发给对应 Azure 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https://learn.microsoft.com/en-us/azure/azure-resource-manager/management/media/overview/scope-levels.png</a:t>
            </a:r>
          </a:p>
          <a:p xmlns:a="http://schemas.openxmlformats.org/drawingml/2006/main">
            <a:r>
              <a:t>- https://learn.microsoft.com/en-us/azure/azure-resource-manager/management/media/overview/consistent-management-layer.png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cdebb903d4d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13f07abb194cc7" /><Relationship Type="http://schemas.openxmlformats.org/officeDocument/2006/relationships/slideLayout" Target="/ppt/slideLayouts/slideLayout1.xml" Id="R67d4da2e067e45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d4da2e067e45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1f5d76cb34e6e" /><Relationship Type="http://schemas.openxmlformats.org/officeDocument/2006/relationships/notesSlide" Target="/ppt/notesSlides/notesSlide1.xml" Id="R6ddca18b4f4a48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ce9262e984a65" /><Relationship Type="http://schemas.openxmlformats.org/officeDocument/2006/relationships/image" Target="/ppt/media/image.png" Id="R022a285647984f90" /><Relationship Type="http://schemas.openxmlformats.org/officeDocument/2006/relationships/notesSlide" Target="/ppt/notesSlides/notesSlide2.xml" Id="R2cb839d76eb843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6B4FA5-12BF-4866-B5A7-FAF26EA0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01｜构成图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E705A-3096-4DF6-9908-5DFF6D3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PC2.0 Azure / ServiceNow ITOM 基本构成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FFA86-B269-4B5D-88D3-CFF809CC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本页只说明组件与通信关系；环境数量、Subscription、Resource Group 和 VNet/Subnet 划分尚未确定。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E5E23-9B9F-4535-867F-84AABD0C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51493-02AF-48B6-80E1-A4CA00E8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19300" cy="33147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CFE72-7DEF-4D60-81FD-DE53BD2B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676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24C"/>
          </a:solidFill>
          <a:ln xmlns:a="http://schemas.openxmlformats.org/drawingml/2006/main" w="9525">
            <a:solidFill>
              <a:srgbClr val="17324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87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实例对应关系另行确认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46883-F525-4291-8FDF-8210EC9D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EDFA"/>
          </a:solidFill>
          <a:ln xmlns:a="http://schemas.openxmlformats.org/drawingml/2006/main" w="9525">
            <a:solidFill>
              <a:srgbClr val="D9EDF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Horizontal Discovery</a:t>
            </a:r>
          </a:p>
          <a:p xmlns:a="http://schemas.openxmlformats.org/drawingml/2006/main">
            <a:pPr algn="ctr">
              <a:def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MID 主动访问目标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7C61A-FCC7-488E-BFC9-7D1DA9B6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5F2DE"/>
          </a:solidFill>
          <a:ln xmlns:a="http://schemas.openxmlformats.org/drawingml/2006/main" w="9525">
            <a:solidFill>
              <a:srgbClr val="E5F2D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Agent Client Collector</a:t>
            </a:r>
          </a:p>
          <a:p xmlns:a="http://schemas.openxmlformats.org/drawingml/2006/main">
            <a:pPr algn="ctr">
              <a:defRPr sz="90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Agent 经 MID 回传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04102-4E67-40B5-981A-79D6367D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9C8"/>
          </a:solidFill>
          <a:ln xmlns:a="http://schemas.openxmlformats.org/drawingml/2006/main" w="9525">
            <a:solidFill>
              <a:srgbClr val="FDE9C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Azure Cloud Discovery</a:t>
            </a:r>
          </a:p>
          <a:p xmlns:a="http://schemas.openxmlformats.org/drawingml/2006/main">
            <a:pPr algn="ctr">
              <a:defRPr sz="825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通过 Azure API 取得云资源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AA8B3-0B63-4D8F-B717-C1102BC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76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2FE3E-2CC8-4BA7-A795-E6CF2364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7239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114300" tIns="9525" rIns="19050" bIns="95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FC154-5F94-4B74-842B-2E417AA6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00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Cloud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5F7F1-BEFF-47FC-998F-E94C9A87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4010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876C2-6334-4D2B-8E87-EB458544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Microsoft Entra Tenant</a:t>
            </a:r>
          </a:p>
          <a:p xmlns:a="http://schemas.openxmlformats.org/drawingml/2006/main">
            <a:pPr algn="ctr">
              <a:defRPr sz="105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Subscription：范围待确认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16A49-46B4-42EB-8CEC-211F2A99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3276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共同控制：RBAC ｜ Tag ｜ Policy ｜ Monitor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B8064-B3DA-4ABF-8DFF-340F2E86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Resource Manager API</a:t>
            </a:r>
          </a:p>
          <a:p xmlns:a="http://schemas.openxmlformats.org/drawingml/2006/main">
            <a:pPr algn="ctr">
              <a:defRPr sz="8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Cloud Discovery：VM / VNet / Subnet / NIC / Disk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0532F-1925-4BB1-B70B-126ACFFB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9248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B41F6-C0F4-4ABD-B193-E9E81354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543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Azure 管理与网络范围（数量、命名和边界待确认）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757B9-F04E-4609-81DB-21516FC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2724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 Server</a:t>
            </a:r>
          </a:p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执行 Horizontal Discovery</a:t>
            </a:r>
          </a:p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接收 ACC 数据并转发至 ServiceNow</a:t>
            </a:r>
          </a:p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数量与配置：待确认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14827-C978-435F-B5E7-4E36D23B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194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被管理目标</a:t>
            </a:r>
          </a:p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Windows / Linux / Network Device</a:t>
            </a:r>
          </a:p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ACC Agent（适用目标）</a:t>
            </a:r>
          </a:p>
          <a:p xmlns:a="http://schemas.openxmlformats.org/drawingml/2006/main">
            <a:pPr algn="ctr">
              <a:def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具体资源清单：待确认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7790D0-7B47-4AF9-8D17-CAABC927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57575"/>
            <a:ext cx="1181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38100" tIns="9525" rIns="1333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SSH / WMI / SNMP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EF153-28B3-4D16-8EB7-8FEFDBBA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14800"/>
            <a:ext cx="11811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13335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ADBA42-A4B2-4D25-89EF-DAEE4D14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7296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可选共通组件：Palo Alto / NSG / Route Table / Bastion / Log 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84362-43CD-4629-B05B-F6A9F0C5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34050"/>
            <a:ext cx="840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后续设计确认事项：环境数量｜Subscription / Resource Group / VNet / Subnet 划分｜MID 数量｜权限与 Credential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7310A-FE92-45D8-ABBD-77C69DE9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59FC0-E5CC-4D82-9E8C-6D8237EC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ITOM｜精简版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5BDDD8-6C07-4F1A-A13B-8F0F0541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724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F3202-280C-4A90-85BD-08A92A40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02｜Azure 管理层级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55E7A-B919-4E07-96DC-6F438FE0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每个层级是什么、包含什么、管理什么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F8473-7875-407F-97D7-0A2BEDC3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Microsoft 官方定义四个管理作用域；越往下越具体，下层会继承上层设置的 RBAC 与 Policy。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BDD5A-A810-4B3A-B442-4918DE74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2BD25-BE1B-463F-8CA3-34206739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  <p:txBody>
          <a:bodyPr xmlns:a="http://schemas.openxmlformats.org/drawingml/2006/main" wrap="square" lIns="171450" tIns="57150" rIns="1714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身份基础｜Microsoft Entra Tenant：包含用户、组、Service Principal；同一 Management Group 下的 Subscription 必须信任同一 Tenant。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8E321-2994-404C-BE37-DFA92BE2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7277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1  Management Group｜多订阅治理层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定义：位于 Subscription 之上的治理作用域，用于统一管理多个订阅。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包含：子 Management Group、Subscription　管理：RBAC / Policy / Compliance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PC2.0：是否设置自定义 Management Group 待确认。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117F4-24C0-4FCF-8146-96304C0D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7277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2  Subscription｜计费、配额与权限边界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定义：Azure 资源使用、费用、配额与访问控制的重要边界。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包含：Resource Group、订阅级资源与设置　PC2.0：Subscription 数量与范围待确认。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D5D71-F6B1-4036-B0DD-D70E3E80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7277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3  Resource Group｜生命周期管理容器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定义：把同一解决方案、同一生命周期的相关资源作为一组管理；每个资源只能属于一个 RG。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包含：VM、VNet、Disk、NIC、NSG 等　PC2.0：Resource Group 数量与命名待确认。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B13A2-4298-413B-A4EA-9A0CBFBC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77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4  Resource｜实际创建和运行的对象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定义：Azure 中可以创建、更新、删除和监控的具体可管理对象。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计算：VM / Disk　网络：VNet / Subnet / NIC / NSG / Route Table / Public IP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运维：Key Vault / Log Analytics / Bastion。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385D4-6540-40D8-9AE8-18DE0B2F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Microsoft 官方层级图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FA88D-AD1A-4141-AF41-482ED7FD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a285647984f90"/>
          <a:stretch xmlns:a="http://schemas.openxmlformats.org/drawingml/2006/main"/>
        </p:blipFill>
        <p:spPr>
          <a:xfrm xmlns:a="http://schemas.openxmlformats.org/drawingml/2006/main">
            <a:off x="8192861" y="2324100"/>
            <a:ext cx="3083379" cy="1962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B469B-E6C1-47D6-9D22-F2EC82D9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Resource Manager 的位置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5FF19-CBE1-48D1-8597-CE9DF6B5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1466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Portal / CLI /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1CA2B-263F-4438-8B53-417E555F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958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E79B5-C0FF-4B2B-A45E-B79859C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5297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>
            <a:normAutofit fontScale="96579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Azure Resource Manager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认证・授权・统一管理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FF284-A5F3-4FAF-87C3-B5EA3555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248275"/>
            <a:ext cx="2476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7F8D"/>
          </a:solidFill>
          <a:ln xmlns:a="http://schemas.openxmlformats.org/drawingml/2006/main" w="9525">
            <a:solidFill>
              <a:srgbClr val="6F7F8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F92FB-B274-47E4-B48C-6F2E85EF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864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Resource Provider → 实际资源</a:t>
            </a:r>
          </a:p>
          <a:p xmlns:a="http://schemas.openxmlformats.org/drawingml/2006/main">
            <a:pPr algn="ctr">
              <a:def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Compute：VM｜Network：VNet / NIC｜Storage：Disk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B0132-6CF6-4EC4-9832-2047E2A5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7277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6398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继承方向：Management Group → Subscription → Resource Group → Resource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8BDA0-07CF-48EF-8D79-13820B72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76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资料：Microsoft Learn｜Resource Manager overview / Management Groups overview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D7C1F-EA25-4437-BF2A-B22205F4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BDC95-96E6-430B-AF35-63A4898D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ITOM｜精简版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0317B-1937-4EEF-8F24-70921F1F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2842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2026-09-03T05:02:06.8650000Z</dcterms:created>
  <dcterms:modified xsi:type="dcterms:W3CDTF">2026-09-03T05:02:06.8650000Z</dcterms:modified>
</coreProperties>
</file>