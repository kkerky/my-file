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798f5d9acc4dc4" /><Relationship Type="http://schemas.openxmlformats.org/officeDocument/2006/relationships/extended-properties" Target="/docProps/app.xml" Id="R2b226963c2cb428e" /><Relationship Type="http://schemas.openxmlformats.org/officeDocument/2006/relationships/officeDocument" Target="/ppt/presentation.xml" Id="Rf32d6d7392d149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22816376094b0b"/>
  </p:sldMasterIdLst>
  <p:notesMasterIdLst>
    <p:notesMasterId xmlns:r="http://schemas.openxmlformats.org/officeDocument/2006/relationships" r:id="Rba032573acd841be"/>
  </p:notesMasterIdLst>
  <p:sldIdLst>
    <p:sldId xmlns:r="http://schemas.openxmlformats.org/officeDocument/2006/relationships" id="256" r:id="R26ceb3bf1df44a3e"/>
    <p:sldId xmlns:r="http://schemas.openxmlformats.org/officeDocument/2006/relationships" id="257" r:id="R084d70c817c04198"/>
    <p:sldId xmlns:r="http://schemas.openxmlformats.org/officeDocument/2006/relationships" id="258" r:id="Re600f47b411f45b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a55b55a0ee400b" /><Relationship Type="http://schemas.openxmlformats.org/officeDocument/2006/relationships/slideMaster" Target="/ppt/slideMasters/slideMaster1.xml" Id="Rc722816376094b0b" /><Relationship Type="http://schemas.openxmlformats.org/officeDocument/2006/relationships/notesMaster" Target="/ppt/notesMasters/notesMaster1.xml" Id="Rba032573acd841be" /><Relationship Type="http://schemas.openxmlformats.org/officeDocument/2006/relationships/presProps" Target="/ppt/presProps.xml" Id="R8b2591b4c46d4eda" /><Relationship Type="http://schemas.openxmlformats.org/officeDocument/2006/relationships/tableStyles" Target="/ppt/tableStyles.xml" Id="Rcf2a8f74dbdc44da" /><Relationship Type="http://schemas.openxmlformats.org/officeDocument/2006/relationships/slide" Target="/ppt/slides/slide1.xml" Id="R26ceb3bf1df44a3e" /><Relationship Type="http://schemas.openxmlformats.org/officeDocument/2006/relationships/slide" Target="/ppt/slides/slide2.xml" Id="R084d70c817c04198" /><Relationship Type="http://schemas.openxmlformats.org/officeDocument/2006/relationships/slide" Target="/ppt/slides/slide3.xml" Id="Re600f47b411f45b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828931a5ec4c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ffcd99b7ddc48bd" /><Relationship Type="http://schemas.openxmlformats.org/officeDocument/2006/relationships/notesMaster" Target="/ppt/notesMasters/notesMaster1.xml" Id="Rfaae8aebe72744d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467b452aec5469e" /><Relationship Type="http://schemas.openxmlformats.org/officeDocument/2006/relationships/notesMaster" Target="/ppt/notesMasters/notesMaster1.xml" Id="R6c0dbc3251c140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4a86b6e9ea47dc" /><Relationship Type="http://schemas.openxmlformats.org/officeDocument/2006/relationships/notesMaster" Target="/ppt/notesMasters/notesMaster1.xml" Id="R8d4559d5bb18427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本页只表示不依赖 DEV、TEST、PROD 划分的基本组件和通信关系，不代表最终环境设计。</a:t>
            </a:r>
          </a:p>
          <a:p xmlns:a="http://schemas.openxmlformats.org/drawingml/2006/main">
            <a:r>
              <a:t>- Horizontal Discovery 由 MID 主动访问目标；ACC 由 Agent 建立到 MID 的 WebSocket 连接；Azure Cloud Discovery 通过 Azure API 获取云侧资源信息。</a:t>
            </a:r>
          </a:p>
          <a:p xmlns:a="http://schemas.openxmlformats.org/drawingml/2006/main">
            <a:r>
              <a:t>- 环境数量、Subscription、Resource Group、VNet/Subnet、MID 数量以及权限边界需要在后续设计阶段确认。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Microsoft Entra Tenant 是身份目录基础；本页主体的四层是 Azure Resource Manager 官方定义的管理作用域。</a:t>
            </a:r>
          </a:p>
          <a:p xmlns:a="http://schemas.openxmlformats.org/drawingml/2006/main">
            <a:r>
              <a:t>- Management Group 用于跨 Subscription 的治理；Subscription 是资源使用、计费、配额和访问控制的重要边界。</a:t>
            </a:r>
          </a:p>
          <a:p xmlns:a="http://schemas.openxmlformats.org/drawingml/2006/main">
            <a:r>
              <a:t>- Resource Group 管理生命周期相近的相关资源；Resource 是 VM、VNet、Disk、NIC 等实际对象。</a:t>
            </a:r>
          </a:p>
          <a:p xmlns:a="http://schemas.openxmlformats.org/drawingml/2006/main">
            <a:r>
              <a:t>- 阅读层级图时，可理解为上层负责统一治理和权限边界，下层逐步落到 Resource Group 以及实际 Azure Resource。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https://learn.microsoft.com/en-us/azure/governance/management-groups/overview</a:t>
            </a:r>
          </a:p>
          <a:p xmlns:a="http://schemas.openxmlformats.org/drawingml/2006/main">
            <a:r>
              <a:t>- https://learn.microsoft.com/en-us/azure/azure-resource-manager/management/media/overview/scope-levels.png</a:t>
            </a:r>
          </a:p>
          <a:p xmlns:a="http://schemas.openxmlformats.org/drawingml/2006/main">
            <a:r>
              <a:t>- https://learn.microsoft.com/en-us/azure/azure-resource-manager/management/media/overview/consistent-management-layer.png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[Presenter Notes]</a:t>
            </a:r>
          </a:p>
          <a:p xmlns:a="http://schemas.openxmlformats.org/drawingml/2006/main">
            <a:r>
              <a:t>- 本页是术语速查，不用于替代各产品的完整定义或设计文档。</a:t>
            </a:r>
          </a:p>
          <a:p xmlns:a="http://schemas.openxmlformats.org/drawingml/2006/main">
            <a:r>
              <a:t>- Azure 专有名词优先保留 Microsoft 官方英文名称，并用括号给出便于汇报的中文含义。</a:t>
            </a:r>
          </a:p>
          <a:p xmlns:a="http://schemas.openxmlformats.org/drawingml/2006/main">
            <a:r>
              <a:t>- ServiceNow 和通信协议术语单独列出，避免被误认为 Azure 原生资源。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https://learn.microsoft.com/en-us/azure/azure-resource-manager/management/overview</a:t>
            </a:r>
          </a:p>
          <a:p xmlns:a="http://schemas.openxmlformats.org/drawingml/2006/main">
            <a:r>
              <a:t>- https://learn.microsoft.com/en-us/azure/governance/management-groups/overview</a:t>
            </a:r>
          </a:p>
          <a:p xmlns:a="http://schemas.openxmlformats.org/drawingml/2006/main">
            <a:r>
              <a:t>- https://learn.microsoft.com/en-us/azure/role-based-access-control/overview</a:t>
            </a:r>
          </a:p>
          <a:p xmlns:a="http://schemas.openxmlformats.org/drawingml/2006/main">
            <a:r>
              <a:t>- https://learn.microsoft.com/en-us/azure/governance/policy/overview</a:t>
            </a:r>
          </a:p>
          <a:p xmlns:a="http://schemas.openxmlformats.org/drawingml/2006/main">
            <a:r>
              <a:t>- https://learn.microsoft.com/en-us/azure/networking/design-guide/vnets-subnets</a:t>
            </a:r>
          </a:p>
          <a:p xmlns:a="http://schemas.openxmlformats.org/drawingml/2006/main">
            <a:r>
              <a:t>- https://learn.microsoft.com/en-us/azure/azure-monitor/fundamentals/overview</a:t>
            </a:r>
          </a:p>
          <a:p xmlns:a="http://schemas.openxmlformats.org/drawingml/2006/main">
            <a:r>
              <a:t>- https://learn.microsoft.com/en-us/azure/bastion/bastion-overview</a:t>
            </a:r>
          </a:p>
          <a:p xmlns:a="http://schemas.openxmlformats.org/drawingml/2006/main">
            <a:r>
              <a:t>- https://www.servicenow.com/docs/r/it-operations-management/discovery/t_CreateADiscoverySchedule.html</a:t>
            </a:r>
          </a:p>
          <a:p xmlns:a="http://schemas.openxmlformats.org/drawingml/2006/main">
            <a:r>
              <a:t>- https://www.servicenow.com/docs/r/it-operations-management/agent-client-collector/acc-server-deployment.html</a:t>
            </a:r>
          </a:p>
          <a:p xmlns:a="http://schemas.openxmlformats.org/drawingml/2006/main">
            <a:r>
              <a:t>- https://www.servicenow.com/docs/r/it-operations-management/discovery/azure-cloud-discovery.html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c4fa9e25543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152105a3774387" /><Relationship Type="http://schemas.openxmlformats.org/officeDocument/2006/relationships/slideLayout" Target="/ppt/slideLayouts/slideLayout1.xml" Id="Rb765d5570b4841d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765d5570b4841d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7f4cafb4942ac" /><Relationship Type="http://schemas.openxmlformats.org/officeDocument/2006/relationships/notesSlide" Target="/ppt/notesSlides/notesSlide1.xml" Id="Rb66b84a0fe8647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52cdf8b26b47db" /><Relationship Type="http://schemas.openxmlformats.org/officeDocument/2006/relationships/image" Target="/ppt/media/image.png" Id="Rd4bed066ec95418c" /><Relationship Type="http://schemas.openxmlformats.org/officeDocument/2006/relationships/notesSlide" Target="/ppt/notesSlides/notesSlide2.xml" Id="Rc4fd0669ac6048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a5629b78d04a11" /><Relationship Type="http://schemas.openxmlformats.org/officeDocument/2006/relationships/notesSlide" Target="/ppt/notesSlides/notesSlide3.xml" Id="Ra614c69261e44fc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FA2853-8A72-4224-817F-5CDF1719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rPr>
              <a:t>01｜构成图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B34BE6-EA65-42E9-A3F9-2581B04F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PC2.0 Azure / ServiceNow ITOM（IT 运维管理）基本构成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2561DD-4DA0-4ADA-8E94-DA5D8B8B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本页只说明组件与通信关系；环境数量、Subscription（订阅）、Resource Group（资源组）和 VNet/Subnet（虚拟网络/子网）划分尚未确定。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A71007-9604-430E-8FEB-5B6D4139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3C040C-967B-4992-979B-1496D6089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09750"/>
            <a:ext cx="2019300" cy="3314700"/>
          </a:xfrm>
          <a:prstGeom xmlns:a="http://schemas.openxmlformats.org/drawingml/2006/main" prst="roundRect">
            <a:avLst>
              <a:gd name="adj" fmla="val 566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9525">
            <a:solidFill>
              <a:srgbClr val="1732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5CF44E-63A6-4D74-908C-C4BC3C77F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6764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9445D"/>
          </a:solidFill>
          <a:ln xmlns:a="http://schemas.openxmlformats.org/drawingml/2006/main" w="9525">
            <a:solidFill>
              <a:srgbClr val="29445D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8875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ServiceNow ITOM</a:t>
            </a:r>
          </a:p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实例对应关系另行确认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C0739-960C-4E7C-9B01-85D3657C0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EEF4F8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Horizontal Discovery（水平发现）</a:t>
            </a:r>
          </a:p>
          <a:p xmlns:a="http://schemas.openxmlformats.org/drawingml/2006/main">
            <a:pPr algn="ctr">
              <a:def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MID Server 主动访问目标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952F6A-576C-4E3F-A156-9020C7B72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6764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F1F4F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rPr>
              <a:t>Agent Client Collector（代理客户端收集器）</a:t>
            </a:r>
          </a:p>
          <a:p xmlns:a="http://schemas.openxmlformats.org/drawingml/2006/main">
            <a:pPr algn="ctr">
              <a:def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F7890"/>
                </a:solidFill>
                <a:latin typeface="Microsoft YaHei"/>
                <a:ea typeface="Microsoft YaHei"/>
                <a:cs typeface="Microsoft YaHei"/>
              </a:rPr>
              <a:t>ACC Agent 经 MID Server 回传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254191-6E74-4759-8230-89A295AD8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16764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F4F5F6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rPr>
              <a:t>Azure Cloud Discovery（Azure 云发现）</a:t>
            </a:r>
          </a:p>
          <a:p xmlns:a="http://schemas.openxmlformats.org/drawingml/2006/main">
            <a:pPr algn="ctr">
              <a:def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B8792"/>
                </a:solidFill>
                <a:latin typeface="Microsoft YaHei"/>
                <a:ea typeface="Microsoft YaHei"/>
                <a:cs typeface="Microsoft YaHei"/>
              </a:rPr>
              <a:t>通过 Azure API 取得云资源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D87DB9-C4A4-4177-B7EC-B828CA952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76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8E82B3-28A0-4A1C-AAB6-2DCE2C79A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38550"/>
            <a:ext cx="723900" cy="22860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F7890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txBody>
          <a:bodyPr xmlns:a="http://schemas.openxmlformats.org/drawingml/2006/main" wrap="square" lIns="114300" tIns="9525" rIns="19050" bIns="9525" anchor="ctr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332E87-1A52-4C8D-AC0E-22200A75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400550"/>
            <a:ext cx="72390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B8792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txBody>
          <a:bodyPr xmlns:a="http://schemas.openxmlformats.org/drawingml/2006/main" wrap="square" lIns="19050" tIns="9525" rIns="1143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Cloud API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316107-8464-4130-9B4E-5EC6167D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543050"/>
            <a:ext cx="8401050" cy="4019550"/>
          </a:xfrm>
          <a:prstGeom xmlns:a="http://schemas.openxmlformats.org/drawingml/2006/main" prst="roundRect">
            <a:avLst>
              <a:gd name="adj" fmla="val 2844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62F1B9-8028-4445-8621-FC28DE1D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57350"/>
            <a:ext cx="23241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Microsoft Entra Tenant（身份租户）</a:t>
            </a:r>
          </a:p>
          <a:p xmlns:a="http://schemas.openxmlformats.org/drawingml/2006/main">
            <a:pPr algn="ctr">
              <a:def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Subscription（订阅）：范围待确认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0B9837-5C0A-4609-B70C-D8CC486AF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847850"/>
            <a:ext cx="327660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97141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Azure RBAC（角色权限）｜Tag（标签）｜Azure Policy（策略）｜Azure Monitor（监控）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284214-0B71-467A-BBF8-53BF186BE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90700"/>
            <a:ext cx="20193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Resource Manager API（资源管理接口）</a:t>
            </a:r>
          </a:p>
          <a:p xmlns:a="http://schemas.openxmlformats.org/drawingml/2006/main">
            <a:pPr algn="ctr">
              <a:def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Cloud Discovery：VM / VNet / Subnet / NIC / Disk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D732B9-2285-4CA1-9C38-88BD4E267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86050"/>
            <a:ext cx="7924800" cy="253365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7D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C8E4BF-19BA-464F-A2E7-184DC9EE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819400"/>
            <a:ext cx="75438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Azure 管理与网络范围（数量、命名和边界待确认）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63085C-0BEF-4A22-B7CD-DA7752B2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219450"/>
            <a:ext cx="27241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MID Server（中间服务器）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执行 Horizontal Discovery（水平发现）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接收 ACC 数据并转发至 ServiceNow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数量与配置：待确认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4DD2B-0E68-4585-9753-23042431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219450"/>
            <a:ext cx="323850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被管理目标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Windows / Linux / Network Device（网络设备）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ACC Agent（ACC 代理，适用目标）</a:t>
            </a:r>
          </a:p>
          <a:p xmlns:a="http://schemas.openxmlformats.org/drawingml/2006/main">
            <a:pPr algn="ctr">
              <a:def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具体资源清单：待确认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3B7E7A-7349-463C-ABFD-9CE79AC0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457575"/>
            <a:ext cx="118110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2F6B9A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38100" tIns="9525" rIns="13335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SSH / WMI / SNMP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A996583-AC69-4A1F-9A7E-2EEE46B2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114800"/>
            <a:ext cx="1181100" cy="285750"/>
          </a:xfrm>
          <a:prstGeom xmlns:a="http://schemas.openxmlformats.org/drawingml/2006/main" prst="leftArrow">
            <a:avLst/>
          </a:prstGeom>
          <a:solidFill xmlns:a="http://schemas.openxmlformats.org/drawingml/2006/main">
            <a:srgbClr val="5F7890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txBody>
          <a:bodyPr xmlns:a="http://schemas.openxmlformats.org/drawingml/2006/main" wrap="square" lIns="13335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ACC / WSS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D8CA62-4931-477A-B97D-35010EBB2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762500"/>
            <a:ext cx="72961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可选共通组件：Palo Alto（防火墙）/ NSG（网络安全组）/ Route Table（路由表）/ Azure Bastion（安全登录）/ Log Analytics（日志分析）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8B18E6-6F6F-484C-8CA7-3A209174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734050"/>
            <a:ext cx="84010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后续确认：环境数量｜Subscription（订阅）/ Resource Group（资源组）/ VNet（虚拟网络）/ Subnet（子网）划分｜MID 数量｜权限与 Credential（认证信息）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CA6D9A-1C45-4F3A-B37E-20244C73D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E4CC59-19E6-409A-B7C2-1F0DBBBC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PC2.0 Azure × ServiceNow ITOM｜术语说明版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5A6A8F-B94C-43A9-88F5-3B34B7FC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1015145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F6CDE4A-AC5A-44CA-A22F-94A24AD73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rPr>
              <a:t>02｜Azure 管理层级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15669-6A7B-45FF-880F-FFEEDFFE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每个层级是什么、包含什么、管理什么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64EF0B-0467-4128-AF19-4D94BBE1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Microsoft 官方定义四个 Management Scope（管理作用域）；下层会继承上层设置的 Azure RBAC（角色访问控制）与 Azure Policy（策略）。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0380EA-1C29-4530-A4D6-FC9BC59B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F62DBD-88D4-4EFC-9535-6C5EECF1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11633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4A6075"/>
            </a:solidFill>
            <a:prstDash val="solid"/>
          </a:ln>
        </p:spPr>
        <p:txBody>
          <a:bodyPr xmlns:a="http://schemas.openxmlformats.org/drawingml/2006/main" wrap="square" lIns="171450" tIns="57150" rIns="17145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Microsoft Entra Tenant（身份租户）：统一管理 Azure 的 User（用户）、Group（用户组）和 Service Principal（应用身份）。同一 Management Group（管理组）内的 Subscription（订阅）必须属于同一个 Tenant（租户）。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0BAE6E-8665-4530-8CA0-3D108715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72771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4A60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1  Management Group（管理组）｜多 Subscription（订阅）治理层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定义：位于 Subscription 之上的 Management Scope（管理作用域），用于统一管理多个 Subscription。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包含：子 Management Group、Subscription　管理：Azure RBAC / Azure Policy / Compliance（合规性）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PC2.0：是否设置自定义 Management Group 待确认。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2477F9-C51E-4455-AC0D-19F388493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72771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2  Subscription（订阅）｜计费、Quota（配额）与权限边界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定义：Azure 资源使用、费用、配额与访问控制的重要范围。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包含：Resource Group（资源组）、Subscription 级资源与设置　PC2.0：数量与范围待确认。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EAB7BE-4084-4434-ABF4-8258EFF7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72771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3  Resource Group（资源组）｜Lifecycle（生命周期）管理容器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定义：把同一解决方案、同一生命周期的相关 Resource（资源）作为一组管理；每个 Resource 只能属于一个 Resource Group。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包含：VM、VNet、Disk、NIC、NSG 等　PC2.0：数量与命名待确认。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2DA14F-25C8-4A3B-A9DC-013EE69A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53000"/>
            <a:ext cx="727710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76200" rIns="15240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4  Resource（资源）｜实际创建和运行的对象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定义：Azure 中可以创建、更新、删除和监控的具体可管理对象。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计算：VM（虚拟机）/ Disk（磁盘）　网络：VNet（虚拟网络）/ Subnet（子网）/ NIC（网卡）/ NSG（网络安全组）/ Route Table（路由表）/ Public IP（公网 IP）</a:t>
            </a:r>
          </a:p>
          <a:p xmlns:a="http://schemas.openxmlformats.org/drawingml/2006/main">
            <a:pPr algn="l">
              <a:def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运维：Key Vault（密钥保管库）/ Log Analytics（日志分析）/ Azure Bastion（安全登录服务）。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FCE2F-9AF5-44B6-9CAF-9DBEFE08A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19621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Microsoft 官方层级图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33B05A-0FF3-4DD3-BE75-6C8F1A93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28850"/>
            <a:ext cx="3429000" cy="21717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bed066ec95418c"/>
          <a:stretch xmlns:a="http://schemas.openxmlformats.org/drawingml/2006/main"/>
        </p:blipFill>
        <p:spPr>
          <a:xfrm xmlns:a="http://schemas.openxmlformats.org/drawingml/2006/main">
            <a:off x="8192861" y="2324100"/>
            <a:ext cx="3083379" cy="1962150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CA3493-217B-45AC-B6DF-680E48C1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148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Azure 管理层级的阅读方法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E61D8-EEC7-4751-98BB-4DBB8867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810125"/>
            <a:ext cx="3429000" cy="1190625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txBody>
          <a:bodyPr xmlns:a="http://schemas.openxmlformats.org/drawingml/2006/main" wrap="square" lIns="171450" tIns="76200" rIns="171450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Management Group → Subscription → Resource Group → Resource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上层：统一设置治理规则和权限边界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下层：承载实际创建和运行的 Azure 资源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RBAC / Azure Policy 可在相应层级设置，并向下继承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E2507E-876F-44A5-9F8F-BD3D0E9E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72771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EEF4F8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6979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244E70"/>
                </a:solidFill>
                <a:latin typeface="Microsoft YaHei"/>
                <a:ea typeface="Microsoft YaHei"/>
                <a:cs typeface="Microsoft YaHei"/>
              </a:rPr>
              <a:t>继承方向：Management Group（管理组）→ Subscription（订阅）→ Resource Group（资源组）→ Resource（资源）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661E85-229C-434B-9198-83646F25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6076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资料：Microsoft Learn｜Resource Manager overview / Management Groups overview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5F329-CC6A-4D34-8892-B23EC252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6767E7-FA06-4B3D-87DC-30037361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PC2.0 Azure × ServiceNow ITOM｜术语说明版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CF4B50-FE2D-435C-A9BB-CCFADDB9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97612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B19682-A8D4-419A-87C8-FE6F5F7F6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67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2F6B9A"/>
                </a:solidFill>
                <a:latin typeface="Microsoft YaHei"/>
                <a:ea typeface="Microsoft YaHei"/>
                <a:cs typeface="Microsoft YaHei"/>
              </a:rPr>
              <a:t>03｜术语参考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E9749F-D54A-4CFE-A8A0-8007FE30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"/>
            <a:ext cx="11125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7324D"/>
                </a:solidFill>
                <a:latin typeface="Microsoft YaHei"/>
                <a:ea typeface="Microsoft YaHei"/>
                <a:cs typeface="Microsoft YaHei"/>
              </a:rPr>
              <a:t>Azure / ServiceNow 专有名词速查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A54B0-6EC7-4823-AEBE-B5DA55FF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81075"/>
            <a:ext cx="1112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统一写法：English official name（中文含义）。以下解释以普通人能够理解为优先。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3595E-E604-40FF-BF06-264B80845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3350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F342C-7B04-46BB-B7F6-A230A9E3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5295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EFF2F5"/>
          </a:solidFill>
          <a:ln xmlns:a="http://schemas.openxmlformats.org/drawingml/2006/main" w="9525">
            <a:solidFill>
              <a:srgbClr val="4A607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IDENTITY &amp; SCOPE｜身份与管理层级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Microsoft Entra Tenant（身份租户）：Azure 的身份目录与管理边界。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User / Group（用户 / 用户组）：人员账号及账号集合。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Service Principal（应用身份）：供程序或外部系统访问 Azure 的非人工账号。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Management Group（管理组）：在 Subscription 上层统一管理权限和策略。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Subscription（订阅）：计费、配额、权限和资源管理的重要范围。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 Group（资源组）：管理生命周期相近的一组 Resource。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Resource（资源）：Azure 中实际创建和管理的对象。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1C8045-C0B7-483D-B0D4-2C8E75B9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5295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2F6B9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GOVERNANCE &amp; OPERATIONS｜治理与运维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Resource Manager（资源管理器）：统一接收和处理 Azure 资源管理请求。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Resource Provider（资源提供程序）：提供某类 Azure Resource 的服务。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RBAC（角色访问控制）：决定谁能在什么范围做什么。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Policy（策略）：检查或限制资源是否符合组织规则。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Tag（标签）：给资源添加分类信息，方便检索和费用整理。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Monitor（监控）：收集并分析 Azure 的监控数据。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Log Analytics Workspace（日志分析工作区）：集中保存和查询日志。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Key Vault（密钥保管库）：安全保存密码、密钥和证书。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FB20FE-65B8-4BA7-806D-4A29CE9C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581150"/>
            <a:ext cx="5295900" cy="2076450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1F4F6"/>
          </a:solidFill>
          <a:ln xmlns:a="http://schemas.openxmlformats.org/drawingml/2006/main" w="9525">
            <a:solidFill>
              <a:srgbClr val="5F78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NETWORK &amp; COMPUTE｜网络与计算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VNet / Virtual Network（虚拟网络）：Azure 中隔离的私有网络范围。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Subnet（子网）：在 VNet 内进一步划分的地址范围。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NIC / Network Interface（网卡）：把 VM 连接到 Subnet。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NSG / Network Security Group（网络安全组）：按规则允许或拒绝网络流量。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Route Table（路由表）：规定网络流量下一步从哪里走。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Public IP（公网 IP）：可从互联网访问的地址。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VM / Virtual Machine（虚拟机）：运行 Windows 或 Linux 的云服务器。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Managed Disk（托管磁盘）：供 VM 使用的 Azure 磁盘。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Bastion（安全登录服务）：通过 Portal 安全连接 VM。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B91E3B-47D2-4A1A-AE48-FEA89F1B9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29050"/>
            <a:ext cx="52959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4F5F6"/>
          </a:solidFill>
          <a:ln xmlns:a="http://schemas.openxmlformats.org/drawingml/2006/main" w="9525">
            <a:solidFill>
              <a:srgbClr val="7B879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71450" tIns="133350" rIns="152400" bIns="11430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SERVICENOW &amp; PROTOCOLS｜ServiceNow 与通信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MID Server（中间服务器）：连接 ServiceNow 与被管理环境。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Horizontal Discovery（水平发现）：从 IP 范围发现主机和设备。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Azure Cloud Discovery（Azure 云发现）：通过 Azure API 获取云资源信息。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ACC / Agent Client Collector（代理客户端收集器）：由目标上的 Agent 收集并回传数据。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Credential（认证信息）：Discovery 登录目标所需的账号、密钥等。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SSH：常用于远程访问 Linux。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WMI：常用于读取 Windows 管理信息。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SNMP：常用于发现网络设备。</a:t>
            </a:r>
          </a:p>
          <a:p xmlns:a="http://schemas.openxmlformats.org/drawingml/2006/main">
            <a:pPr algn="l">
              <a:def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243442"/>
                </a:solidFill>
                <a:latin typeface="Microsoft YaHei"/>
                <a:ea typeface="Microsoft YaHei"/>
                <a:cs typeface="Microsoft YaHei"/>
              </a:rPr>
              <a:t>WSS：ACC 与 MID Server 使用的加密 WebSocket 通信。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DE6A3F-82D2-417A-814A-B28497CE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00775"/>
            <a:ext cx="11163300" cy="228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F7F8"/>
          </a:solidFill>
          <a:ln xmlns:a="http://schemas.openxmlformats.org/drawingml/2006/main" w="9525">
            <a:solidFill>
              <a:srgbClr val="E3E8EC"/>
            </a:solidFill>
            <a:prstDash val="solid"/>
          </a:ln>
        </p:spPr>
        <p:txBody>
          <a:bodyPr xmlns:a="http://schemas.openxmlformats.org/drawingml/2006/main" wrap="square" lIns="95250" tIns="57150" rIns="95250" bIns="57150" anchor="ctr">
            <a:normAutofit fontScale="41422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536574"/>
                </a:solidFill>
                <a:latin typeface="Microsoft YaHei"/>
                <a:ea typeface="Microsoft YaHei"/>
                <a:cs typeface="Microsoft YaHei"/>
              </a:rPr>
              <a:t>使用建议：汇报正文保留英文 + 中文；实际配置画面、账户申请和手顺书以英文名称为准。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39E2F4-23C9-4703-91A0-569DF95A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11163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3E8E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87FCBC-BEA0-4E3F-832A-79CFD6C6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43675"/>
            <a:ext cx="4953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PC2.0 Azure × ServiceNow ITOM｜术语说明版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4AB8D-D012-47C4-B114-0FC3DC308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43675"/>
            <a:ext cx="628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7886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61858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2026-09-03T07:01:31.0030000Z</dcterms:created>
  <dcterms:modified xsi:type="dcterms:W3CDTF">2026-09-03T07:01:31.0030000Z</dcterms:modified>
</coreProperties>
</file>