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8fdeb49aa406d" /><Relationship Type="http://schemas.openxmlformats.org/officeDocument/2006/relationships/extended-properties" Target="/docProps/app.xml" Id="Raf3355a884714763" /><Relationship Type="http://schemas.openxmlformats.org/officeDocument/2006/relationships/officeDocument" Target="/ppt/presentation.xml" Id="Rfc766feaca754e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7517d7d65d4154"/>
  </p:sldMasterIdLst>
  <p:notesMasterIdLst>
    <p:notesMasterId xmlns:r="http://schemas.openxmlformats.org/officeDocument/2006/relationships" r:id="R9031b1a065b74386"/>
  </p:notesMasterIdLst>
  <p:sldIdLst>
    <p:sldId xmlns:r="http://schemas.openxmlformats.org/officeDocument/2006/relationships" id="256" r:id="Rbfdf399989254d8e"/>
    <p:sldId xmlns:r="http://schemas.openxmlformats.org/officeDocument/2006/relationships" id="257" r:id="R3eef8fdee8784a4d"/>
    <p:sldId xmlns:r="http://schemas.openxmlformats.org/officeDocument/2006/relationships" id="258" r:id="R8686602c70c145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d3d4f7c74f4c08" /><Relationship Type="http://schemas.openxmlformats.org/officeDocument/2006/relationships/slideMaster" Target="/ppt/slideMasters/slideMaster1.xml" Id="Rfa7517d7d65d4154" /><Relationship Type="http://schemas.openxmlformats.org/officeDocument/2006/relationships/notesMaster" Target="/ppt/notesMasters/notesMaster1.xml" Id="R9031b1a065b74386" /><Relationship Type="http://schemas.openxmlformats.org/officeDocument/2006/relationships/presProps" Target="/ppt/presProps.xml" Id="R46affda14d7b4092" /><Relationship Type="http://schemas.openxmlformats.org/officeDocument/2006/relationships/tableStyles" Target="/ppt/tableStyles.xml" Id="R1e886af4208d42ad" /><Relationship Type="http://schemas.openxmlformats.org/officeDocument/2006/relationships/slide" Target="/ppt/slides/slide1.xml" Id="Rbfdf399989254d8e" /><Relationship Type="http://schemas.openxmlformats.org/officeDocument/2006/relationships/slide" Target="/ppt/slides/slide2.xml" Id="R3eef8fdee8784a4d" /><Relationship Type="http://schemas.openxmlformats.org/officeDocument/2006/relationships/slide" Target="/ppt/slides/slide3.xml" Id="R8686602c70c145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195ec3c726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8abc7c20d0450f" /><Relationship Type="http://schemas.openxmlformats.org/officeDocument/2006/relationships/notesMaster" Target="/ppt/notesMasters/notesMaster1.xml" Id="R4f8faf1874ba45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b278f5149a4595" /><Relationship Type="http://schemas.openxmlformats.org/officeDocument/2006/relationships/notesMaster" Target="/ppt/notesMasters/notesMaster1.xml" Id="Red0133f8898d42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4dbd8b787e4c0e" /><Relationship Type="http://schemas.openxmlformats.org/officeDocument/2006/relationships/notesMaster" Target="/ppt/notesMasters/notesMaster1.xml" Id="Ree88a5b91fd946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本页只表示不依赖 DEV、TEST、PROD 划分的基本组件和通信关系，不代表最终环境设计。</a:t>
            </a:r>
          </a:p>
          <a:p xmlns:a="http://schemas.openxmlformats.org/drawingml/2006/main">
            <a:r>
              <a:t>- Horizontal Discovery 由 MID 主动访问目标；ACC 由 Agent 建立到 MID 的 WebSocket 连接；Azure Cloud Discovery 通过 Azure API 获取云侧资源信息。</a:t>
            </a:r>
          </a:p>
          <a:p xmlns:a="http://schemas.openxmlformats.org/drawingml/2006/main">
            <a:r>
              <a:t>- 环境数量、Subscription、Resource Group、VNet/Subnet、MID 数量以及权限边界需要在后续设计阶段确认。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是身份目录基础；本页主体的四层是 Azure Resource Manager 官方定义的管理作用域。</a:t>
            </a:r>
          </a:p>
          <a:p xmlns:a="http://schemas.openxmlformats.org/drawingml/2006/main">
            <a:r>
              <a:t>- Management Group 用于跨 Subscription 的治理；Subscription 是资源使用、计费、配额和访问控制的重要边界。</a:t>
            </a:r>
          </a:p>
          <a:p xmlns:a="http://schemas.openxmlformats.org/drawingml/2006/main">
            <a:r>
              <a:t>- Resource Group 管理生命周期相近的相关资源；Resource 是 VM、VNet、Disk、NIC 等实际对象。</a:t>
            </a:r>
          </a:p>
          <a:p xmlns:a="http://schemas.openxmlformats.org/drawingml/2006/main">
            <a:r>
              <a:t>- Resource Manager 接收 Portal、CLI、PowerShell、REST 或 SDK 请求，完成身份验证和授权，再把请求转发给对应 Azure 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本页是术语速查，不用于替代各产品的完整定义或设计文档。</a:t>
            </a:r>
          </a:p>
          <a:p xmlns:a="http://schemas.openxmlformats.org/drawingml/2006/main">
            <a:r>
              <a:t>- Azure 专有名词优先保留 Microsoft 官方英文名称，并用括号给出便于汇报的中文含义。</a:t>
            </a:r>
          </a:p>
          <a:p xmlns:a="http://schemas.openxmlformats.org/drawingml/2006/main">
            <a:r>
              <a:t>- ServiceNow 和通信协议术语单独列出，避免被误认为 Azure 原生资源。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https://learn.microsoft.com/en-us/azure/governance/policy/overview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https://learn.microsoft.com/en-us/azure/bastion/bastion-overview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f8680e2dd4a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5d97d8ae594998" /><Relationship Type="http://schemas.openxmlformats.org/officeDocument/2006/relationships/slideLayout" Target="/ppt/slideLayouts/slideLayout1.xml" Id="R1c68931a6839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68931a6839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316df4dfa4003" /><Relationship Type="http://schemas.openxmlformats.org/officeDocument/2006/relationships/notesSlide" Target="/ppt/notesSlides/notesSlide1.xml" Id="Rdab2e355ca7f4a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ea6cb570e47db" /><Relationship Type="http://schemas.openxmlformats.org/officeDocument/2006/relationships/image" Target="/ppt/media/image.png" Id="Recb85b92e9f04252" /><Relationship Type="http://schemas.openxmlformats.org/officeDocument/2006/relationships/notesSlide" Target="/ppt/notesSlides/notesSlide2.xml" Id="Raadedd9cb85b4b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ec595e56d4712" /><Relationship Type="http://schemas.openxmlformats.org/officeDocument/2006/relationships/notesSlide" Target="/ppt/notesSlides/notesSlide3.xml" Id="R9350715ce8ee4d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AAB661-D5B3-47A3-8187-4BCC3C92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01｜构成图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5C4BA-9D74-4D24-AB04-028FCABF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PC2.0 Azure / ServiceNow ITOM（IT 运维管理）基本构成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7B9EE-8A40-466F-A56F-A3401B35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本页只说明组件与通信关系；环境数量、Subscription（订阅）、Resource Group（资源组）和 VNet/Subnet（虚拟网络/子网）划分尚未确定。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C9AE9-BE91-400A-9486-18DB33F7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CCAE6-5104-43A8-8664-9846F045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AC9D3-C0D0-4BB2-BAAE-B1418647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24C"/>
          </a:solidFill>
          <a:ln xmlns:a="http://schemas.openxmlformats.org/drawingml/2006/main" w="9525">
            <a:solidFill>
              <a:srgbClr val="17324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87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实例对应关系另行确认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5F2CF-1C5D-4F8F-B76F-781D8F34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9EDFA"/>
          </a:solidFill>
          <a:ln xmlns:a="http://schemas.openxmlformats.org/drawingml/2006/main" w="9525">
            <a:solidFill>
              <a:srgbClr val="D9EDF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Horizontal Discovery（水平发现）</a:t>
            </a:r>
          </a:p>
          <a:p xmlns:a="http://schemas.openxmlformats.org/drawingml/2006/main">
            <a:pPr algn="ctr">
              <a:def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MID Server 主动访问目标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F35A8-3BD3-4BC6-87D3-0F23A265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F2DE"/>
          </a:solidFill>
          <a:ln xmlns:a="http://schemas.openxmlformats.org/drawingml/2006/main" w="9525">
            <a:solidFill>
              <a:srgbClr val="E5F2DE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Agent Client Collector（代理客户端收集器）</a:t>
            </a:r>
          </a:p>
          <a:p xmlns:a="http://schemas.openxmlformats.org/drawingml/2006/main">
            <a:pPr algn="ctr">
              <a:defRPr sz="7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F9E32"/>
                </a:solidFill>
                <a:latin typeface="Microsoft YaHei"/>
                <a:ea typeface="Microsoft YaHei"/>
                <a:cs typeface="Microsoft YaHei"/>
              </a:rPr>
              <a:t>ACC Agent 经 MID Server 回传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56EA5-6998-4B08-BCD6-F4EF7347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9C8"/>
          </a:solidFill>
          <a:ln xmlns:a="http://schemas.openxmlformats.org/drawingml/2006/main" w="9525">
            <a:solidFill>
              <a:srgbClr val="FDE9C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Azure Cloud Discovery（Azure 云发现）</a:t>
            </a:r>
          </a:p>
          <a:p xmlns:a="http://schemas.openxmlformats.org/drawingml/2006/main">
            <a:pPr algn="ctr">
              <a:defRPr sz="7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E98B0C"/>
                </a:solidFill>
                <a:latin typeface="Microsoft YaHei"/>
                <a:ea typeface="Microsoft YaHei"/>
                <a:cs typeface="Microsoft YaHei"/>
              </a:rPr>
              <a:t>通过 Azure API 取得云资源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33D01-0713-4884-8A14-93666B76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DDF94-58F8-451E-86A3-7BC21EF8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143B7-D50C-4EEC-A711-7013F56B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8B0C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F94D6-8CB2-4C2C-8C94-035E8B96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DAC56-D959-435B-BFBD-895C18B1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Microsoft Entra Tenant（身份租户）</a:t>
            </a:r>
          </a:p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Subscription（订阅）：范围待确认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72598-6368-4A2C-B60F-5E60996D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7141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Azure RBAC（角色权限）｜Tag（标签）｜Azure Policy（策略）｜Azure Monitor（监控）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99140-C004-4268-988C-7DCCBD97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Resource Manager API（资源管理接口）</a:t>
            </a:r>
          </a:p>
          <a:p xmlns:a="http://schemas.openxmlformats.org/drawingml/2006/main">
            <a:pPr algn="ctr">
              <a:defRPr sz="7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Cloud Discovery：VM / VNet / Subnet / NIC /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E3CD8-9F53-4EFD-B1CA-C93A4D4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924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91C2D-B270-43FB-9D94-1D47E857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543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Azure 管理与网络范围（数量、命名和边界待确认）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1352F-9332-4C49-BEF4-7A94FB29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 Server（中间服务器）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执行 Horizontal Discovery（水平发现）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接收 ACC 数据并转发至 ServiceNow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数量与配置：待确认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8C5EA-C6BE-4FE4-803B-6E418FEB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被管理目标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Windows / Linux / Network Device（网络设备）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ACC Agent（ACC 代理，适用目标）</a:t>
            </a:r>
          </a:p>
          <a:p xmlns:a="http://schemas.openxmlformats.org/drawingml/2006/main">
            <a:pPr algn="ctr">
              <a:def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具体资源清单：待确认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40DA8-C0D0-4EA6-8677-8909CDB4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1181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wrap="square" lIns="38100" tIns="9525" rIns="1333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SSH / WMI / SNMP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7E31D-A55D-493B-910F-E4E05619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1811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F9E32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txBody>
          <a:bodyPr xmlns:a="http://schemas.openxmlformats.org/drawingml/2006/main" wrap="square" lIns="1333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7BF64-EC65-4A7D-8F55-5F36E5FA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可选共通组件：Palo Alto（防火墙）/ NSG（网络安全组）/ Route Table（路由表）/ Azure Bastion（安全登录）/ Log Analytics（日志分析）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66F62-1A2C-4F79-A5DC-D7F3CC8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后续确认：环境数量｜Subscription（订阅）/ Resource Group（资源组）/ VNet（虚拟网络）/ Subnet（子网）划分｜MID 数量｜权限与 Credential（认证信息）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002078-4F82-4DCB-8601-23EB4966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D5248-86B8-4747-AC5A-CC8204EC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203DA4-459D-4958-9A26-DCDE5DE5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8327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B466A-EC5B-4958-885D-6C377F93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02｜Azure 管理层级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636DC-E510-4594-AB0B-C59E6A04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每个层级是什么、包含什么、管理什么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DBC89-31E2-4C41-985D-7704E758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Microsoft 官方定义四个 Management Scope（管理作用域）；下层会继承上层设置的 Azure RBAC（角色访问控制）与 Azure Policy（策略）。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1A2EE-BEF3-424E-ACB9-FB55895B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16A17-F4B4-477E-A79D-A3437A47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Microsoft Entra Tenant（身份租户）：统一管理 Azure 的 User（用户）、Group（用户组）和 Service Principal（应用身份）。同一 Management Group（管理组）内的 Subscription（订阅）必须属于同一个 Tenant（租户）。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62E11-A2E7-4AC6-BA00-3FC5C3B5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1  Management Group（管理组）｜多 Subscription（订阅）治理层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定义：位于 Subscription 之上的 Management Scope（管理作用域），用于统一管理多个 Subscription。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包含：子 Management Group、Subscription　管理：Azure RBAC / Azure Policy / Compliance（合规性）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PC2.0：是否设置自定义 Management Group 待确认。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3DC88-DF7E-427B-BAD4-EC7E53A9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2  Subscription（订阅）｜计费、Quota（配额）与权限边界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定义：Azure 资源使用、费用、配额与访问控制的重要范围。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包含：Resource Group（资源组）、Subscription 级资源与设置　PC2.0：数量与范围待确认。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72DD5-1F61-42F5-8A47-768D5048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3  Resource Group（资源组）｜Lifecycle（生命周期）管理容器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定义：把同一解决方案、同一生命周期的相关 Resource（资源）作为一组管理；每个 Resource 只能属于一个 Resource Group。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包含：VM、VNet、Disk、NIC、NSG 等　PC2.0：数量与命名待确认。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3678F-36EA-4275-AE79-90D2404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4  Resource（资源）｜实际创建和运行的对象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定义：Azure 中可以创建、更新、删除和监控的具体可管理对象。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计算：VM（虚拟机）/ Disk（磁盘）　网络：VNet（虚拟网络）/ Subnet（子网）/ NIC（网卡）/ NSG（网络安全组）/ Route Table（路由表）/ Public IP（公网 IP）</a:t>
            </a:r>
          </a:p>
          <a:p xmlns:a="http://schemas.openxmlformats.org/drawingml/2006/main">
            <a:pPr algn="l">
              <a:def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运维：Key Vault（密钥保管库）/ Log Analytics（日志分析）/ Azure Bastion（安全登录服务）。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3EC28-0CAC-4A0D-A003-C40F82DF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Microsoft 官方层级图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24885-214E-4CB2-B0CD-99044DC0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85b92e9f04252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12845-8520-4D03-9A26-DEA14A48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Azure Resource Manager（资源管理器）的位置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2502B3-0A44-420D-9324-B319DDBB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14668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txBody>
          <a:bodyPr xmlns:a="http://schemas.openxmlformats.org/drawingml/2006/main" anchor="ctr">
            <a:normAutofit fontScale="7600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Azure Portal（门户）</a:t>
            </a:r>
          </a:p>
          <a:p xmlns:a="http://schemas.openxmlformats.org/drawingml/2006/main">
            <a:pPr algn="ctr">
              <a:def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Azure CLI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22B26-4B63-4C39-AE32-641C8B8C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9585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F6256-38A5-49CD-97F5-366A86BA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5297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  <p:txBody>
          <a:bodyPr xmlns:a="http://schemas.openxmlformats.org/drawingml/2006/main" anchor="ctr">
            <a:normAutofit fontScale="6200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Azure Resource Manager（资源管理器）</a:t>
            </a:r>
          </a:p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Authentication（认证）・Authorization（授权）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95302-24B1-437C-B0D9-A3DFCCD5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248275"/>
            <a:ext cx="24765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F7F8D"/>
          </a:solidFill>
          <a:ln xmlns:a="http://schemas.openxmlformats.org/drawingml/2006/main" w="9525">
            <a:solidFill>
              <a:srgbClr val="6F7F8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3498E-0B98-4010-B136-C0C84A9F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864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txBody>
          <a:bodyPr xmlns:a="http://schemas.openxmlformats.org/drawingml/2006/main" anchor="ctr">
            <a:normAutofit fontScale="9193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 Provider（资源提供程序）→ Resource（资源）</a:t>
            </a:r>
          </a:p>
          <a:p xmlns:a="http://schemas.openxmlformats.org/drawingml/2006/main">
            <a:pPr algn="ctr">
              <a:def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Microsoft.Compute：VM｜Microsoft.Network：VNet / NIC｜Microsoft.Storage：Disk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45BCC-169A-4378-84E0-16583DD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EAF5F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979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05A9E"/>
                </a:solidFill>
                <a:latin typeface="Microsoft YaHei"/>
                <a:ea typeface="Microsoft YaHei"/>
                <a:cs typeface="Microsoft YaHei"/>
              </a:rPr>
              <a:t>继承方向：Management Group（管理组）→ Subscription（订阅）→ Resource Group（资源组）→ Resource（资源）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186AA-6824-4C36-B43D-2FB889C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资料：Microsoft Learn｜Resource Manager overview / Management Groups overview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161E1-F3B9-4741-B304-B74E20E7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23F6F-AA3B-451A-9D94-698ABF88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377D4-2B38-4A03-8D48-724628FD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6000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4D814-C2D3-44B0-86EE-0F83ADCD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78D4"/>
                </a:solidFill>
                <a:latin typeface="Microsoft YaHei"/>
                <a:ea typeface="Microsoft YaHei"/>
                <a:cs typeface="Microsoft YaHei"/>
              </a:rPr>
              <a:t>03｜术语参考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9C483-A0F9-49B7-9053-67F8F6C5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1F33"/>
                </a:solidFill>
                <a:latin typeface="Microsoft YaHei"/>
                <a:ea typeface="Microsoft YaHei"/>
                <a:cs typeface="Microsoft YaHei"/>
              </a:rPr>
              <a:t>Azure / ServiceNow 专有名词速查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C19E2-25BD-4666-94D8-A04E9736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统一写法：English official name（中文含义）。以下解释以普通人能够理解为优先。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CE4C7-38F2-4338-B3A8-02CFF3C6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00D89-C46F-4FD8-9948-0A45DF50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7656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IDENTITY &amp; SCOPE｜身份与管理层级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Microsoft Entra Tenant（身份租户）：Azure 的身份目录与管理边界。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User / Group（用户 / 用户组）：人员账号及账号集合。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Service Principal（应用身份）：供程序或外部系统访问 Azure 的非人工账号。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Management Group（管理组）：在 Subscription 上层统一管理权限和策略。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Subscription（订阅）：计费、配额、权限和资源管理的重要范围。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 Group（资源组）：管理生命周期相近的一组 Resource。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Resource（资源）：Azure 中实际创建和管理的对象。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E3B66-CDD6-4FBF-80E7-E45B08BB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5FD"/>
          </a:solidFill>
          <a:ln xmlns:a="http://schemas.openxmlformats.org/drawingml/2006/main" w="9525">
            <a:solidFill>
              <a:srgbClr val="0078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GOVERNANCE &amp; OPERATIONS｜治理与运维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Resource Manager（资源管理器）：统一接收和处理 Azure 资源管理请求。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Resource Provider（资源提供程序）：提供某类 Azure Resource 的服务。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RBAC（角色访问控制）：决定谁能在什么范围做什么。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Policy（策略）：检查或限制资源是否符合组织规则。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Tag（标签）：给资源添加分类信息，方便检索和费用整理。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Monitor（监控）：收集并分析 Azure 的监控数据。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Log Analytics Workspace（日志分析工作区）：集中保存和查询日志。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Key Vault（密钥保管库）：安全保存密码、密钥和证书。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14C70-3B9C-4EA1-8557-D2F63F7F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DF7E9"/>
          </a:solidFill>
          <a:ln xmlns:a="http://schemas.openxmlformats.org/drawingml/2006/main" w="9525">
            <a:solidFill>
              <a:srgbClr val="4F9E3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NETWORK &amp; COMPUTE｜网络与计算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VNet / Virtual Network（虚拟网络）：Azure 中隔离的私有网络范围。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Subnet（子网）：在 VNet 内进一步划分的地址范围。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NIC / Network Interface（网卡）：把 VM 连接到 Subnet。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NSG / Network Security Group（网络安全组）：按规则允许或拒绝网络流量。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Route Table（路由表）：规定网络流量下一步从哪里走。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Public IP（公网 IP）：可从互联网访问的地址。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VM / Virtual Machine（虚拟机）：运行 Windows 或 Linux 的云服务器。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Managed Disk（托管磁盘）：供 VM 使用的 Azure 磁盘。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Bastion（安全登录服务）：通过 Portal 安全连接 VM。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255CB-EC86-498A-960E-B0AF5206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98B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SERVICENOW &amp; PROTOCOLS｜ServiceNow 与通信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MID Server（中间服务器）：连接 ServiceNow 与被管理环境。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Horizontal Discovery（水平发现）：从 IP 范围发现主机和设备。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Azure Cloud Discovery（Azure 云发现）：通过 Azure API 获取云资源信息。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ACC / Agent Client Collector（代理客户端收集器）：由目标上的 Agent 收集并回传数据。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Credential（认证信息）：Discovery 登录目标所需的账号、密钥等。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SSH：常用于远程访问 Linux。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WMI：常用于读取 Windows 管理信息。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SNMP：常用于发现网络设备。</a:t>
            </a:r>
          </a:p>
          <a:p xmlns:a="http://schemas.openxmlformats.org/drawingml/2006/main">
            <a:pPr algn="l">
              <a:def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635"/>
                </a:solidFill>
                <a:latin typeface="Microsoft YaHei"/>
                <a:ea typeface="Microsoft YaHei"/>
                <a:cs typeface="Microsoft YaHei"/>
              </a:rPr>
              <a:t>WSS：ACC 与 MID Server 使用的加密 WebSocket 通信。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7F926-8297-4F7F-AB24-3C7C9DC2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E4EAF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41422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465B6C"/>
                </a:solidFill>
                <a:latin typeface="Microsoft YaHei"/>
                <a:ea typeface="Microsoft YaHei"/>
                <a:cs typeface="Microsoft YaHei"/>
              </a:rPr>
              <a:t>使用建议：汇报正文保留英文 + 中文；实际配置画面、账户申请和手顺书以英文名称为准。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0FA8D-92CA-49BD-AAA8-BCFD5F08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1350A-CC2C-4EDE-9810-CB8B4D44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BF4D1-2A3B-4D44-8C01-3F6EBB9F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F7F8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9166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2026-09-03T05:21:23.2820000Z</dcterms:created>
  <dcterms:modified xsi:type="dcterms:W3CDTF">2026-09-03T05:21:23.2820000Z</dcterms:modified>
</coreProperties>
</file>