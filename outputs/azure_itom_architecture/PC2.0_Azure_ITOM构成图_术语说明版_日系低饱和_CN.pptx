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551d4f97c94fc9" /><Relationship Type="http://schemas.openxmlformats.org/officeDocument/2006/relationships/extended-properties" Target="/docProps/app.xml" Id="Ra847f00ff4aa4d56" /><Relationship Type="http://schemas.openxmlformats.org/officeDocument/2006/relationships/officeDocument" Target="/ppt/presentation.xml" Id="R781f839a6b7b47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87ada408dd4d1c"/>
  </p:sldMasterIdLst>
  <p:notesMasterIdLst>
    <p:notesMasterId xmlns:r="http://schemas.openxmlformats.org/officeDocument/2006/relationships" r:id="R136c25e24ce74812"/>
  </p:notesMasterIdLst>
  <p:sldIdLst>
    <p:sldId xmlns:r="http://schemas.openxmlformats.org/officeDocument/2006/relationships" id="256" r:id="R096aca9d6e5948be"/>
    <p:sldId xmlns:r="http://schemas.openxmlformats.org/officeDocument/2006/relationships" id="257" r:id="R9503e6d021a042f2"/>
    <p:sldId xmlns:r="http://schemas.openxmlformats.org/officeDocument/2006/relationships" id="258" r:id="R548a6bccbdfe4a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3cf9f01fdd4414" /><Relationship Type="http://schemas.openxmlformats.org/officeDocument/2006/relationships/slideMaster" Target="/ppt/slideMasters/slideMaster1.xml" Id="R8487ada408dd4d1c" /><Relationship Type="http://schemas.openxmlformats.org/officeDocument/2006/relationships/notesMaster" Target="/ppt/notesMasters/notesMaster1.xml" Id="R136c25e24ce74812" /><Relationship Type="http://schemas.openxmlformats.org/officeDocument/2006/relationships/presProps" Target="/ppt/presProps.xml" Id="R5019f375159a4d3d" /><Relationship Type="http://schemas.openxmlformats.org/officeDocument/2006/relationships/tableStyles" Target="/ppt/tableStyles.xml" Id="R918249e2d46442a5" /><Relationship Type="http://schemas.openxmlformats.org/officeDocument/2006/relationships/slide" Target="/ppt/slides/slide1.xml" Id="R096aca9d6e5948be" /><Relationship Type="http://schemas.openxmlformats.org/officeDocument/2006/relationships/slide" Target="/ppt/slides/slide2.xml" Id="R9503e6d021a042f2" /><Relationship Type="http://schemas.openxmlformats.org/officeDocument/2006/relationships/slide" Target="/ppt/slides/slide3.xml" Id="R548a6bccbdfe4a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823af33d4243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707455a8e74468" /><Relationship Type="http://schemas.openxmlformats.org/officeDocument/2006/relationships/notesMaster" Target="/ppt/notesMasters/notesMaster1.xml" Id="R562736de0d674c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56a0a066d9468b" /><Relationship Type="http://schemas.openxmlformats.org/officeDocument/2006/relationships/notesMaster" Target="/ppt/notesMasters/notesMaster1.xml" Id="Rf45122fac4524d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f9e02c0ceb47f3" /><Relationship Type="http://schemas.openxmlformats.org/officeDocument/2006/relationships/notesMaster" Target="/ppt/notesMasters/notesMaster1.xml" Id="Rd0176733f82746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本页只表示不依赖 DEV、TEST、PROD 划分的基本组件和通信关系，不代表最终环境设计。</a:t>
            </a:r>
          </a:p>
          <a:p xmlns:a="http://schemas.openxmlformats.org/drawingml/2006/main">
            <a:r>
              <a:t>- Horizontal Discovery 由 MID 主动访问目标；ACC 由 Agent 建立到 MID 的 WebSocket 连接；Azure Cloud Discovery 通过 Azure API 获取云侧资源信息。</a:t>
            </a:r>
          </a:p>
          <a:p xmlns:a="http://schemas.openxmlformats.org/drawingml/2006/main">
            <a:r>
              <a:t>- 环境数量、Subscription、Resource Group、VNet/Subnet、MID 数量以及权限边界需要在后续设计阶段确认。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Microsoft Entra Tenant 是身份目录基础；本页主体的四层是 Azure Resource Manager 官方定义的管理作用域。</a:t>
            </a:r>
          </a:p>
          <a:p xmlns:a="http://schemas.openxmlformats.org/drawingml/2006/main">
            <a:r>
              <a:t>- Management Group 用于跨 Subscription 的治理；Subscription 是资源使用、计费、配额和访问控制的重要边界。</a:t>
            </a:r>
          </a:p>
          <a:p xmlns:a="http://schemas.openxmlformats.org/drawingml/2006/main">
            <a:r>
              <a:t>- Resource Group 管理生命周期相近的相关资源；Resource 是 VM、VNet、Disk、NIC 等实际对象。</a:t>
            </a:r>
          </a:p>
          <a:p xmlns:a="http://schemas.openxmlformats.org/drawingml/2006/main">
            <a:r>
              <a:t>- Resource Manager 接收 Portal、CLI、PowerShell、REST 或 SDK 请求，完成身份验证和授权，再把请求转发给对应 Azure 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https://learn.microsoft.com/en-us/azure/governance/management-groups/overview</a:t>
            </a:r>
          </a:p>
          <a:p xmlns:a="http://schemas.openxmlformats.org/drawingml/2006/main">
            <a:r>
              <a:t>- https://learn.microsoft.com/en-us/azure/azure-resource-manager/management/media/overview/scope-levels.png</a:t>
            </a:r>
          </a:p>
          <a:p xmlns:a="http://schemas.openxmlformats.org/drawingml/2006/main">
            <a:r>
              <a:t>- https://learn.microsoft.com/en-us/azure/azure-resource-manager/management/media/overview/consistent-management-layer.png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本页是术语速查，不用于替代各产品的完整定义或设计文档。</a:t>
            </a:r>
          </a:p>
          <a:p xmlns:a="http://schemas.openxmlformats.org/drawingml/2006/main">
            <a:r>
              <a:t>- Azure 专有名词优先保留 Microsoft 官方英文名称，并用括号给出便于汇报的中文含义。</a:t>
            </a:r>
          </a:p>
          <a:p xmlns:a="http://schemas.openxmlformats.org/drawingml/2006/main">
            <a:r>
              <a:t>- ServiceNow 和通信协议术语单独列出，避免被误认为 Azure 原生资源。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https://learn.microsoft.com/en-us/azure/governance/management-groups/overview</a:t>
            </a:r>
          </a:p>
          <a:p xmlns:a="http://schemas.openxmlformats.org/drawingml/2006/main">
            <a:r>
              <a:t>- https://learn.microsoft.com/en-us/azure/role-based-access-control/overview</a:t>
            </a:r>
          </a:p>
          <a:p xmlns:a="http://schemas.openxmlformats.org/drawingml/2006/main">
            <a:r>
              <a:t>- https://learn.microsoft.com/en-us/azure/governance/policy/overview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https://learn.microsoft.com/en-us/azure/azure-monitor/fundamentals/overview</a:t>
            </a:r>
          </a:p>
          <a:p xmlns:a="http://schemas.openxmlformats.org/drawingml/2006/main">
            <a:r>
              <a:t>- https://learn.microsoft.com/en-us/azure/bastion/bastion-overview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52773d8e504e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2999f7fbf94cf0" /><Relationship Type="http://schemas.openxmlformats.org/officeDocument/2006/relationships/slideLayout" Target="/ppt/slideLayouts/slideLayout1.xml" Id="R3c0383aec7f94c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0383aec7f94c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03781c89e484b" /><Relationship Type="http://schemas.openxmlformats.org/officeDocument/2006/relationships/notesSlide" Target="/ppt/notesSlides/notesSlide1.xml" Id="Rfad8879ae6584b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691da5df44d42" /><Relationship Type="http://schemas.openxmlformats.org/officeDocument/2006/relationships/image" Target="/ppt/media/image.png" Id="Rdd63774945244845" /><Relationship Type="http://schemas.openxmlformats.org/officeDocument/2006/relationships/notesSlide" Target="/ppt/notesSlides/notesSlide2.xml" Id="Rc63b156b3f9549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bdca859864316" /><Relationship Type="http://schemas.openxmlformats.org/officeDocument/2006/relationships/notesSlide" Target="/ppt/notesSlides/notesSlide3.xml" Id="Rf9cf142d20c248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2FC10D-35D2-4DCE-BB9E-7F86C4B4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rPr>
              <a:t>01｜构成图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4720D-9AE7-4FAB-B8E7-A6119463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PC2.0 Azure / ServiceNow ITOM（IT 运维管理）基本构成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9596E-55F7-44F5-92B5-AE7600C7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本页只说明组件与通信关系；环境数量、Subscription（订阅）、Resource Group（资源组）和 VNet/Subnet（虚拟网络/子网）划分尚未确定。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422F7-C256-4749-9232-99FB3656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A256C-D9E3-401B-8A5B-5D36E93B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019300" cy="33147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E82C3-AE4E-4C3B-9C6C-96B1F40E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676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9445D"/>
          </a:solidFill>
          <a:ln xmlns:a="http://schemas.openxmlformats.org/drawingml/2006/main" w="9525">
            <a:solidFill>
              <a:srgbClr val="29445D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8875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ServiceNow ITOM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实例对应关系另行确认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F0B33-D547-4EDC-B26C-3345FD7B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EEF4F8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Horizontal Discovery（水平发现）</a:t>
            </a:r>
          </a:p>
          <a:p xmlns:a="http://schemas.openxmlformats.org/drawingml/2006/main">
            <a:pPr algn="ctr">
              <a:def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MID Server 主动访问目标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F8267-B4DE-4579-B9D3-ED847423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1F4F6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F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F7890"/>
                </a:solidFill>
                <a:latin typeface="Microsoft YaHei"/>
                <a:ea typeface="Microsoft YaHei"/>
                <a:cs typeface="Microsoft YaHei"/>
              </a:rPr>
              <a:t>Agent Client Collector（代理客户端收集器）</a:t>
            </a:r>
          </a:p>
          <a:p xmlns:a="http://schemas.openxmlformats.org/drawingml/2006/main">
            <a:pPr algn="ctr">
              <a:defRPr sz="750" b="1">
                <a:solidFill>
                  <a:srgbClr val="5F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F7890"/>
                </a:solidFill>
                <a:latin typeface="Microsoft YaHei"/>
                <a:ea typeface="Microsoft YaHei"/>
                <a:cs typeface="Microsoft YaHei"/>
              </a:rPr>
              <a:t>ACC Agent 经 MID Server 回传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FB3AC-F76E-4993-BC91-863B147B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676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F4F5F6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B87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B8792"/>
                </a:solidFill>
                <a:latin typeface="Microsoft YaHei"/>
                <a:ea typeface="Microsoft YaHei"/>
                <a:cs typeface="Microsoft YaHei"/>
              </a:rPr>
              <a:t>Azure Cloud Discovery（Azure 云发现）</a:t>
            </a:r>
          </a:p>
          <a:p xmlns:a="http://schemas.openxmlformats.org/drawingml/2006/main">
            <a:pPr algn="ctr">
              <a:defRPr sz="750" b="1">
                <a:solidFill>
                  <a:srgbClr val="7B87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B8792"/>
                </a:solidFill>
                <a:latin typeface="Microsoft YaHei"/>
                <a:ea typeface="Microsoft YaHei"/>
                <a:cs typeface="Microsoft YaHei"/>
              </a:rPr>
              <a:t>通过 Azure API 取得云资源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393EA-2A19-4033-AFFB-3AF3D00A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76550"/>
            <a:ext cx="723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wrap="square" lIns="1905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Discovery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CD9DBA-A786-472B-B606-5B4116C2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638550"/>
            <a:ext cx="7239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F7890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txBody>
          <a:bodyPr xmlns:a="http://schemas.openxmlformats.org/drawingml/2006/main" wrap="square" lIns="114300" tIns="9525" rIns="19050" bIns="952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DA8B9-A237-4853-9C7D-457232BC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00550"/>
            <a:ext cx="723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B8792"/>
          </a:solidFill>
          <a:ln xmlns:a="http://schemas.openxmlformats.org/drawingml/2006/main" w="9525">
            <a:solidFill>
              <a:srgbClr val="7B8792"/>
            </a:solidFill>
            <a:prstDash val="solid"/>
          </a:ln>
        </p:spPr>
        <p:txBody>
          <a:bodyPr xmlns:a="http://schemas.openxmlformats.org/drawingml/2006/main" wrap="square" lIns="1905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Cloud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500A0A-38D6-4FAF-BC1D-8010D25F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43050"/>
            <a:ext cx="8401050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B465D-EB04-4EA0-8BD4-36F4502D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57350"/>
            <a:ext cx="2324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Microsoft Entra Tenant（身份租户）</a:t>
            </a:r>
          </a:p>
          <a:p xmlns:a="http://schemas.openxmlformats.org/drawingml/2006/main">
            <a:pPr algn="ctr">
              <a:def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Subscription（订阅）：范围待确认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11A942-8416-4912-8112-E4A2F70E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47850"/>
            <a:ext cx="32766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97141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Azure RBAC（角色权限）｜Tag（标签）｜Azure Policy（策略）｜Azure Monitor（监控）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A5F01C-2C6F-44D1-87B9-35197AAD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90700"/>
            <a:ext cx="2019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7B879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Resource Manager API（资源管理接口）</a:t>
            </a:r>
          </a:p>
          <a:p xmlns:a="http://schemas.openxmlformats.org/drawingml/2006/main">
            <a:pPr algn="ctr">
              <a:defRPr sz="7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Cloud Discovery：VM / VNet / Subnet / NIC / Disk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590F10-13FF-4591-B656-94286905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7924800" cy="25336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657D0-6413-4EA2-B7BF-94A450CF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7543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Azure 管理与网络范围（数量、命名和边界待确认）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DEAB86-909E-499E-ABD9-8208D67D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27241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MID Server（中间服务器）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执行 Horizontal Discovery（水平发现）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接收 ACC 数据并转发至 ServiceNow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数量与配置：待确认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288A73-E0D0-4A6F-9B15-C1216931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19450"/>
            <a:ext cx="323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被管理目标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Windows / Linux / Network Device（网络设备）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ACC Agent（ACC 代理，适用目标）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具体资源清单：待确认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2398C6-6FE9-4149-9186-F2CE5186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457575"/>
            <a:ext cx="1181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wrap="square" lIns="38100" tIns="9525" rIns="1333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SSH / WMI / SNMP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B8AF54-FDAE-43BC-9774-4878F4A3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14800"/>
            <a:ext cx="118110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F7890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txBody>
          <a:bodyPr xmlns:a="http://schemas.openxmlformats.org/drawingml/2006/main" wrap="square" lIns="13335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 / WSS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901325-D929-4F81-AF39-00671500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62500"/>
            <a:ext cx="7296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可选共通组件：Palo Alto（防火墙）/ NSG（网络安全组）/ Route Table（路由表）/ Azure Bastion（安全登录）/ Log Analytics（日志分析）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924FA8-2594-48B7-A5F9-2E01749E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34050"/>
            <a:ext cx="8401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后续确认：环境数量｜Subscription（订阅）/ Resource Group（资源组）/ VNet（虚拟网络）/ Subnet（子网）划分｜MID 数量｜权限与 Credential（认证信息）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59CD40-4B72-43AB-AD8B-5ACB26E0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776960-CDA3-4679-9AE0-168DC747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PC2.0 Azure × ServiceNow ITOM｜术语说明版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1D6D83-A440-4DEF-BCEC-A50DF565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306565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45E11B-8E6E-41AA-A7D3-3D9B52DD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rPr>
              <a:t>02｜Azure 管理层级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7762B-41C4-4B3D-AB6F-D0E4BCA2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每个层级是什么、包含什么、管理什么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DBA3B-4359-48E3-A113-52A54CB7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Microsoft 官方定义四个 Management Scope（管理作用域）；下层会继承上层设置的 Azure RBAC（角色访问控制）与 Azure Policy（策略）。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166E0-8738-4890-9289-A1EE5CB0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05DF6-7C61-4AA9-AC64-FBE39E4B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1163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2F5"/>
          </a:solidFill>
          <a:ln xmlns:a="http://schemas.openxmlformats.org/drawingml/2006/main" w="9525">
            <a:solidFill>
              <a:srgbClr val="4A6075"/>
            </a:solidFill>
            <a:prstDash val="solid"/>
          </a:ln>
        </p:spPr>
        <p:txBody>
          <a:bodyPr xmlns:a="http://schemas.openxmlformats.org/drawingml/2006/main" wrap="square" lIns="171450" tIns="57150" rIns="1714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Microsoft Entra Tenant（身份租户）：统一管理 Azure 的 User（用户）、Group（用户组）和 Service Principal（应用身份）。同一 Management Group（管理组）内的 Subscription（订阅）必须属于同一个 Tenant（租户）。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0ABD6-4E1F-4DD4-A436-02A22732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7277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2F5"/>
          </a:solidFill>
          <a:ln xmlns:a="http://schemas.openxmlformats.org/drawingml/2006/main" w="9525">
            <a:solidFill>
              <a:srgbClr val="4A60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1  Management Group（管理组）｜多 Subscription（订阅）治理层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定义：位于 Subscription 之上的 Management Scope（管理作用域），用于统一管理多个 Subscription。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包含：子 Management Group、Subscription　管理：Azure RBAC / Azure Policy / Compliance（合规性）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PC2.0：是否设置自定义 Management Group 待确认。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D7541-3F55-4C02-8852-AF69DFFF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7277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2  Subscription（订阅）｜计费、Quota（配额）与权限边界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定义：Azure 资源使用、费用、配额与访问控制的重要范围。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包含：Resource Group（资源组）、Subscription 级资源与设置　PC2.0：数量与范围待确认。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912CF1-4571-46A9-955E-9B299C88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7277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3  Resource Group（资源组）｜Lifecycle（生命周期）管理容器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定义：把同一解决方案、同一生命周期的相关 Resource（资源）作为一组管理；每个 Resource 只能属于一个 Resource Group。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包含：VM、VNet、Disk、NIC、NSG 等　PC2.0：数量与命名待确认。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AAEA7-2E9E-4E0B-A640-F8CB9BF2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7277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7B87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4  Resource（资源）｜实际创建和运行的对象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定义：Azure 中可以创建、更新、删除和监控的具体可管理对象。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计算：VM（虚拟机）/ Disk（磁盘）　网络：VNet（虚拟网络）/ Subnet（子网）/ NIC（网卡）/ NSG（网络安全组）/ Route Table（路由表）/ Public IP（公网 IP）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运维：Key Vault（密钥保管库）/ Log Analytics（日志分析）/ Azure Bastion（安全登录服务）。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D57F3-8A56-4468-89CD-F3BC8A7F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62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Microsoft 官方层级图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A5C1C-17A1-4F43-8D0C-402CAF0B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342900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3774945244845"/>
          <a:stretch xmlns:a="http://schemas.openxmlformats.org/drawingml/2006/main"/>
        </p:blipFill>
        <p:spPr>
          <a:xfrm xmlns:a="http://schemas.openxmlformats.org/drawingml/2006/main">
            <a:off x="8192861" y="2324100"/>
            <a:ext cx="3083379" cy="19621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5AA67-6FC5-44CE-B41A-695E8425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14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Azure Resource Manager（资源管理器）的位置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DAB28-2A6F-442F-A8AC-CC94B713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10125"/>
            <a:ext cx="1466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anchor="ctr">
            <a:normAutofit fontScale="7600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Azure Portal（门户）</a:t>
            </a:r>
          </a:p>
          <a:p xmlns:a="http://schemas.openxmlformats.org/drawingml/2006/main">
            <a:pPr algn="ctr">
              <a:def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Azure CLI /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FA7D1F-0474-4B3E-A5C4-38B86331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89585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973A82-27C7-4563-A45B-CCD2FDF9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5297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txBody>
          <a:bodyPr xmlns:a="http://schemas.openxmlformats.org/drawingml/2006/main" anchor="ctr">
            <a:normAutofit fontScale="6200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Azure Resource Manager（资源管理器）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Authentication（认证）・Authorization（授权）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38E2DB-ACBF-46CF-9AD3-BA723D90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5248275"/>
            <a:ext cx="2476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8691"/>
          </a:solidFill>
          <a:ln xmlns:a="http://schemas.openxmlformats.org/drawingml/2006/main" w="9525">
            <a:solidFill>
              <a:srgbClr val="78869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A7E4EA-AFC6-4E1A-94B5-A25D9F9A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486400"/>
            <a:ext cx="342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  <p:txBody>
          <a:bodyPr xmlns:a="http://schemas.openxmlformats.org/drawingml/2006/main" anchor="ctr">
            <a:normAutofit fontScale="9193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Resource Provider（资源提供程序）→ Resource（资源）</a:t>
            </a:r>
          </a:p>
          <a:p xmlns:a="http://schemas.openxmlformats.org/drawingml/2006/main">
            <a:pPr algn="ctr">
              <a:defRPr sz="9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Microsoft.Compute：VM｜Microsoft.Network：VNet / NIC｜Microsoft.Storage：Disk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774F51-269E-4D8C-8DDF-33211825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7277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EEF4F8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6979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继承方向：Management Group（管理组）→ Subscription（订阅）→ Resource Group（资源组）→ Resource（资源）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E3C88D-7315-472E-A657-F567D6EC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076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资料：Microsoft Learn｜Resource Manager overview / Management Groups overview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7D7B9D-6C6A-4C43-8C2B-883D9A2F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686CAD-D75E-46D1-B483-0B05ED01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PC2.0 Azure × ServiceNow ITOM｜术语说明版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F83B51-F85B-4A80-A480-7A37DE81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904777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BB45F-E807-4FF2-ADED-16B457E1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rPr>
              <a:t>03｜术语参考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23A67-D7B0-4AD7-8647-52404896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Azure / ServiceNow 专有名词速查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18EB1-86D5-4FCB-8E15-A1038A63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统一写法：English official name（中文含义）。以下解释以普通人能够理解为优先。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1E3C9-DF77-4A45-8894-EBBE77FC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4EF39-8A48-4C37-B35C-967E26DB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5295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FF2F5"/>
          </a:solidFill>
          <a:ln xmlns:a="http://schemas.openxmlformats.org/drawingml/2006/main" w="9525">
            <a:solidFill>
              <a:srgbClr val="4A60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IDENTITY &amp; SCOPE｜身份与管理层级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Microsoft Entra Tenant（身份租户）：Azure 的身份目录与管理边界。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User / Group（用户 / 用户组）：人员账号及账号集合。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Service Principal（应用身份）：供程序或外部系统访问 Azure 的非人工账号。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Management Group（管理组）：在 Subscription 上层统一管理权限和策略。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Subscription（订阅）：计费、配额、权限和资源管理的重要范围。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Resource Group（资源组）：管理生命周期相近的一组 Resource。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Resource（资源）：Azure 中实际创建和管理的对象。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E7760-AF40-463E-900A-C5C08CA5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52959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GOVERNANCE &amp; OPERATIONS｜治理与运维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Resource Manager（资源管理器）：统一接收和处理 Azure 资源管理请求。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Resource Provider（资源提供程序）：提供某类 Azure Resource 的服务。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RBAC（角色访问控制）：决定谁能在什么范围做什么。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Policy（策略）：检查或限制资源是否符合组织规则。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Tag（标签）：给资源添加分类信息，方便检索和费用整理。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Monitor（监控）：收集并分析 Azure 的监控数据。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Log Analytics Workspace（日志分析工作区）：集中保存和查询日志。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Key Vault（密钥保管库）：安全保存密码、密钥和证书。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D752E-2E33-4C41-9D53-E2DBCA80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81150"/>
            <a:ext cx="5295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NETWORK &amp; COMPUTE｜网络与计算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VNet / Virtual Network（虚拟网络）：Azure 中隔离的私有网络范围。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Subnet（子网）：在 VNet 内进一步划分的地址范围。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NIC / Network Interface（网卡）：把 VM 连接到 Subnet。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NSG / Network Security Group（网络安全组）：按规则允许或拒绝网络流量。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Route Table（路由表）：规定网络流量下一步从哪里走。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Public IP（公网 IP）：可从互联网访问的地址。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VM / Virtual Machine（虚拟机）：运行 Windows 或 Linux 的云服务器。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Managed Disk（托管磁盘）：供 VM 使用的 Azure 磁盘。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Bastion（安全登录服务）：通过 Portal 安全连接 VM。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4F775-B483-4549-A227-FBA824E5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52959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7B87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SERVICENOW &amp; PROTOCOLS｜ServiceNow 与通信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MID Server（中间服务器）：连接 ServiceNow 与被管理环境。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Horizontal Discovery（水平发现）：从 IP 范围发现主机和设备。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Cloud Discovery（Azure 云发现）：通过 Azure API 获取云资源信息。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ACC / Agent Client Collector（代理客户端收集器）：由目标上的 Agent 收集并回传数据。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Credential（认证信息）：Discovery 登录目标所需的账号、密钥等。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SSH：常用于远程访问 Linux。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WMI：常用于读取 Windows 管理信息。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SNMP：常用于发现网络设备。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WSS：ACC 与 MID Server 使用的加密 WebSocket 通信。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2A1C5-2FEF-4C6C-A6A7-E1994A45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00775"/>
            <a:ext cx="11163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41422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使用建议：汇报正文保留英文 + 中文；实际配置画面、账户申请和手顺书以英文名称为准。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97D36-CD4C-45AC-9B79-EA13BB04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B786A-2CA5-4324-A753-ECEE427F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PC2.0 Azure × ServiceNow ITOM｜术语说明版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58A52-9090-4127-8AA9-84BA4106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50986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2026-09-03T05:25:52.6670000Z</dcterms:created>
  <dcterms:modified xsi:type="dcterms:W3CDTF">2026-09-03T05:25:52.6670000Z</dcterms:modified>
</coreProperties>
</file>