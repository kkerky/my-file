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98363be3043f8" /><Relationship Type="http://schemas.openxmlformats.org/officeDocument/2006/relationships/extended-properties" Target="/docProps/app.xml" Id="R228ca98f05b249ca" /><Relationship Type="http://schemas.openxmlformats.org/officeDocument/2006/relationships/officeDocument" Target="/ppt/presentation.xml" Id="R8e38ff03e3c4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8b73de96e14bac"/>
  </p:sldMasterIdLst>
  <p:notesMasterIdLst>
    <p:notesMasterId xmlns:r="http://schemas.openxmlformats.org/officeDocument/2006/relationships" r:id="R64513b41d0ec433c"/>
  </p:notesMasterIdLst>
  <p:sldIdLst>
    <p:sldId xmlns:r="http://schemas.openxmlformats.org/officeDocument/2006/relationships" id="256" r:id="Rccb978e3859e4ba2"/>
    <p:sldId xmlns:r="http://schemas.openxmlformats.org/officeDocument/2006/relationships" id="257" r:id="Rfe95d7ef4151452f"/>
    <p:sldId xmlns:r="http://schemas.openxmlformats.org/officeDocument/2006/relationships" id="258" r:id="Ra2a6499cf6c64a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a4bf9cdf94ed5" /><Relationship Type="http://schemas.openxmlformats.org/officeDocument/2006/relationships/slideMaster" Target="/ppt/slideMasters/slideMaster1.xml" Id="Rae8b73de96e14bac" /><Relationship Type="http://schemas.openxmlformats.org/officeDocument/2006/relationships/notesMaster" Target="/ppt/notesMasters/notesMaster1.xml" Id="R64513b41d0ec433c" /><Relationship Type="http://schemas.openxmlformats.org/officeDocument/2006/relationships/presProps" Target="/ppt/presProps.xml" Id="Rc53a2be24cf045c5" /><Relationship Type="http://schemas.openxmlformats.org/officeDocument/2006/relationships/tableStyles" Target="/ppt/tableStyles.xml" Id="R1147cedfaf63415e" /><Relationship Type="http://schemas.openxmlformats.org/officeDocument/2006/relationships/slide" Target="/ppt/slides/slide1.xml" Id="Rccb978e3859e4ba2" /><Relationship Type="http://schemas.openxmlformats.org/officeDocument/2006/relationships/slide" Target="/ppt/slides/slide2.xml" Id="Rfe95d7ef4151452f" /><Relationship Type="http://schemas.openxmlformats.org/officeDocument/2006/relationships/slide" Target="/ppt/slides/slide3.xml" Id="Ra2a6499cf6c64a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bf49009c8c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fa29eb2c604336" /><Relationship Type="http://schemas.openxmlformats.org/officeDocument/2006/relationships/notesMaster" Target="/ppt/notesMasters/notesMaster1.xml" Id="R2d3c22f85c654e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02e0ce902f43b7" /><Relationship Type="http://schemas.openxmlformats.org/officeDocument/2006/relationships/notesMaster" Target="/ppt/notesMasters/notesMaster1.xml" Id="R5fcfcc64b49442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3d030fce16444d" /><Relationship Type="http://schemas.openxmlformats.org/officeDocument/2006/relationships/notesMaster" Target="/ppt/notesMasters/notesMaster1.xml" Id="Re67270aa462c45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本ページは DEV、TEST、PROD の区分に依存しない基本コンポーネントと通信関係のみを示しており、最終的な環境設計を表すものではありません。</a:t>
            </a:r>
          </a:p>
          <a:p xmlns:a="http://schemas.openxmlformats.org/drawingml/2006/main">
            <a:r>
              <a:t>- Horizontal Discovery は MID Server から対象へアクセスします。ACC は Agent から MID Server へ WebSocket 接続を確立します。Azure Cloud Discovery は Azure API を通じてクラウド側のリソース情報を取得します。</a:t>
            </a:r>
          </a:p>
          <a:p xmlns:a="http://schemas.openxmlformats.org/drawingml/2006/main">
            <a:r>
              <a:t>- 環境数、Subscription、Resource Group、VNet/Subnet、MID Server の台数、権限境界は、後続の設計段階で確認する必要があります。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は ID ディレクトリの基盤です。本ページの 4 階層は Azure Resource Manager が公式に定義する管理スコープです。</a:t>
            </a:r>
          </a:p>
          <a:p xmlns:a="http://schemas.openxmlformats.org/drawingml/2006/main">
            <a:r>
              <a:t>- Management Group は複数 Subscription を横断したガバナンスに利用します。Subscription はリソース利用、課金、クォータ、アクセス制御の重要な境界です。</a:t>
            </a:r>
          </a:p>
          <a:p xmlns:a="http://schemas.openxmlformats.org/drawingml/2006/main">
            <a:r>
              <a:t>- Resource Group はライフサイクルが近い関連リソースを管理します。Resource は VM、VNet、Disk、NIC などの実体です。</a:t>
            </a:r>
          </a:p>
          <a:p xmlns:a="http://schemas.openxmlformats.org/drawingml/2006/main">
            <a:r>
              <a:t>- Cloud Discovery 用の App registration と Service Principal は Microsoft Entra Tenant に属します。Azure RBAC により対象 Subscription へアクセス権限を割り当て、その配下の Resource Group と Resource を参照します。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本ページは用語の早見表であり、各製品の正式な定義や設計書に代わるものではありません。</a:t>
            </a:r>
          </a:p>
          <a:p xmlns:a="http://schemas.openxmlformats.org/drawingml/2006/main">
            <a:r>
              <a:t>- Azure の固有名詞は Microsoft の公式英語名称を残し、報告で理解しやすい日本語の意味を括弧内に記載しています。</a:t>
            </a:r>
          </a:p>
          <a:p xmlns:a="http://schemas.openxmlformats.org/drawingml/2006/main">
            <a:r>
              <a:t>- ServiceNow と通信プロトコルの用語は別区分とし、Azure ネイティブ リソースとの混同を避けています。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d51b7669d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86362d02140f8" /><Relationship Type="http://schemas.openxmlformats.org/officeDocument/2006/relationships/slideLayout" Target="/ppt/slideLayouts/slideLayout1.xml" Id="Rb6f73fd8c8bc49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f73fd8c8bc49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f40729b1a4916" /><Relationship Type="http://schemas.openxmlformats.org/officeDocument/2006/relationships/notesSlide" Target="/ppt/notesSlides/notesSlide1.xml" Id="R2f29eec5864f4f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9c640bbb4745" /><Relationship Type="http://schemas.openxmlformats.org/officeDocument/2006/relationships/image" Target="/ppt/media/image.png" Id="Rdc8a144b0c4e43e0" /><Relationship Type="http://schemas.openxmlformats.org/officeDocument/2006/relationships/notesSlide" Target="/ppt/notesSlides/notesSlide2.xml" Id="R4394d289d5ff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b031a723f444e" /><Relationship Type="http://schemas.openxmlformats.org/officeDocument/2006/relationships/notesSlide" Target="/ppt/notesSlides/notesSlide3.xml" Id="R075d0f5f7dbb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23D88-DEC7-47D6-B22A-CE20095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01｜構成図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41A10-62AE-4475-96C2-12E7FAA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PC2.0 Azure / ServiceNow ITOM（IT 運用管理）基本構成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A74E7-23B7-4D2E-8462-727A732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本ページはコンポーネントと通信関係のみを示します。環境数、Subscription（サブスクリプション）、Resource Group（リソース グループ）、VNet/Subnet（仮想ネットワーク／サブネット）の分割方針は未確定です。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A29B7-AF22-4026-B462-6F309820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3ED2E-CC1C-485B-80FE-72591779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9867B-036C-413E-BA7F-303496EB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445D"/>
          </a:solidFill>
          <a:ln xmlns:a="http://schemas.openxmlformats.org/drawingml/2006/main" w="9525">
            <a:solidFill>
              <a:srgbClr val="29445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077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インスタンスとの対応関係は別途確認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9F0C2-04DD-4D7A-B4E9-F19BFCF7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7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</a:t>
            </a:r>
          </a:p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MID Server から対象へアクセス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972E8-2107-4744-8728-D73FE49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8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Agent Client Collector（エージェント収集機能）</a:t>
            </a:r>
          </a:p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ACC Agent から MID Server 経由で送信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A6AF1-B9CF-4291-B606-588C7B29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F4F5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86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Cloud Discovery（Azure クラウドディスカバリ）</a:t>
            </a:r>
          </a:p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API 経由でクラウドリソースを取得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D6D63-A1F5-41C3-9193-70FD007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536B1-2ECE-46C6-9B15-EE4F8154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6C960-DFBA-40A7-BB8A-EC65634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792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E106E-7BFB-4850-9BA3-0ACB6EB1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3DDDF-C25E-48BE-8454-59D1B27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908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Microsoft Entra Tenant（ID テナント）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Subscription（サブスクリプション）：範囲は要確認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00104-CCC9-4018-AAA1-797D964C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RBAC（ロールベース アクセス制御）｜Tag（タグ）｜Azure Policy（ポリシー）｜Azure Monitor（監視）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FDC8E-0710-4242-A4BF-636B02E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 API（リソース管理 API）</a:t>
            </a:r>
          </a:p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D6B2B-62D5-4753-9DCF-D3B0605B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4E501-2C03-4B54-B72E-D29B564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の管理・ネットワーク範囲（数、名称、境界は要確認）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E8E18-05DB-4E42-ACE0-833E276D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Server（中間サーバー）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Discovery（水平ディスカバリ）を実行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データを受信し ServiceNow へ転送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台数・設定：要確認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56ABC-D69B-4043-B4EF-57B78A90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管理対象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Windows / Linux / Network Device（ネットワーク機器）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Agent（ACC エージェント、適用可能な対象）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対象リソース一覧：要確認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A0856-EF1A-4AAC-81E0-73C709F4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95A99-94AB-4127-A708-ABB2D5F1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60D6D-8759-4800-8030-F661C4F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68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オプションの共通コンポーネント：Palo Alto（ファイアウォール）/ NSG（ネットワーク セキュリティ グループ）/ Route Table（ルート テーブル）/ Azure Bastion（安全な接続）/ Log Analytics（ログ分析）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DC234-664F-47C3-8EAE-186707A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今後の確認事項：環境数｜Subscription（サブスクリプション）/ Resource Group（リソース グループ）/ VNet（仮想ネットワーク）/ Subnet（サブネット）の区分｜MID 台数｜権限と Credential（認証情報）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9260E-03F2-4DF8-BBC2-D72EB24C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27F1A-95EB-49CB-A70C-541AFF5A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3578D-82B4-4F24-A381-CC2FD587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8020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644E0-E3FF-448C-B7F4-8A82920E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02｜Azure 管理階層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48160-B1B7-4A62-A558-7D36D4E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各階層の定義・含まれるもの・管理対象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B560D-4728-4C2F-8D14-B536885E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Microsoft では 4 つの Management Scope（管理スコープ）を定義しており、下位階層は上位で設定された Azure RBAC（ロールベース アクセス制御）と Azure Policy（ポリシー）を継承します。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13768-01A2-41C0-947B-3F3E9E58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F8B1B-536B-4E13-9A5C-9C1AAAD2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Tenant（ID テナント）：Azure の User（ユーザー）、Group（グループ）、App registration（アプリ登録）、Service Principal（サービス プリンシパル）を一元管理し、Cloud Discovery 用の App ID もここに作成します。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C2156-C0D1-4711-817B-837BCDA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1  Management Group（管理グループ）｜複数 Subscription のガバナンス階層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定義：Subscription の上位に位置する Management Scope（管理スコープ）で、複数の Subscription を統合管理します。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含まれるもの：子 Management Group、Subscription　管理対象：Azure RBAC / Azure Policy / Compliance（コンプライアンス）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PC2.0：カスタム Management Group を設定するか要確認。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A6A19-504B-4E28-B36C-0753368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2  Subscription（サブスクリプション）｜課金、Quota（クォータ）、権限の境界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定義：Azure リソースの利用、料金、クォータ、アクセス制御に関する重要な範囲です。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含まれるもの：Resource Group（リソース グループ）、Subscription レベルのリソースと設定　PC2.0：数と範囲は要確認。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F052-15F2-4B65-97E9-A5FFC061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3  Resource Group（リソース グループ）｜Lifecycle（ライフサイクル）管理用コンテナー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定義：同じソリューションやライフサイクルを持つ関連 Resource（リソース）をまとめて管理します。各 Resource が所属できる Resource Group は 1 つです。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含まれるもの：VM、VNet、Disk、NIC、NSG など　PC2.0：数と命名は要確認。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496CF-D923-4F5D-B18D-A100F98F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  Resource（リソース）｜実際に作成・稼働する対象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定義：Azure 上で作成、更新、削除、監視できる具体的な管理対象です。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Compute：VM（仮想マシン）/ Disk（ディスク）　Network：VNet（仮想ネットワーク）/ Subnet（サブネット）/ NIC（ネットワーク インターフェイス）/ NSG（ネットワーク セキュリティ グループ）/ Route Table（ルート テーブル）/ Public IP（パブリック IP）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Operations：Key Vault（キー管理）/ Log Analytics（ログ分析）/ Azure Bastion（安全な接続サービス）。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0DBD6-AB10-4C61-A166-3477CB49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Microsoft 公式の階層図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D6163-6955-473B-B251-E7DC30EB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a144b0c4e43e0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F8309-54A8-4899-9122-72B122CE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Cloud Discovery App の所属と権限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42026-CCF8-4B94-8452-840C5691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124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7179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  <a:p xmlns:a="http://schemas.openxmlformats.org/drawingml/2006/main">
            <a:pPr algn="ctr">
              <a:def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App registration → Service Principal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2CC7A-2F3D-46AD-A505-E73BF72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143500"/>
            <a:ext cx="2857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82244-1F3A-441F-B4B9-5B1DA226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95900"/>
            <a:ext cx="2476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76200" tIns="9525" rIns="76200" bIns="9525" anchor="ctr">
            <a:normAutofit fontScale="90279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RBAC Role Assignment（アクセス権限の割り当て）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41DA4-FB49-4D67-98D9-633AB5D9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524500"/>
            <a:ext cx="2857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416BF-E0E6-4AEF-BB79-E2A5B97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7690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8662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Subscription（PoC 対象範囲）</a:t>
            </a:r>
          </a:p>
          <a:p xmlns:a="http://schemas.openxmlformats.org/drawingml/2006/main">
            <a:pPr algn="ctr">
              <a:def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 → Resource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6962C-F2A4-41A9-A448-D1433D23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継承方向：Management Group（管理グループ）→ Subscription（サブスクリプション）→ Resource Group（リソース グループ）→ Resource（リソース）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74B19-0288-4D2A-8345-21AD4B9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出典：Microsoft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0810E-8551-4196-A492-0B60EF69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33F0F-3E46-4FC9-9FA2-953B9E5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89F23-896F-413E-BA8E-EB9745AC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0790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CD531-D6B4-4412-816C-EC45AE5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03｜用語集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8433D-D0D1-4002-A948-5A0EAACE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/ ServiceNow 用語早見表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8BA8E-04A3-4B62-9FFB-F9704A3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表記方針：English official name（日本語の意味）。IT に詳しくない方にも伝わる説明を優先しています。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6062-788B-4D1F-AEBA-A08DF5E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B9580-8F5F-48F4-B526-20FBC1E3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IDENTITY &amp; SCOPE｜ID と管理スコープ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Tenant（ID テナント）：Azure の ID ディレクトリと管理境界。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User / Group（ユーザー / グループ）：ユーザー アカウントとその集合。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 Principal（サービス プリンシパル）：プログラムや外部システムが Azure にアクセスするための非対話型 ID。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Group（管理グループ）：Subscription の上位で権限とポリシーを統合管理する単位。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Subscription（サブスクリプション）：課金、クォータ、権限、リソース管理の重要な範囲。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Group（リソース グループ）：ライフサイクルが近い Resource をまとめる管理単位。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Resource（リソース）：Azure 上で実際に作成・管理する対象。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FE91B-4FBB-4125-A19A-26588C5D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GOVERNANCE &amp; OPERATIONS｜ガバナンスと運用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Manager（リソース マネージャー）：Azure リソースの管理要求を一元的に受け付けて処理する仕組み。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Provider（リソース プロバイダー）：特定種類の Azure Resource を提供するサービス。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RBAC（ロールベース アクセス制御）：誰が、どの範囲で、何を実行できるかを決める仕組み。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Policy（ポリシー）：リソースが組織ルールに適合しているか確認・制限する仕組み。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Tag（タグ）：検索や費用整理のためにリソースへ付ける分類情報。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Monitor（監視）：Azure の監視データを収集・分析するサービス。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Log Analytics Workspace（ログ分析ワークスペース）：ログを集約して保存・検索する領域。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Key Vault（キー コンテナー）：パスワード、キー、証明書を安全に保管するサービス。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C8EDF-0237-4358-927C-A7357CB5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NETWORK &amp; COMPUTE｜ネットワークとコンピュート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VNet / Virtual Network（仮想ネットワーク）：Azure 上で分離されたプライベート ネットワークの範囲。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Subnet（サブネット）：VNet 内をさらに分割したアドレス範囲。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NIC / Network Interface（ネットワーク インターフェイス）：VM を Subnet に接続する仮想 NIC。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NSG / Network Security Group（ネットワーク セキュリティ グループ）：ルールに基づいてネットワーク通信を許可または拒否する仕組み。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Route Table（ルート テーブル）：ネットワーク通信の次の転送先を定める設定。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Public IP（パブリック IP）：インターネットからアクセス可能な IP アドレス。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VM / Virtual Machine（仮想マシン）：Windows または Linux を実行するクラウド サーバー。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Managed Disk（マネージド ディスク）：VM が使用する Azure 管理のディスク。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Bastion（安全な接続サービス）：Azure Portal から VM へ安全に接続するサービス。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781A9-9A38-4478-9AD9-CC992C32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SERVICENOW &amp; PROTOCOLS｜ServiceNow と通信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Server（中間サーバー）：ServiceNow と管理対象環境を接続するコンポーネント。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Discovery（水平ディスカバリ）：IP 範囲を起点にホストやネットワーク機器を検出する方式。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Cloud Discovery（Azure クラウドディスカバリ）：Azure API を通じてクラウドリソース情報を取得する方式。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/ Agent Client Collector（エージェント収集機能）：対象上の Agent が情報を収集して送信する仕組み。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Credential（認証情報）：Discovery が対象へログインするためのアカウントやキーなど。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SSH：Linux へのリモートアクセスで一般的に使用。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WMI：Windows の管理情報取得で一般的に使用。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SNMP：ネットワーク機器の検出で一般的に使用。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WSS：ACC と MID Server 間で使用する暗号化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5BD64-81F6-43E4-A5B7-D51341D7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利用上の注意：報告資料では英語名 + 日本語表記を使用し、実際の設定画面、アカウント申請、手順書では英語名を基準とします。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9C598-43A8-4CE6-8208-9E090049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84DA2-0812-4B47-9056-8B8E71E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C14CB-B63A-4B05-9787-1A6C455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4082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2026-09-03T07:40:10.2360000Z</dcterms:created>
  <dcterms:modified xsi:type="dcterms:W3CDTF">2026-09-03T07:40:10.2360000Z</dcterms:modified>
</coreProperties>
</file>