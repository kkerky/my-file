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ebaad1ed3cf48e8" /><Relationship Type="http://schemas.openxmlformats.org/officeDocument/2006/relationships/extended-properties" Target="/docProps/app.xml" Id="R31a706d4ca514069" /><Relationship Type="http://schemas.openxmlformats.org/officeDocument/2006/relationships/officeDocument" Target="/ppt/presentation.xml" Id="R3dc5aee9c897466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e3cf53b48234e2e"/>
  </p:sldMasterIdLst>
  <p:notesMasterIdLst>
    <p:notesMasterId xmlns:r="http://schemas.openxmlformats.org/officeDocument/2006/relationships" r:id="R9a4c4a6973224b87"/>
  </p:notesMasterIdLst>
  <p:sldIdLst>
    <p:sldId xmlns:r="http://schemas.openxmlformats.org/officeDocument/2006/relationships" id="256" r:id="R84d7b309e94b4577"/>
    <p:sldId xmlns:r="http://schemas.openxmlformats.org/officeDocument/2006/relationships" id="257" r:id="R2c80896284bd48fa"/>
    <p:sldId xmlns:r="http://schemas.openxmlformats.org/officeDocument/2006/relationships" id="258" r:id="Rbc69a105ffa349b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c7d49d5bf654cb7" /><Relationship Type="http://schemas.openxmlformats.org/officeDocument/2006/relationships/slideMaster" Target="/ppt/slideMasters/slideMaster1.xml" Id="R7e3cf53b48234e2e" /><Relationship Type="http://schemas.openxmlformats.org/officeDocument/2006/relationships/notesMaster" Target="/ppt/notesMasters/notesMaster1.xml" Id="R9a4c4a6973224b87" /><Relationship Type="http://schemas.openxmlformats.org/officeDocument/2006/relationships/presProps" Target="/ppt/presProps.xml" Id="Ra4348eb214614b83" /><Relationship Type="http://schemas.openxmlformats.org/officeDocument/2006/relationships/tableStyles" Target="/ppt/tableStyles.xml" Id="R4c5ec202b9b4428e" /><Relationship Type="http://schemas.openxmlformats.org/officeDocument/2006/relationships/slide" Target="/ppt/slides/slide1.xml" Id="R84d7b309e94b4577" /><Relationship Type="http://schemas.openxmlformats.org/officeDocument/2006/relationships/slide" Target="/ppt/slides/slide2.xml" Id="R2c80896284bd48fa" /><Relationship Type="http://schemas.openxmlformats.org/officeDocument/2006/relationships/slide" Target="/ppt/slides/slide3.xml" Id="Rbc69a105ffa349b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4f7298dd0f8472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902a232d0ef4444" /><Relationship Type="http://schemas.openxmlformats.org/officeDocument/2006/relationships/notesMaster" Target="/ppt/notesMasters/notesMaster1.xml" Id="R6209ab831e3d4cc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85d17066d054630" /><Relationship Type="http://schemas.openxmlformats.org/officeDocument/2006/relationships/notesMaster" Target="/ppt/notesMasters/notesMaster1.xml" Id="R5438ff6c0aae4ab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e10ac74c0d04654" /><Relationship Type="http://schemas.openxmlformats.org/officeDocument/2006/relationships/notesMaster" Target="/ppt/notesMasters/notesMaster1.xml" Id="R392f84e25f6347e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[Presenter Notes]</a:t>
            </a:r>
          </a:p>
          <a:p xmlns:a="http://schemas.openxmlformats.org/drawingml/2006/main">
            <a:r>
              <a:t>- 本页只表示不依赖 DEV、TEST、PROD 划分的基本组件和通信关系，不代表最终环境设计。</a:t>
            </a:r>
          </a:p>
          <a:p xmlns:a="http://schemas.openxmlformats.org/drawingml/2006/main">
            <a:r>
              <a:t>- Horizontal Discovery 由 MID 主动访问目标；ACC 由 Agent 建立到 MID 的 WebSocket 连接；Azure Cloud Discovery 通过 Azure API 获取云侧资源信息。</a:t>
            </a:r>
          </a:p>
          <a:p xmlns:a="http://schemas.openxmlformats.org/drawingml/2006/main">
            <a:r>
              <a:t>- 环境数量、Subscription、Resource Group、VNet/Subnet、MID 数量以及权限边界需要在后续设计阶段确认。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https://learn.microsoft.com/en-us/azure/azure-resource-manager/management/overview</a:t>
            </a:r>
          </a:p>
          <a:p xmlns:a="http://schemas.openxmlformats.org/drawingml/2006/main">
            <a:r>
              <a:t>- https://learn.microsoft.com/en-us/azure/networking/design-guide/vnets-subnets</a:t>
            </a:r>
          </a:p>
          <a:p xmlns:a="http://schemas.openxmlformats.org/drawingml/2006/main">
            <a:r>
              <a:t>- https://www.servicenow.com/docs/r/it-operations-management/discovery/t_CreateADiscoverySchedule.html</a:t>
            </a:r>
          </a:p>
          <a:p xmlns:a="http://schemas.openxmlformats.org/drawingml/2006/main">
            <a:r>
              <a:t>- https://www.servicenow.com/docs/r/it-operations-management/agent-client-collector/acc-server-deployment.html</a:t>
            </a:r>
          </a:p>
          <a:p xmlns:a="http://schemas.openxmlformats.org/drawingml/2006/main">
            <a:r>
              <a:t>- https://www.servicenow.com/docs/r/it-operations-management/discovery/azure-cloud-discovery.html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[Presenter Notes]</a:t>
            </a:r>
          </a:p>
          <a:p xmlns:a="http://schemas.openxmlformats.org/drawingml/2006/main">
            <a:r>
              <a:t>- Microsoft Entra Tenant 是身份目录基础；本页主体的四层是 Azure Resource Manager 官方定义的管理作用域。</a:t>
            </a:r>
          </a:p>
          <a:p xmlns:a="http://schemas.openxmlformats.org/drawingml/2006/main">
            <a:r>
              <a:t>- Management Group 用于跨 Subscription 的治理；Subscription 是资源使用、计费、配额和访问控制的重要边界。</a:t>
            </a:r>
          </a:p>
          <a:p xmlns:a="http://schemas.openxmlformats.org/drawingml/2006/main">
            <a:r>
              <a:t>- Resource Group 管理生命周期相近的相关资源；Resource 是 VM、VNet、Disk、NIC 等实际对象。</a:t>
            </a:r>
          </a:p>
          <a:p xmlns:a="http://schemas.openxmlformats.org/drawingml/2006/main">
            <a:r>
              <a:t>- Resource Manager 接收 Portal、CLI、PowerShell、REST 或 SDK 请求，完成身份验证和授权，再把请求转发给对应 Azure 服务。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https://learn.microsoft.com/en-us/azure/azure-resource-manager/management/overview</a:t>
            </a:r>
          </a:p>
          <a:p xmlns:a="http://schemas.openxmlformats.org/drawingml/2006/main">
            <a:r>
              <a:t>- https://learn.microsoft.com/en-us/azure/governance/management-groups/overview</a:t>
            </a:r>
          </a:p>
          <a:p xmlns:a="http://schemas.openxmlformats.org/drawingml/2006/main">
            <a:r>
              <a:t>- https://learn.microsoft.com/en-us/azure/azure-resource-manager/management/media/overview/scope-levels.png</a:t>
            </a:r>
          </a:p>
          <a:p xmlns:a="http://schemas.openxmlformats.org/drawingml/2006/main">
            <a:r>
              <a:t>- https://learn.microsoft.com/en-us/azure/azure-resource-manager/management/media/overview/consistent-management-layer.png</a:t>
            </a:r>
          </a:p>
          <a:p xmlns:a="http://schemas.openxmlformats.org/drawingml/2006/main">
            <a:r>
              <a:t>- https://learn.microsoft.com/en-us/azure/networking/design-guide/vnets-subnets</a:t>
            </a:r>
          </a:p>
          <a:p xmlns:a="http://schemas.openxmlformats.org/drawingml/2006/main">
            <a:r>
              <a:t>- https://www.servicenow.com/docs/r/it-operations-management/discovery/t_CreateADiscoverySchedule.html</a:t>
            </a:r>
          </a:p>
          <a:p xmlns:a="http://schemas.openxmlformats.org/drawingml/2006/main">
            <a:r>
              <a:t>- https://www.servicenow.com/docs/r/it-operations-management/agent-client-collector/acc-server-deployment.html</a:t>
            </a:r>
          </a:p>
          <a:p xmlns:a="http://schemas.openxmlformats.org/drawingml/2006/main">
            <a:r>
              <a:t>- https://www.servicenow.com/docs/r/it-operations-management/discovery/azure-cloud-discovery.html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[Presenter Notes]</a:t>
            </a:r>
          </a:p>
          <a:p xmlns:a="http://schemas.openxmlformats.org/drawingml/2006/main">
            <a:r>
              <a:t>- 本页是术语速查，不用于替代各产品的完整定义或设计文档。</a:t>
            </a:r>
          </a:p>
          <a:p xmlns:a="http://schemas.openxmlformats.org/drawingml/2006/main">
            <a:r>
              <a:t>- Azure 专有名词优先保留 Microsoft 官方英文名称，并用括号给出便于汇报的中文含义。</a:t>
            </a:r>
          </a:p>
          <a:p xmlns:a="http://schemas.openxmlformats.org/drawingml/2006/main">
            <a:r>
              <a:t>- ServiceNow 和通信协议术语单独列出，避免被误认为 Azure 原生资源。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https://learn.microsoft.com/en-us/azure/azure-resource-manager/management/overview</a:t>
            </a:r>
          </a:p>
          <a:p xmlns:a="http://schemas.openxmlformats.org/drawingml/2006/main">
            <a:r>
              <a:t>- https://learn.microsoft.com/en-us/azure/governance/management-groups/overview</a:t>
            </a:r>
          </a:p>
          <a:p xmlns:a="http://schemas.openxmlformats.org/drawingml/2006/main">
            <a:r>
              <a:t>- https://learn.microsoft.com/en-us/azure/role-based-access-control/overview</a:t>
            </a:r>
          </a:p>
          <a:p xmlns:a="http://schemas.openxmlformats.org/drawingml/2006/main">
            <a:r>
              <a:t>- https://learn.microsoft.com/en-us/azure/governance/policy/overview</a:t>
            </a:r>
          </a:p>
          <a:p xmlns:a="http://schemas.openxmlformats.org/drawingml/2006/main">
            <a:r>
              <a:t>- https://learn.microsoft.com/en-us/azure/networking/design-guide/vnets-subnets</a:t>
            </a:r>
          </a:p>
          <a:p xmlns:a="http://schemas.openxmlformats.org/drawingml/2006/main">
            <a:r>
              <a:t>- https://learn.microsoft.com/en-us/azure/azure-monitor/fundamentals/overview</a:t>
            </a:r>
          </a:p>
          <a:p xmlns:a="http://schemas.openxmlformats.org/drawingml/2006/main">
            <a:r>
              <a:t>- https://learn.microsoft.com/en-us/azure/bastion/bastion-overview</a:t>
            </a:r>
          </a:p>
          <a:p xmlns:a="http://schemas.openxmlformats.org/drawingml/2006/main">
            <a:r>
              <a:t>- https://www.servicenow.com/docs/r/it-operations-management/discovery/t_CreateADiscoverySchedule.html</a:t>
            </a:r>
          </a:p>
          <a:p xmlns:a="http://schemas.openxmlformats.org/drawingml/2006/main">
            <a:r>
              <a:t>- https://www.servicenow.com/docs/r/it-operations-management/agent-client-collector/acc-server-deployment.html</a:t>
            </a:r>
          </a:p>
          <a:p xmlns:a="http://schemas.openxmlformats.org/drawingml/2006/main">
            <a:r>
              <a:t>- https://www.servicenow.com/docs/r/it-operations-management/discovery/azure-cloud-discovery.html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c2e6ee88197418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9446a74e60f4f28" /><Relationship Type="http://schemas.openxmlformats.org/officeDocument/2006/relationships/slideLayout" Target="/ppt/slideLayouts/slideLayout1.xml" Id="R32b12ea54e294cb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2b12ea54e294cb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bae7c7bf174651" /><Relationship Type="http://schemas.openxmlformats.org/officeDocument/2006/relationships/notesSlide" Target="/ppt/notesSlides/notesSlide1.xml" Id="Ra3449672918e4fc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7b2ce63a9c4ad5" /><Relationship Type="http://schemas.openxmlformats.org/officeDocument/2006/relationships/image" Target="/ppt/media/image.png" Id="Rda68b4f264934094" /><Relationship Type="http://schemas.openxmlformats.org/officeDocument/2006/relationships/notesSlide" Target="/ppt/notesSlides/notesSlide2.xml" Id="R9bc30f9ebe0c441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addbd1dc984f07" /><Relationship Type="http://schemas.openxmlformats.org/officeDocument/2006/relationships/notesSlide" Target="/ppt/notesSlides/notesSlide3.xml" Id="Re7c65f4810144eb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974C839-3776-419F-88A9-07B259FEA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78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078D4"/>
                </a:solidFill>
                <a:latin typeface="Microsoft YaHei"/>
                <a:ea typeface="Microsoft YaHei"/>
                <a:cs typeface="Microsoft YaHei"/>
              </a:rPr>
              <a:t>01｜构成图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796399-8925-4B5F-B934-4FA8E6BFC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3875"/>
            <a:ext cx="11125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rPr>
              <a:t>PC2.0 Azure / ServiceNow ITOM（IT 运维管理）基本构成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513E6B-409B-4532-BCC9-ABBB0302D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81075"/>
            <a:ext cx="11125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65B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465B6C"/>
                </a:solidFill>
                <a:latin typeface="Microsoft YaHei"/>
                <a:ea typeface="Microsoft YaHei"/>
                <a:cs typeface="Microsoft YaHei"/>
              </a:rPr>
              <a:t>本页只说明组件与通信关系；环境数量、Subscription（订阅）、Resource Group（资源组）和 VNet/Subnet（虚拟网络/子网）划分尚未确定。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2F56EA-CC5D-4EF2-B7D3-3E4104C5F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33500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4EAF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DDE353-95BE-45A6-A6E7-9A1D3CA77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809750"/>
            <a:ext cx="2019300" cy="3314700"/>
          </a:xfrm>
          <a:prstGeom xmlns:a="http://schemas.openxmlformats.org/drawingml/2006/main" prst="roundRect">
            <a:avLst>
              <a:gd name="adj" fmla="val 5660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0B1F3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C9C4F7-24B8-4DA6-9AF5-56B0CAC50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71675"/>
            <a:ext cx="16764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17324C"/>
          </a:solidFill>
          <a:ln xmlns:a="http://schemas.openxmlformats.org/drawingml/2006/main" w="9525">
            <a:solidFill>
              <a:srgbClr val="17324C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rmAutofit fontScale="8875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ServiceNow ITOM</a:t>
            </a:r>
          </a:p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实例对应关系另行确认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9DE3DB-ED5F-4D4A-A5F4-CF3BC726C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62250"/>
            <a:ext cx="16764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D9EDFA"/>
          </a:solidFill>
          <a:ln xmlns:a="http://schemas.openxmlformats.org/drawingml/2006/main" w="9525">
            <a:solidFill>
              <a:srgbClr val="D9EDFA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05A9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005A9E"/>
                </a:solidFill>
                <a:latin typeface="Microsoft YaHei"/>
                <a:ea typeface="Microsoft YaHei"/>
                <a:cs typeface="Microsoft YaHei"/>
              </a:rPr>
              <a:t>Horizontal Discovery（水平发现）</a:t>
            </a:r>
          </a:p>
          <a:p xmlns:a="http://schemas.openxmlformats.org/drawingml/2006/main">
            <a:pPr algn="ctr">
              <a:defRPr sz="825" b="1">
                <a:solidFill>
                  <a:srgbClr val="005A9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005A9E"/>
                </a:solidFill>
                <a:latin typeface="Microsoft YaHei"/>
                <a:ea typeface="Microsoft YaHei"/>
                <a:cs typeface="Microsoft YaHei"/>
              </a:rPr>
              <a:t>MID Server 主动访问目标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47D7AB-9035-437D-8F50-1864E6EEF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0"/>
            <a:ext cx="16764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5F2DE"/>
          </a:solidFill>
          <a:ln xmlns:a="http://schemas.openxmlformats.org/drawingml/2006/main" w="9525">
            <a:solidFill>
              <a:srgbClr val="E5F2DE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4F9E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4F9E32"/>
                </a:solidFill>
                <a:latin typeface="Microsoft YaHei"/>
                <a:ea typeface="Microsoft YaHei"/>
                <a:cs typeface="Microsoft YaHei"/>
              </a:rPr>
              <a:t>Agent Client Collector（代理客户端收集器）</a:t>
            </a:r>
          </a:p>
          <a:p xmlns:a="http://schemas.openxmlformats.org/drawingml/2006/main">
            <a:pPr algn="ctr">
              <a:defRPr sz="750" b="1">
                <a:solidFill>
                  <a:srgbClr val="4F9E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4F9E32"/>
                </a:solidFill>
                <a:latin typeface="Microsoft YaHei"/>
                <a:ea typeface="Microsoft YaHei"/>
                <a:cs typeface="Microsoft YaHei"/>
              </a:rPr>
              <a:t>ACC Agent 经 MID Server 回传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841DAB-0630-42A9-9DB0-1F4EEF801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0"/>
            <a:ext cx="16764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DE9C8"/>
          </a:solidFill>
          <a:ln xmlns:a="http://schemas.openxmlformats.org/drawingml/2006/main" w="9525">
            <a:solidFill>
              <a:srgbClr val="FDE9C8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E98B0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E98B0C"/>
                </a:solidFill>
                <a:latin typeface="Microsoft YaHei"/>
                <a:ea typeface="Microsoft YaHei"/>
                <a:cs typeface="Microsoft YaHei"/>
              </a:rPr>
              <a:t>Azure Cloud Discovery（Azure 云发现）</a:t>
            </a:r>
          </a:p>
          <a:p xmlns:a="http://schemas.openxmlformats.org/drawingml/2006/main">
            <a:pPr algn="ctr">
              <a:defRPr sz="750" b="1">
                <a:solidFill>
                  <a:srgbClr val="E98B0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E98B0C"/>
                </a:solidFill>
                <a:latin typeface="Microsoft YaHei"/>
                <a:ea typeface="Microsoft YaHei"/>
                <a:cs typeface="Microsoft YaHei"/>
              </a:rPr>
              <a:t>通过 Azure API 取得云资源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5CC32C5-C0D8-4F35-ADC7-6DB2C1FCC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2876550"/>
            <a:ext cx="7239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78D4"/>
          </a:solidFill>
          <a:ln xmlns:a="http://schemas.openxmlformats.org/drawingml/2006/main" w="9525">
            <a:solidFill>
              <a:srgbClr val="0078D4"/>
            </a:solidFill>
            <a:prstDash val="solid"/>
          </a:ln>
        </p:spPr>
        <p:txBody>
          <a:bodyPr xmlns:a="http://schemas.openxmlformats.org/drawingml/2006/main" wrap="square" lIns="19050" tIns="9525" rIns="1143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Discovery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095624F-6CAB-4F44-8196-9D87FCEA7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3638550"/>
            <a:ext cx="723900" cy="228600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4F9E32"/>
          </a:solidFill>
          <a:ln xmlns:a="http://schemas.openxmlformats.org/drawingml/2006/main" w="9525">
            <a:solidFill>
              <a:srgbClr val="4F9E32"/>
            </a:solidFill>
            <a:prstDash val="solid"/>
          </a:ln>
        </p:spPr>
        <p:txBody>
          <a:bodyPr xmlns:a="http://schemas.openxmlformats.org/drawingml/2006/main" wrap="square" lIns="114300" tIns="9525" rIns="19050" bIns="9525" anchor="ctr">
            <a:normAutofit fontScale="92593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ACC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7E4D5D8-8594-4A6B-904F-24B1BB5A9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4400550"/>
            <a:ext cx="7239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98B0C"/>
          </a:solidFill>
          <a:ln xmlns:a="http://schemas.openxmlformats.org/drawingml/2006/main" w="9525">
            <a:solidFill>
              <a:srgbClr val="E98B0C"/>
            </a:solidFill>
            <a:prstDash val="solid"/>
          </a:ln>
        </p:spPr>
        <p:txBody>
          <a:bodyPr xmlns:a="http://schemas.openxmlformats.org/drawingml/2006/main" wrap="square" lIns="19050" tIns="9525" rIns="1143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Cloud API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947B180-2B54-4875-9B62-709FDB63A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543050"/>
            <a:ext cx="8401050" cy="4019550"/>
          </a:xfrm>
          <a:prstGeom xmlns:a="http://schemas.openxmlformats.org/drawingml/2006/main" prst="roundRect">
            <a:avLst>
              <a:gd name="adj" fmla="val 2844"/>
            </a:avLst>
          </a:prstGeom>
          <a:solidFill xmlns:a="http://schemas.openxmlformats.org/drawingml/2006/main">
            <a:srgbClr val="EAF5FD"/>
          </a:solidFill>
          <a:ln xmlns:a="http://schemas.openxmlformats.org/drawingml/2006/main" w="9525">
            <a:solidFill>
              <a:srgbClr val="0078D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4BD75C0-09ED-487B-87C8-73A32D30F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1657350"/>
            <a:ext cx="23241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78D4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05A9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05A9E"/>
                </a:solidFill>
                <a:latin typeface="Microsoft YaHei"/>
                <a:ea typeface="Microsoft YaHei"/>
                <a:cs typeface="Microsoft YaHei"/>
              </a:rPr>
              <a:t>Microsoft Entra Tenant（身份租户）</a:t>
            </a:r>
          </a:p>
          <a:p xmlns:a="http://schemas.openxmlformats.org/drawingml/2006/main">
            <a:pPr algn="ctr">
              <a:defRPr sz="975" b="1">
                <a:solidFill>
                  <a:srgbClr val="005A9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05A9E"/>
                </a:solidFill>
                <a:latin typeface="Microsoft YaHei"/>
                <a:ea typeface="Microsoft YaHei"/>
                <a:cs typeface="Microsoft YaHei"/>
              </a:rPr>
              <a:t>Subscription（订阅）：范围待确认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E734E47-E5B8-41BD-B042-E83BADD6E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847850"/>
            <a:ext cx="327660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5F7F9"/>
          </a:solidFill>
          <a:ln xmlns:a="http://schemas.openxmlformats.org/drawingml/2006/main" w="9525">
            <a:solidFill>
              <a:srgbClr val="E4EAF0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rmAutofit fontScale="97141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465B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465B6C"/>
                </a:solidFill>
                <a:latin typeface="Microsoft YaHei"/>
                <a:ea typeface="Microsoft YaHei"/>
                <a:cs typeface="Microsoft YaHei"/>
              </a:rPr>
              <a:t>Azure RBAC（角色权限）｜Tag（标签）｜Azure Policy（策略）｜Azure Monitor（监控）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E3AA735-26B0-4434-A935-47E2C778C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1790700"/>
            <a:ext cx="20193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3D6"/>
          </a:solidFill>
          <a:ln xmlns:a="http://schemas.openxmlformats.org/drawingml/2006/main" w="9525">
            <a:solidFill>
              <a:srgbClr val="E98B0C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726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172635"/>
                </a:solidFill>
                <a:latin typeface="Microsoft YaHei"/>
                <a:ea typeface="Microsoft YaHei"/>
                <a:cs typeface="Microsoft YaHei"/>
              </a:rPr>
              <a:t>Azure Resource Manager API（资源管理接口）</a:t>
            </a:r>
          </a:p>
          <a:p xmlns:a="http://schemas.openxmlformats.org/drawingml/2006/main">
            <a:pPr algn="ctr">
              <a:defRPr sz="750" b="1">
                <a:solidFill>
                  <a:srgbClr val="1726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172635"/>
                </a:solidFill>
                <a:latin typeface="Microsoft YaHei"/>
                <a:ea typeface="Microsoft YaHei"/>
                <a:cs typeface="Microsoft YaHei"/>
              </a:rPr>
              <a:t>Cloud Discovery：VM / VNet / Subnet / NIC / Disk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8B43CE4-A2A6-47CA-A0DD-A986B6E87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686050"/>
            <a:ext cx="7924800" cy="2533650"/>
          </a:xfrm>
          <a:prstGeom xmlns:a="http://schemas.openxmlformats.org/drawingml/2006/main" prst="roundRect">
            <a:avLst>
              <a:gd name="adj" fmla="val 45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6DE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566C5FA-2C6E-452B-9306-C3D9F33D6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819400"/>
            <a:ext cx="75438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5F7F9"/>
          </a:solidFill>
          <a:ln xmlns:a="http://schemas.openxmlformats.org/drawingml/2006/main" w="9525">
            <a:solidFill>
              <a:srgbClr val="E4EAF0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465B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465B6C"/>
                </a:solidFill>
                <a:latin typeface="Microsoft YaHei"/>
                <a:ea typeface="Microsoft YaHei"/>
                <a:cs typeface="Microsoft YaHei"/>
              </a:rPr>
              <a:t>Azure 管理与网络范围（数量、命名和边界待确认）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9FEA5B8-E65F-4F7F-9B1A-5A33F967A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219450"/>
            <a:ext cx="27241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AF5FD"/>
          </a:solidFill>
          <a:ln xmlns:a="http://schemas.openxmlformats.org/drawingml/2006/main" w="9525">
            <a:solidFill>
              <a:srgbClr val="0078D4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726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2635"/>
                </a:solidFill>
                <a:latin typeface="Microsoft YaHei"/>
                <a:ea typeface="Microsoft YaHei"/>
                <a:cs typeface="Microsoft YaHei"/>
              </a:rPr>
              <a:t>MID Server（中间服务器）</a:t>
            </a:r>
          </a:p>
          <a:p xmlns:a="http://schemas.openxmlformats.org/drawingml/2006/main">
            <a:pPr algn="ctr">
              <a:defRPr sz="1050" b="1">
                <a:solidFill>
                  <a:srgbClr val="1726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2635"/>
                </a:solidFill>
                <a:latin typeface="Microsoft YaHei"/>
                <a:ea typeface="Microsoft YaHei"/>
                <a:cs typeface="Microsoft YaHei"/>
              </a:rPr>
              <a:t>执行 Horizontal Discovery（水平发现）</a:t>
            </a:r>
          </a:p>
          <a:p xmlns:a="http://schemas.openxmlformats.org/drawingml/2006/main">
            <a:pPr algn="ctr">
              <a:defRPr sz="1050" b="1">
                <a:solidFill>
                  <a:srgbClr val="1726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2635"/>
                </a:solidFill>
                <a:latin typeface="Microsoft YaHei"/>
                <a:ea typeface="Microsoft YaHei"/>
                <a:cs typeface="Microsoft YaHei"/>
              </a:rPr>
              <a:t>接收 ACC 数据并转发至 ServiceNow</a:t>
            </a:r>
          </a:p>
          <a:p xmlns:a="http://schemas.openxmlformats.org/drawingml/2006/main">
            <a:pPr algn="ctr">
              <a:defRPr sz="1050" b="1">
                <a:solidFill>
                  <a:srgbClr val="1726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2635"/>
                </a:solidFill>
                <a:latin typeface="Microsoft YaHei"/>
                <a:ea typeface="Microsoft YaHei"/>
                <a:cs typeface="Microsoft YaHei"/>
              </a:rPr>
              <a:t>数量与配置：待确认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4DFC9EA-2D2A-447E-A04C-82FA8A01D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219450"/>
            <a:ext cx="32385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DF7E9"/>
          </a:solidFill>
          <a:ln xmlns:a="http://schemas.openxmlformats.org/drawingml/2006/main" w="9525">
            <a:solidFill>
              <a:srgbClr val="4F9E3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726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2635"/>
                </a:solidFill>
                <a:latin typeface="Microsoft YaHei"/>
                <a:ea typeface="Microsoft YaHei"/>
                <a:cs typeface="Microsoft YaHei"/>
              </a:rPr>
              <a:t>被管理目标</a:t>
            </a:r>
          </a:p>
          <a:p xmlns:a="http://schemas.openxmlformats.org/drawingml/2006/main">
            <a:pPr algn="ctr">
              <a:defRPr sz="1050" b="1">
                <a:solidFill>
                  <a:srgbClr val="1726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2635"/>
                </a:solidFill>
                <a:latin typeface="Microsoft YaHei"/>
                <a:ea typeface="Microsoft YaHei"/>
                <a:cs typeface="Microsoft YaHei"/>
              </a:rPr>
              <a:t>Windows / Linux / Network Device（网络设备）</a:t>
            </a:r>
          </a:p>
          <a:p xmlns:a="http://schemas.openxmlformats.org/drawingml/2006/main">
            <a:pPr algn="ctr">
              <a:defRPr sz="1050" b="1">
                <a:solidFill>
                  <a:srgbClr val="1726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2635"/>
                </a:solidFill>
                <a:latin typeface="Microsoft YaHei"/>
                <a:ea typeface="Microsoft YaHei"/>
                <a:cs typeface="Microsoft YaHei"/>
              </a:rPr>
              <a:t>ACC Agent（ACC 代理，适用目标）</a:t>
            </a:r>
          </a:p>
          <a:p xmlns:a="http://schemas.openxmlformats.org/drawingml/2006/main">
            <a:pPr algn="ctr">
              <a:defRPr sz="1050" b="1">
                <a:solidFill>
                  <a:srgbClr val="1726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2635"/>
                </a:solidFill>
                <a:latin typeface="Microsoft YaHei"/>
                <a:ea typeface="Microsoft YaHei"/>
                <a:cs typeface="Microsoft YaHei"/>
              </a:rPr>
              <a:t>具体资源清单：待确认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E781E6D-3BC2-48F5-A917-1D27757E9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3457575"/>
            <a:ext cx="118110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78D4"/>
          </a:solidFill>
          <a:ln xmlns:a="http://schemas.openxmlformats.org/drawingml/2006/main" w="9525">
            <a:solidFill>
              <a:srgbClr val="0078D4"/>
            </a:solidFill>
            <a:prstDash val="solid"/>
          </a:ln>
        </p:spPr>
        <p:txBody>
          <a:bodyPr xmlns:a="http://schemas.openxmlformats.org/drawingml/2006/main" wrap="square" lIns="38100" tIns="9525" rIns="1333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SSH / WMI / SNMP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B8F8EA8-F9E3-4595-895A-24EA48F94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4114800"/>
            <a:ext cx="1181100" cy="285750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4F9E32"/>
          </a:solidFill>
          <a:ln xmlns:a="http://schemas.openxmlformats.org/drawingml/2006/main" w="9525">
            <a:solidFill>
              <a:srgbClr val="4F9E32"/>
            </a:solidFill>
            <a:prstDash val="solid"/>
          </a:ln>
        </p:spPr>
        <p:txBody>
          <a:bodyPr xmlns:a="http://schemas.openxmlformats.org/drawingml/2006/main" wrap="square" lIns="133350" tIns="9525" rIns="381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ACC / WSS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9B0CCB6-7566-445B-94D3-D277B67D6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762500"/>
            <a:ext cx="72961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5F7F9"/>
          </a:solidFill>
          <a:ln xmlns:a="http://schemas.openxmlformats.org/drawingml/2006/main" w="9525">
            <a:solidFill>
              <a:srgbClr val="E4EAF0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465B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465B6C"/>
                </a:solidFill>
                <a:latin typeface="Microsoft YaHei"/>
                <a:ea typeface="Microsoft YaHei"/>
                <a:cs typeface="Microsoft YaHei"/>
              </a:rPr>
              <a:t>可选共通组件：Palo Alto（防火墙）/ NSG（网络安全组）/ Route Table（路由表）/ Azure Bastion（安全登录）/ Log Analytics（日志分析）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510EA12-E5B2-40F2-A46A-4BC253A18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5734050"/>
            <a:ext cx="84010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5F7F9"/>
          </a:solidFill>
          <a:ln xmlns:a="http://schemas.openxmlformats.org/drawingml/2006/main" w="9525">
            <a:solidFill>
              <a:srgbClr val="E4EAF0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726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172635"/>
                </a:solidFill>
                <a:latin typeface="Microsoft YaHei"/>
                <a:ea typeface="Microsoft YaHei"/>
                <a:cs typeface="Microsoft YaHei"/>
              </a:rPr>
              <a:t>后续确认：环境数量｜Subscription（订阅）/ Resource Group（资源组）/ VNet（虚拟网络）/ Subnet（子网）划分｜MID 数量｜权限与 Credential（认证信息）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59724CB-47E3-4831-B866-EBDB290A4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4EAF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F17C544-2AA1-430D-BA6B-63D833B20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43675"/>
            <a:ext cx="495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F7F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F7F8D"/>
                </a:solidFill>
                <a:latin typeface="Microsoft YaHei"/>
                <a:ea typeface="Microsoft YaHei"/>
                <a:cs typeface="Microsoft YaHei"/>
              </a:rPr>
              <a:t>PC2.0 Azure × ServiceNow ITOM｜术语说明版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35CF445-4ADA-4441-B5CB-34194CABA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43675"/>
            <a:ext cx="6286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F7F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6F7F8D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3909364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93E72C1-F2CF-4CDB-9399-853548886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78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078D4"/>
                </a:solidFill>
                <a:latin typeface="Microsoft YaHei"/>
                <a:ea typeface="Microsoft YaHei"/>
                <a:cs typeface="Microsoft YaHei"/>
              </a:rPr>
              <a:t>02｜Azure 管理层级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918331-366B-40D5-A978-8CC161BEA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3875"/>
            <a:ext cx="11125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rPr>
              <a:t>每个层级是什么、包含什么、管理什么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61A423-DBA6-4A17-BEBF-158556609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81075"/>
            <a:ext cx="11125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65B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465B6C"/>
                </a:solidFill>
                <a:latin typeface="Microsoft YaHei"/>
                <a:ea typeface="Microsoft YaHei"/>
                <a:cs typeface="Microsoft YaHei"/>
              </a:rPr>
              <a:t>Microsoft 官方定义四个 Management Scope（管理作用域）；下层会继承上层设置的 Azure RBAC（角色访问控制）与 Azure Policy（策略）。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FC6DED-C668-4E7D-9241-34F37EA0F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33500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4EAF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CFE1D5-9A66-4D61-8BE0-D08D112E7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66850"/>
            <a:ext cx="111633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0ECFA"/>
          </a:solidFill>
          <a:ln xmlns:a="http://schemas.openxmlformats.org/drawingml/2006/main" w="9525">
            <a:solidFill>
              <a:srgbClr val="7656C9"/>
            </a:solidFill>
            <a:prstDash val="solid"/>
          </a:ln>
        </p:spPr>
        <p:txBody>
          <a:bodyPr xmlns:a="http://schemas.openxmlformats.org/drawingml/2006/main" wrap="square" lIns="171450" tIns="57150" rIns="1714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726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72635"/>
                </a:solidFill>
                <a:latin typeface="Microsoft YaHei"/>
                <a:ea typeface="Microsoft YaHei"/>
                <a:cs typeface="Microsoft YaHei"/>
              </a:rPr>
              <a:t>Microsoft Entra Tenant（身份租户）：统一管理 Azure 的 User（用户）、Group（用户组）和 Service Principal（应用身份）。同一 Management Group（管理组）内的 Subscription（订阅）必须属于同一个 Tenant（租户）。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0454A9-140F-4F5D-8442-84D224AEA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57400"/>
            <a:ext cx="72771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0ECFA"/>
          </a:solidFill>
          <a:ln xmlns:a="http://schemas.openxmlformats.org/drawingml/2006/main" w="9525">
            <a:solidFill>
              <a:srgbClr val="7656C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wrap="square" lIns="171450" tIns="76200" rIns="1524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6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72635"/>
                </a:solidFill>
                <a:latin typeface="Microsoft YaHei"/>
                <a:ea typeface="Microsoft YaHei"/>
                <a:cs typeface="Microsoft YaHei"/>
              </a:rPr>
              <a:t>1  Management Group（管理组）｜多 Subscription（订阅）治理层</a:t>
            </a:r>
          </a:p>
          <a:p xmlns:a="http://schemas.openxmlformats.org/drawingml/2006/main">
            <a:pPr algn="l">
              <a:defRPr sz="900" b="0">
                <a:solidFill>
                  <a:srgbClr val="1726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72635"/>
                </a:solidFill>
                <a:latin typeface="Microsoft YaHei"/>
                <a:ea typeface="Microsoft YaHei"/>
                <a:cs typeface="Microsoft YaHei"/>
              </a:rPr>
              <a:t>定义：位于 Subscription 之上的 Management Scope（管理作用域），用于统一管理多个 Subscription。</a:t>
            </a:r>
          </a:p>
          <a:p xmlns:a="http://schemas.openxmlformats.org/drawingml/2006/main">
            <a:pPr algn="l">
              <a:defRPr sz="900" b="0">
                <a:solidFill>
                  <a:srgbClr val="1726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72635"/>
                </a:solidFill>
                <a:latin typeface="Microsoft YaHei"/>
                <a:ea typeface="Microsoft YaHei"/>
                <a:cs typeface="Microsoft YaHei"/>
              </a:rPr>
              <a:t>包含：子 Management Group、Subscription　管理：Azure RBAC / Azure Policy / Compliance（合规性）</a:t>
            </a:r>
          </a:p>
          <a:p xmlns:a="http://schemas.openxmlformats.org/drawingml/2006/main">
            <a:pPr algn="l">
              <a:defRPr sz="900" b="0">
                <a:solidFill>
                  <a:srgbClr val="1726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72635"/>
                </a:solidFill>
                <a:latin typeface="Microsoft YaHei"/>
                <a:ea typeface="Microsoft YaHei"/>
                <a:cs typeface="Microsoft YaHei"/>
              </a:rPr>
              <a:t>PC2.0：是否设置自定义 Management Group 待确认。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DBC799-4994-4F1B-A240-DE2993CEB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28950"/>
            <a:ext cx="72771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EAF5FD"/>
          </a:solidFill>
          <a:ln xmlns:a="http://schemas.openxmlformats.org/drawingml/2006/main" w="9525">
            <a:solidFill>
              <a:srgbClr val="0078D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wrap="square" lIns="171450" tIns="76200" rIns="1524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6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72635"/>
                </a:solidFill>
                <a:latin typeface="Microsoft YaHei"/>
                <a:ea typeface="Microsoft YaHei"/>
                <a:cs typeface="Microsoft YaHei"/>
              </a:rPr>
              <a:t>2  Subscription（订阅）｜计费、Quota（配额）与权限边界</a:t>
            </a:r>
          </a:p>
          <a:p xmlns:a="http://schemas.openxmlformats.org/drawingml/2006/main">
            <a:pPr algn="l">
              <a:defRPr sz="900" b="0">
                <a:solidFill>
                  <a:srgbClr val="1726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72635"/>
                </a:solidFill>
                <a:latin typeface="Microsoft YaHei"/>
                <a:ea typeface="Microsoft YaHei"/>
                <a:cs typeface="Microsoft YaHei"/>
              </a:rPr>
              <a:t>定义：Azure 资源使用、费用、配额与访问控制的重要范围。</a:t>
            </a:r>
          </a:p>
          <a:p xmlns:a="http://schemas.openxmlformats.org/drawingml/2006/main">
            <a:pPr algn="l">
              <a:defRPr sz="900" b="0">
                <a:solidFill>
                  <a:srgbClr val="1726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72635"/>
                </a:solidFill>
                <a:latin typeface="Microsoft YaHei"/>
                <a:ea typeface="Microsoft YaHei"/>
                <a:cs typeface="Microsoft YaHei"/>
              </a:rPr>
              <a:t>包含：Resource Group（资源组）、Subscription 级资源与设置　PC2.0：数量与范围待确认。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BBB925-016B-426B-8A2E-FD061F1EE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62400"/>
            <a:ext cx="727710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EDF7E9"/>
          </a:solidFill>
          <a:ln xmlns:a="http://schemas.openxmlformats.org/drawingml/2006/main" w="9525">
            <a:solidFill>
              <a:srgbClr val="4F9E3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wrap="square" lIns="171450" tIns="76200" rIns="1524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6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72635"/>
                </a:solidFill>
                <a:latin typeface="Microsoft YaHei"/>
                <a:ea typeface="Microsoft YaHei"/>
                <a:cs typeface="Microsoft YaHei"/>
              </a:rPr>
              <a:t>3  Resource Group（资源组）｜Lifecycle（生命周期）管理容器</a:t>
            </a:r>
          </a:p>
          <a:p xmlns:a="http://schemas.openxmlformats.org/drawingml/2006/main">
            <a:pPr algn="l">
              <a:defRPr sz="900" b="0">
                <a:solidFill>
                  <a:srgbClr val="1726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72635"/>
                </a:solidFill>
                <a:latin typeface="Microsoft YaHei"/>
                <a:ea typeface="Microsoft YaHei"/>
                <a:cs typeface="Microsoft YaHei"/>
              </a:rPr>
              <a:t>定义：把同一解决方案、同一生命周期的相关 Resource（资源）作为一组管理；每个 Resource 只能属于一个 Resource Group。</a:t>
            </a:r>
          </a:p>
          <a:p xmlns:a="http://schemas.openxmlformats.org/drawingml/2006/main">
            <a:pPr algn="l">
              <a:defRPr sz="900" b="0">
                <a:solidFill>
                  <a:srgbClr val="1726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72635"/>
                </a:solidFill>
                <a:latin typeface="Microsoft YaHei"/>
                <a:ea typeface="Microsoft YaHei"/>
                <a:cs typeface="Microsoft YaHei"/>
              </a:rPr>
              <a:t>包含：VM、VNet、Disk、NIC、NSG 等　PC2.0：数量与命名待确认。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812F77-2569-440E-A19F-615325B4D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953000"/>
            <a:ext cx="72771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3D6"/>
          </a:solidFill>
          <a:ln xmlns:a="http://schemas.openxmlformats.org/drawingml/2006/main" w="9525">
            <a:solidFill>
              <a:srgbClr val="E98B0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wrap="square" lIns="171450" tIns="76200" rIns="1524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6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72635"/>
                </a:solidFill>
                <a:latin typeface="Microsoft YaHei"/>
                <a:ea typeface="Microsoft YaHei"/>
                <a:cs typeface="Microsoft YaHei"/>
              </a:rPr>
              <a:t>4  Resource（资源）｜实际创建和运行的对象</a:t>
            </a:r>
          </a:p>
          <a:p xmlns:a="http://schemas.openxmlformats.org/drawingml/2006/main">
            <a:pPr algn="l">
              <a:defRPr sz="900" b="0">
                <a:solidFill>
                  <a:srgbClr val="1726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72635"/>
                </a:solidFill>
                <a:latin typeface="Microsoft YaHei"/>
                <a:ea typeface="Microsoft YaHei"/>
                <a:cs typeface="Microsoft YaHei"/>
              </a:rPr>
              <a:t>定义：Azure 中可以创建、更新、删除和监控的具体可管理对象。</a:t>
            </a:r>
          </a:p>
          <a:p xmlns:a="http://schemas.openxmlformats.org/drawingml/2006/main">
            <a:pPr algn="l">
              <a:defRPr sz="900" b="0">
                <a:solidFill>
                  <a:srgbClr val="1726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72635"/>
                </a:solidFill>
                <a:latin typeface="Microsoft YaHei"/>
                <a:ea typeface="Microsoft YaHei"/>
                <a:cs typeface="Microsoft YaHei"/>
              </a:rPr>
              <a:t>计算：VM（虚拟机）/ Disk（磁盘）　网络：VNet（虚拟网络）/ Subnet（子网）/ NIC（网卡）/ NSG（网络安全组）/ Route Table（路由表）/ Public IP（公网 IP）</a:t>
            </a:r>
          </a:p>
          <a:p xmlns:a="http://schemas.openxmlformats.org/drawingml/2006/main">
            <a:pPr algn="l">
              <a:defRPr sz="900" b="0">
                <a:solidFill>
                  <a:srgbClr val="1726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72635"/>
                </a:solidFill>
                <a:latin typeface="Microsoft YaHei"/>
                <a:ea typeface="Microsoft YaHei"/>
                <a:cs typeface="Microsoft YaHei"/>
              </a:rPr>
              <a:t>运维：Key Vault（密钥保管库）/ Log Analytics（日志分析）/ Azure Bastion（安全登录服务）。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744202F-74E9-47EA-B40F-B8CFF0163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9621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rPr>
              <a:t>Microsoft 官方层级图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E958E37-F98B-4402-A2E9-3416FAF15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228850"/>
            <a:ext cx="3429000" cy="217170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F5F7F9"/>
          </a:solidFill>
          <a:ln xmlns:a="http://schemas.openxmlformats.org/drawingml/2006/main" w="9525">
            <a:solidFill>
              <a:srgbClr val="E4EAF0"/>
            </a:solidFill>
            <a:prstDash val="solid"/>
          </a:ln>
        </p:spPr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a68b4f264934094"/>
          <a:stretch xmlns:a="http://schemas.openxmlformats.org/drawingml/2006/main"/>
        </p:blipFill>
        <p:spPr>
          <a:xfrm xmlns:a="http://schemas.openxmlformats.org/drawingml/2006/main">
            <a:off x="8192861" y="2324100"/>
            <a:ext cx="3083379" cy="1962150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A9B54EB-E577-4F9E-BE7B-B3229C8D8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5148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rPr>
              <a:t>Azure Resource Manager（资源管理器）的位置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1B60942-7315-4108-99C6-D84691152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810125"/>
            <a:ext cx="14668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EAF5FD"/>
          </a:solidFill>
          <a:ln xmlns:a="http://schemas.openxmlformats.org/drawingml/2006/main" w="9525">
            <a:solidFill>
              <a:srgbClr val="0078D4"/>
            </a:solidFill>
            <a:prstDash val="solid"/>
          </a:ln>
        </p:spPr>
        <p:txBody>
          <a:bodyPr xmlns:a="http://schemas.openxmlformats.org/drawingml/2006/main" anchor="ctr">
            <a:normAutofit fontScale="76005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05A9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05A9E"/>
                </a:solidFill>
                <a:latin typeface="Microsoft YaHei"/>
                <a:ea typeface="Microsoft YaHei"/>
                <a:cs typeface="Microsoft YaHei"/>
              </a:rPr>
              <a:t>Azure Portal（门户）</a:t>
            </a:r>
          </a:p>
          <a:p xmlns:a="http://schemas.openxmlformats.org/drawingml/2006/main">
            <a:pPr algn="ctr">
              <a:defRPr sz="975" b="1">
                <a:solidFill>
                  <a:srgbClr val="005A9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05A9E"/>
                </a:solidFill>
                <a:latin typeface="Microsoft YaHei"/>
                <a:ea typeface="Microsoft YaHei"/>
                <a:cs typeface="Microsoft YaHei"/>
              </a:rPr>
              <a:t>Azure CLI / API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B3EFFDE-D1F8-4CDA-899E-F5C313358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5475" y="4895850"/>
            <a:ext cx="2857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78D4"/>
          </a:solidFill>
          <a:ln xmlns:a="http://schemas.openxmlformats.org/drawingml/2006/main" w="9525">
            <a:solidFill>
              <a:srgbClr val="0078D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C243BE1-88FB-4225-AF6A-73F102867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4752975"/>
            <a:ext cx="16192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0B1F33"/>
            </a:solidFill>
            <a:prstDash val="solid"/>
          </a:ln>
        </p:spPr>
        <p:txBody>
          <a:bodyPr xmlns:a="http://schemas.openxmlformats.org/drawingml/2006/main" anchor="ctr">
            <a:normAutofit fontScale="62003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Azure Resource Manager（资源管理器）</a:t>
            </a:r>
          </a:p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Authentication（认证）・Authorization（授权）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48D5EE2-D5D3-42B9-8282-47BD59D80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06075" y="5248275"/>
            <a:ext cx="247650" cy="2286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6F7F8D"/>
          </a:solidFill>
          <a:ln xmlns:a="http://schemas.openxmlformats.org/drawingml/2006/main" w="9525">
            <a:solidFill>
              <a:srgbClr val="6F7F8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45EFBBA-75A1-4C11-A9F0-F1B13D74D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5486400"/>
            <a:ext cx="3429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5F7F9"/>
          </a:solidFill>
          <a:ln xmlns:a="http://schemas.openxmlformats.org/drawingml/2006/main" w="9525">
            <a:solidFill>
              <a:srgbClr val="CCD6DE"/>
            </a:solidFill>
            <a:prstDash val="solid"/>
          </a:ln>
        </p:spPr>
        <p:txBody>
          <a:bodyPr xmlns:a="http://schemas.openxmlformats.org/drawingml/2006/main" anchor="ctr">
            <a:normAutofit fontScale="9193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6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72635"/>
                </a:solidFill>
                <a:latin typeface="Microsoft YaHei"/>
                <a:ea typeface="Microsoft YaHei"/>
                <a:cs typeface="Microsoft YaHei"/>
              </a:rPr>
              <a:t>Resource Provider（资源提供程序）→ Resource（资源）</a:t>
            </a:r>
          </a:p>
          <a:p xmlns:a="http://schemas.openxmlformats.org/drawingml/2006/main">
            <a:pPr algn="ctr">
              <a:defRPr sz="900" b="1">
                <a:solidFill>
                  <a:srgbClr val="1726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72635"/>
                </a:solidFill>
                <a:latin typeface="Microsoft YaHei"/>
                <a:ea typeface="Microsoft YaHei"/>
                <a:cs typeface="Microsoft YaHei"/>
              </a:rPr>
              <a:t>Microsoft.Compute：VM｜Microsoft.Network：VNet / NIC｜Microsoft.Storage：Disk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77A52C7-9572-4C3D-A88C-0B11D670B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96000"/>
            <a:ext cx="72771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5FD"/>
          </a:solidFill>
          <a:ln xmlns:a="http://schemas.openxmlformats.org/drawingml/2006/main" w="9525">
            <a:solidFill>
              <a:srgbClr val="EAF5FD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rmAutofit fontScale="69798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05A9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005A9E"/>
                </a:solidFill>
                <a:latin typeface="Microsoft YaHei"/>
                <a:ea typeface="Microsoft YaHei"/>
                <a:cs typeface="Microsoft YaHei"/>
              </a:rPr>
              <a:t>继承方向：Management Group（管理组）→ Subscription（订阅）→ Resource Group（资源组）→ Resource（资源）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049CB6D-9A98-4E05-89E2-3F5B504F5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607695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91667"/>
          </a:bodyPr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6F7F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F7F8D"/>
                </a:solidFill>
                <a:latin typeface="Microsoft YaHei"/>
                <a:ea typeface="Microsoft YaHei"/>
                <a:cs typeface="Microsoft YaHei"/>
              </a:rPr>
              <a:t>资料：Microsoft Learn｜Resource Manager overview / Management Groups overview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3A03BEE-4929-49C1-891F-A7B52081B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4EAF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0D4AC05-D810-4271-BBEC-0397EB1BC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43675"/>
            <a:ext cx="495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F7F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F7F8D"/>
                </a:solidFill>
                <a:latin typeface="Microsoft YaHei"/>
                <a:ea typeface="Microsoft YaHei"/>
                <a:cs typeface="Microsoft YaHei"/>
              </a:rPr>
              <a:t>PC2.0 Azure × ServiceNow ITOM｜术语说明版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AD895F6-C16C-4003-8374-AE4648997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43675"/>
            <a:ext cx="6286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F7F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6F7F8D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95776896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D753710-BF33-41DD-B2CC-3B3895403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78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078D4"/>
                </a:solidFill>
                <a:latin typeface="Microsoft YaHei"/>
                <a:ea typeface="Microsoft YaHei"/>
                <a:cs typeface="Microsoft YaHei"/>
              </a:rPr>
              <a:t>03｜术语参考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B9D19A-5A70-4086-88BA-FB8D178AE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3875"/>
            <a:ext cx="11125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rPr>
              <a:t>Azure / ServiceNow 专有名词速查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16773D-B6E3-4F0C-B8ED-651ED2139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81075"/>
            <a:ext cx="11125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65B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465B6C"/>
                </a:solidFill>
                <a:latin typeface="Microsoft YaHei"/>
                <a:ea typeface="Microsoft YaHei"/>
                <a:cs typeface="Microsoft YaHei"/>
              </a:rPr>
              <a:t>统一写法：English official name（中文含义）。以下解释以普通人能够理解为优先。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96108E-7856-4E14-87E4-58A93A93A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33500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4EAF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FBDAA1-EB36-4A96-86C6-F9BEE01E6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81150"/>
            <a:ext cx="2647950" cy="4533900"/>
          </a:xfrm>
          <a:prstGeom xmlns:a="http://schemas.openxmlformats.org/drawingml/2006/main" prst="roundRect">
            <a:avLst>
              <a:gd name="adj" fmla="val 4317"/>
            </a:avLst>
          </a:prstGeom>
          <a:solidFill xmlns:a="http://schemas.openxmlformats.org/drawingml/2006/main">
            <a:srgbClr val="F0ECFA"/>
          </a:solidFill>
          <a:ln xmlns:a="http://schemas.openxmlformats.org/drawingml/2006/main" w="9525">
            <a:solidFill>
              <a:srgbClr val="7656C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wrap="square" lIns="152400" tIns="133350" rIns="133350" bIns="1143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1726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172635"/>
                </a:solidFill>
                <a:latin typeface="Microsoft YaHei"/>
                <a:ea typeface="Microsoft YaHei"/>
                <a:cs typeface="Microsoft YaHei"/>
              </a:rPr>
              <a:t>IDENTITY &amp; SCOPE｜身份与管理层级</a:t>
            </a:r>
          </a:p>
          <a:p xmlns:a="http://schemas.openxmlformats.org/drawingml/2006/main">
            <a:pPr algn="l">
              <a:defRPr sz="788" b="0">
                <a:solidFill>
                  <a:srgbClr val="1726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172635"/>
                </a:solidFill>
                <a:latin typeface="Microsoft YaHei"/>
                <a:ea typeface="Microsoft YaHei"/>
                <a:cs typeface="Microsoft YaHei"/>
              </a:rPr>
              <a:t>Microsoft Entra Tenant（身份租户）：Azure 的身份目录与管理边界。</a:t>
            </a:r>
          </a:p>
          <a:p xmlns:a="http://schemas.openxmlformats.org/drawingml/2006/main">
            <a:pPr algn="l">
              <a:defRPr sz="788" b="0">
                <a:solidFill>
                  <a:srgbClr val="1726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172635"/>
                </a:solidFill>
                <a:latin typeface="Microsoft YaHei"/>
                <a:ea typeface="Microsoft YaHei"/>
                <a:cs typeface="Microsoft YaHei"/>
              </a:rPr>
              <a:t>User / Group（用户 / 用户组）：人员账号及账号集合。</a:t>
            </a:r>
          </a:p>
          <a:p xmlns:a="http://schemas.openxmlformats.org/drawingml/2006/main">
            <a:pPr algn="l">
              <a:defRPr sz="788" b="0">
                <a:solidFill>
                  <a:srgbClr val="1726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172635"/>
                </a:solidFill>
                <a:latin typeface="Microsoft YaHei"/>
                <a:ea typeface="Microsoft YaHei"/>
                <a:cs typeface="Microsoft YaHei"/>
              </a:rPr>
              <a:t>Service Principal（应用身份）：供程序或外部系统访问 Azure 的非人工账号。</a:t>
            </a:r>
          </a:p>
          <a:p xmlns:a="http://schemas.openxmlformats.org/drawingml/2006/main">
            <a:pPr algn="l">
              <a:defRPr sz="788" b="0">
                <a:solidFill>
                  <a:srgbClr val="1726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172635"/>
                </a:solidFill>
                <a:latin typeface="Microsoft YaHei"/>
                <a:ea typeface="Microsoft YaHei"/>
                <a:cs typeface="Microsoft YaHei"/>
              </a:rPr>
              <a:t>Management Group（管理组）：在 Subscription 上层统一管理权限和策略。</a:t>
            </a:r>
          </a:p>
          <a:p xmlns:a="http://schemas.openxmlformats.org/drawingml/2006/main">
            <a:pPr algn="l">
              <a:defRPr sz="788" b="0">
                <a:solidFill>
                  <a:srgbClr val="1726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172635"/>
                </a:solidFill>
                <a:latin typeface="Microsoft YaHei"/>
                <a:ea typeface="Microsoft YaHei"/>
                <a:cs typeface="Microsoft YaHei"/>
              </a:rPr>
              <a:t>Subscription（订阅）：计费、配额、权限和资源管理的重要范围。</a:t>
            </a:r>
          </a:p>
          <a:p xmlns:a="http://schemas.openxmlformats.org/drawingml/2006/main">
            <a:pPr algn="l">
              <a:defRPr sz="788" b="0">
                <a:solidFill>
                  <a:srgbClr val="1726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172635"/>
                </a:solidFill>
                <a:latin typeface="Microsoft YaHei"/>
                <a:ea typeface="Microsoft YaHei"/>
                <a:cs typeface="Microsoft YaHei"/>
              </a:rPr>
              <a:t>Resource Group（资源组）：管理生命周期相近的一组 Resource。</a:t>
            </a:r>
          </a:p>
          <a:p xmlns:a="http://schemas.openxmlformats.org/drawingml/2006/main">
            <a:pPr algn="l">
              <a:defRPr sz="788" b="0">
                <a:solidFill>
                  <a:srgbClr val="1726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172635"/>
                </a:solidFill>
                <a:latin typeface="Microsoft YaHei"/>
                <a:ea typeface="Microsoft YaHei"/>
                <a:cs typeface="Microsoft YaHei"/>
              </a:rPr>
              <a:t>Resource（资源）：Azure 中实际创建和管理的对象。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E569FB-6C15-4F15-A186-F96521C71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1581150"/>
            <a:ext cx="2647950" cy="4533900"/>
          </a:xfrm>
          <a:prstGeom xmlns:a="http://schemas.openxmlformats.org/drawingml/2006/main" prst="roundRect">
            <a:avLst>
              <a:gd name="adj" fmla="val 4317"/>
            </a:avLst>
          </a:prstGeom>
          <a:solidFill xmlns:a="http://schemas.openxmlformats.org/drawingml/2006/main">
            <a:srgbClr val="EAF5FD"/>
          </a:solidFill>
          <a:ln xmlns:a="http://schemas.openxmlformats.org/drawingml/2006/main" w="9525">
            <a:solidFill>
              <a:srgbClr val="0078D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wrap="square" lIns="152400" tIns="133350" rIns="133350" bIns="1143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1726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172635"/>
                </a:solidFill>
                <a:latin typeface="Microsoft YaHei"/>
                <a:ea typeface="Microsoft YaHei"/>
                <a:cs typeface="Microsoft YaHei"/>
              </a:rPr>
              <a:t>GOVERNANCE &amp; OPERATIONS｜治理与运维</a:t>
            </a:r>
          </a:p>
          <a:p xmlns:a="http://schemas.openxmlformats.org/drawingml/2006/main">
            <a:pPr algn="l">
              <a:defRPr sz="788" b="0">
                <a:solidFill>
                  <a:srgbClr val="1726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172635"/>
                </a:solidFill>
                <a:latin typeface="Microsoft YaHei"/>
                <a:ea typeface="Microsoft YaHei"/>
                <a:cs typeface="Microsoft YaHei"/>
              </a:rPr>
              <a:t>Azure Resource Manager（资源管理器）：统一接收和处理 Azure 资源管理请求。</a:t>
            </a:r>
          </a:p>
          <a:p xmlns:a="http://schemas.openxmlformats.org/drawingml/2006/main">
            <a:pPr algn="l">
              <a:defRPr sz="788" b="0">
                <a:solidFill>
                  <a:srgbClr val="1726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172635"/>
                </a:solidFill>
                <a:latin typeface="Microsoft YaHei"/>
                <a:ea typeface="Microsoft YaHei"/>
                <a:cs typeface="Microsoft YaHei"/>
              </a:rPr>
              <a:t>Resource Provider（资源提供程序）：提供某类 Azure Resource 的服务。</a:t>
            </a:r>
          </a:p>
          <a:p xmlns:a="http://schemas.openxmlformats.org/drawingml/2006/main">
            <a:pPr algn="l">
              <a:defRPr sz="788" b="0">
                <a:solidFill>
                  <a:srgbClr val="1726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172635"/>
                </a:solidFill>
                <a:latin typeface="Microsoft YaHei"/>
                <a:ea typeface="Microsoft YaHei"/>
                <a:cs typeface="Microsoft YaHei"/>
              </a:rPr>
              <a:t>Azure RBAC（角色访问控制）：决定谁能在什么范围做什么。</a:t>
            </a:r>
          </a:p>
          <a:p xmlns:a="http://schemas.openxmlformats.org/drawingml/2006/main">
            <a:pPr algn="l">
              <a:defRPr sz="788" b="0">
                <a:solidFill>
                  <a:srgbClr val="1726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172635"/>
                </a:solidFill>
                <a:latin typeface="Microsoft YaHei"/>
                <a:ea typeface="Microsoft YaHei"/>
                <a:cs typeface="Microsoft YaHei"/>
              </a:rPr>
              <a:t>Azure Policy（策略）：检查或限制资源是否符合组织规则。</a:t>
            </a:r>
          </a:p>
          <a:p xmlns:a="http://schemas.openxmlformats.org/drawingml/2006/main">
            <a:pPr algn="l">
              <a:defRPr sz="788" b="0">
                <a:solidFill>
                  <a:srgbClr val="1726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172635"/>
                </a:solidFill>
                <a:latin typeface="Microsoft YaHei"/>
                <a:ea typeface="Microsoft YaHei"/>
                <a:cs typeface="Microsoft YaHei"/>
              </a:rPr>
              <a:t>Tag（标签）：给资源添加分类信息，方便检索和费用整理。</a:t>
            </a:r>
          </a:p>
          <a:p xmlns:a="http://schemas.openxmlformats.org/drawingml/2006/main">
            <a:pPr algn="l">
              <a:defRPr sz="788" b="0">
                <a:solidFill>
                  <a:srgbClr val="1726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172635"/>
                </a:solidFill>
                <a:latin typeface="Microsoft YaHei"/>
                <a:ea typeface="Microsoft YaHei"/>
                <a:cs typeface="Microsoft YaHei"/>
              </a:rPr>
              <a:t>Azure Monitor（监控）：收集并分析 Azure 的监控数据。</a:t>
            </a:r>
          </a:p>
          <a:p xmlns:a="http://schemas.openxmlformats.org/drawingml/2006/main">
            <a:pPr algn="l">
              <a:defRPr sz="788" b="0">
                <a:solidFill>
                  <a:srgbClr val="1726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172635"/>
                </a:solidFill>
                <a:latin typeface="Microsoft YaHei"/>
                <a:ea typeface="Microsoft YaHei"/>
                <a:cs typeface="Microsoft YaHei"/>
              </a:rPr>
              <a:t>Log Analytics Workspace（日志分析工作区）：集中保存和查询日志。</a:t>
            </a:r>
          </a:p>
          <a:p xmlns:a="http://schemas.openxmlformats.org/drawingml/2006/main">
            <a:pPr algn="l">
              <a:defRPr sz="788" b="0">
                <a:solidFill>
                  <a:srgbClr val="1726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172635"/>
                </a:solidFill>
                <a:latin typeface="Microsoft YaHei"/>
                <a:ea typeface="Microsoft YaHei"/>
                <a:cs typeface="Microsoft YaHei"/>
              </a:rPr>
              <a:t>Key Vault（密钥保管库）：安全保存密码、密钥和证书。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1C80DD-4EB4-4440-B17D-D1D4EE58A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581150"/>
            <a:ext cx="2647950" cy="4533900"/>
          </a:xfrm>
          <a:prstGeom xmlns:a="http://schemas.openxmlformats.org/drawingml/2006/main" prst="roundRect">
            <a:avLst>
              <a:gd name="adj" fmla="val 4317"/>
            </a:avLst>
          </a:prstGeom>
          <a:solidFill xmlns:a="http://schemas.openxmlformats.org/drawingml/2006/main">
            <a:srgbClr val="EDF7E9"/>
          </a:solidFill>
          <a:ln xmlns:a="http://schemas.openxmlformats.org/drawingml/2006/main" w="9525">
            <a:solidFill>
              <a:srgbClr val="4F9E3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wrap="square" lIns="152400" tIns="133350" rIns="133350" bIns="1143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1726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172635"/>
                </a:solidFill>
                <a:latin typeface="Microsoft YaHei"/>
                <a:ea typeface="Microsoft YaHei"/>
                <a:cs typeface="Microsoft YaHei"/>
              </a:rPr>
              <a:t>NETWORK &amp; COMPUTE｜网络与计算</a:t>
            </a:r>
          </a:p>
          <a:p xmlns:a="http://schemas.openxmlformats.org/drawingml/2006/main">
            <a:pPr algn="l">
              <a:defRPr sz="788" b="0">
                <a:solidFill>
                  <a:srgbClr val="1726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172635"/>
                </a:solidFill>
                <a:latin typeface="Microsoft YaHei"/>
                <a:ea typeface="Microsoft YaHei"/>
                <a:cs typeface="Microsoft YaHei"/>
              </a:rPr>
              <a:t>VNet / Virtual Network（虚拟网络）：Azure 中隔离的私有网络范围。</a:t>
            </a:r>
          </a:p>
          <a:p xmlns:a="http://schemas.openxmlformats.org/drawingml/2006/main">
            <a:pPr algn="l">
              <a:defRPr sz="788" b="0">
                <a:solidFill>
                  <a:srgbClr val="1726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172635"/>
                </a:solidFill>
                <a:latin typeface="Microsoft YaHei"/>
                <a:ea typeface="Microsoft YaHei"/>
                <a:cs typeface="Microsoft YaHei"/>
              </a:rPr>
              <a:t>Subnet（子网）：在 VNet 内进一步划分的地址范围。</a:t>
            </a:r>
          </a:p>
          <a:p xmlns:a="http://schemas.openxmlformats.org/drawingml/2006/main">
            <a:pPr algn="l">
              <a:defRPr sz="788" b="0">
                <a:solidFill>
                  <a:srgbClr val="1726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172635"/>
                </a:solidFill>
                <a:latin typeface="Microsoft YaHei"/>
                <a:ea typeface="Microsoft YaHei"/>
                <a:cs typeface="Microsoft YaHei"/>
              </a:rPr>
              <a:t>NIC / Network Interface（网卡）：把 VM 连接到 Subnet。</a:t>
            </a:r>
          </a:p>
          <a:p xmlns:a="http://schemas.openxmlformats.org/drawingml/2006/main">
            <a:pPr algn="l">
              <a:defRPr sz="788" b="0">
                <a:solidFill>
                  <a:srgbClr val="1726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172635"/>
                </a:solidFill>
                <a:latin typeface="Microsoft YaHei"/>
                <a:ea typeface="Microsoft YaHei"/>
                <a:cs typeface="Microsoft YaHei"/>
              </a:rPr>
              <a:t>NSG / Network Security Group（网络安全组）：按规则允许或拒绝网络流量。</a:t>
            </a:r>
          </a:p>
          <a:p xmlns:a="http://schemas.openxmlformats.org/drawingml/2006/main">
            <a:pPr algn="l">
              <a:defRPr sz="788" b="0">
                <a:solidFill>
                  <a:srgbClr val="1726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172635"/>
                </a:solidFill>
                <a:latin typeface="Microsoft YaHei"/>
                <a:ea typeface="Microsoft YaHei"/>
                <a:cs typeface="Microsoft YaHei"/>
              </a:rPr>
              <a:t>Route Table（路由表）：规定网络流量下一步从哪里走。</a:t>
            </a:r>
          </a:p>
          <a:p xmlns:a="http://schemas.openxmlformats.org/drawingml/2006/main">
            <a:pPr algn="l">
              <a:defRPr sz="788" b="0">
                <a:solidFill>
                  <a:srgbClr val="1726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172635"/>
                </a:solidFill>
                <a:latin typeface="Microsoft YaHei"/>
                <a:ea typeface="Microsoft YaHei"/>
                <a:cs typeface="Microsoft YaHei"/>
              </a:rPr>
              <a:t>Public IP（公网 IP）：可从互联网访问的地址。</a:t>
            </a:r>
          </a:p>
          <a:p xmlns:a="http://schemas.openxmlformats.org/drawingml/2006/main">
            <a:pPr algn="l">
              <a:defRPr sz="788" b="0">
                <a:solidFill>
                  <a:srgbClr val="1726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172635"/>
                </a:solidFill>
                <a:latin typeface="Microsoft YaHei"/>
                <a:ea typeface="Microsoft YaHei"/>
                <a:cs typeface="Microsoft YaHei"/>
              </a:rPr>
              <a:t>VM / Virtual Machine（虚拟机）：运行 Windows 或 Linux 的云服务器。</a:t>
            </a:r>
          </a:p>
          <a:p xmlns:a="http://schemas.openxmlformats.org/drawingml/2006/main">
            <a:pPr algn="l">
              <a:defRPr sz="788" b="0">
                <a:solidFill>
                  <a:srgbClr val="1726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172635"/>
                </a:solidFill>
                <a:latin typeface="Microsoft YaHei"/>
                <a:ea typeface="Microsoft YaHei"/>
                <a:cs typeface="Microsoft YaHei"/>
              </a:rPr>
              <a:t>Managed Disk（托管磁盘）：供 VM 使用的 Azure 磁盘。</a:t>
            </a:r>
          </a:p>
          <a:p xmlns:a="http://schemas.openxmlformats.org/drawingml/2006/main">
            <a:pPr algn="l">
              <a:defRPr sz="788" b="0">
                <a:solidFill>
                  <a:srgbClr val="1726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172635"/>
                </a:solidFill>
                <a:latin typeface="Microsoft YaHei"/>
                <a:ea typeface="Microsoft YaHei"/>
                <a:cs typeface="Microsoft YaHei"/>
              </a:rPr>
              <a:t>Azure Bastion（安全登录服务）：通过 Portal 安全连接 VM。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D662E7-FACF-457F-A77B-0E3FE552E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1581150"/>
            <a:ext cx="2647950" cy="4533900"/>
          </a:xfrm>
          <a:prstGeom xmlns:a="http://schemas.openxmlformats.org/drawingml/2006/main" prst="roundRect">
            <a:avLst>
              <a:gd name="adj" fmla="val 4317"/>
            </a:avLst>
          </a:prstGeom>
          <a:solidFill xmlns:a="http://schemas.openxmlformats.org/drawingml/2006/main">
            <a:srgbClr val="FFF3D6"/>
          </a:solidFill>
          <a:ln xmlns:a="http://schemas.openxmlformats.org/drawingml/2006/main" w="9525">
            <a:solidFill>
              <a:srgbClr val="E98B0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wrap="square" lIns="152400" tIns="133350" rIns="133350" bIns="1143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1726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172635"/>
                </a:solidFill>
                <a:latin typeface="Microsoft YaHei"/>
                <a:ea typeface="Microsoft YaHei"/>
                <a:cs typeface="Microsoft YaHei"/>
              </a:rPr>
              <a:t>SERVICENOW &amp; PROTOCOLS｜ServiceNow 与通信</a:t>
            </a:r>
          </a:p>
          <a:p xmlns:a="http://schemas.openxmlformats.org/drawingml/2006/main">
            <a:pPr algn="l">
              <a:defRPr sz="788" b="0">
                <a:solidFill>
                  <a:srgbClr val="1726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172635"/>
                </a:solidFill>
                <a:latin typeface="Microsoft YaHei"/>
                <a:ea typeface="Microsoft YaHei"/>
                <a:cs typeface="Microsoft YaHei"/>
              </a:rPr>
              <a:t>MID Server（中间服务器）：连接 ServiceNow 与被管理环境。</a:t>
            </a:r>
          </a:p>
          <a:p xmlns:a="http://schemas.openxmlformats.org/drawingml/2006/main">
            <a:pPr algn="l">
              <a:defRPr sz="788" b="0">
                <a:solidFill>
                  <a:srgbClr val="1726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172635"/>
                </a:solidFill>
                <a:latin typeface="Microsoft YaHei"/>
                <a:ea typeface="Microsoft YaHei"/>
                <a:cs typeface="Microsoft YaHei"/>
              </a:rPr>
              <a:t>Horizontal Discovery（水平发现）：从 IP 范围发现主机和设备。</a:t>
            </a:r>
          </a:p>
          <a:p xmlns:a="http://schemas.openxmlformats.org/drawingml/2006/main">
            <a:pPr algn="l">
              <a:defRPr sz="788" b="0">
                <a:solidFill>
                  <a:srgbClr val="1726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172635"/>
                </a:solidFill>
                <a:latin typeface="Microsoft YaHei"/>
                <a:ea typeface="Microsoft YaHei"/>
                <a:cs typeface="Microsoft YaHei"/>
              </a:rPr>
              <a:t>Azure Cloud Discovery（Azure 云发现）：通过 Azure API 获取云资源信息。</a:t>
            </a:r>
          </a:p>
          <a:p xmlns:a="http://schemas.openxmlformats.org/drawingml/2006/main">
            <a:pPr algn="l">
              <a:defRPr sz="788" b="0">
                <a:solidFill>
                  <a:srgbClr val="1726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172635"/>
                </a:solidFill>
                <a:latin typeface="Microsoft YaHei"/>
                <a:ea typeface="Microsoft YaHei"/>
                <a:cs typeface="Microsoft YaHei"/>
              </a:rPr>
              <a:t>ACC / Agent Client Collector（代理客户端收集器）：由目标上的 Agent 收集并回传数据。</a:t>
            </a:r>
          </a:p>
          <a:p xmlns:a="http://schemas.openxmlformats.org/drawingml/2006/main">
            <a:pPr algn="l">
              <a:defRPr sz="788" b="0">
                <a:solidFill>
                  <a:srgbClr val="1726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172635"/>
                </a:solidFill>
                <a:latin typeface="Microsoft YaHei"/>
                <a:ea typeface="Microsoft YaHei"/>
                <a:cs typeface="Microsoft YaHei"/>
              </a:rPr>
              <a:t>Credential（认证信息）：Discovery 登录目标所需的账号、密钥等。</a:t>
            </a:r>
          </a:p>
          <a:p xmlns:a="http://schemas.openxmlformats.org/drawingml/2006/main">
            <a:pPr algn="l">
              <a:defRPr sz="788" b="0">
                <a:solidFill>
                  <a:srgbClr val="1726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172635"/>
                </a:solidFill>
                <a:latin typeface="Microsoft YaHei"/>
                <a:ea typeface="Microsoft YaHei"/>
                <a:cs typeface="Microsoft YaHei"/>
              </a:rPr>
              <a:t>SSH：常用于远程访问 Linux。</a:t>
            </a:r>
          </a:p>
          <a:p xmlns:a="http://schemas.openxmlformats.org/drawingml/2006/main">
            <a:pPr algn="l">
              <a:defRPr sz="788" b="0">
                <a:solidFill>
                  <a:srgbClr val="1726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172635"/>
                </a:solidFill>
                <a:latin typeface="Microsoft YaHei"/>
                <a:ea typeface="Microsoft YaHei"/>
                <a:cs typeface="Microsoft YaHei"/>
              </a:rPr>
              <a:t>WMI：常用于读取 Windows 管理信息。</a:t>
            </a:r>
          </a:p>
          <a:p xmlns:a="http://schemas.openxmlformats.org/drawingml/2006/main">
            <a:pPr algn="l">
              <a:defRPr sz="788" b="0">
                <a:solidFill>
                  <a:srgbClr val="1726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172635"/>
                </a:solidFill>
                <a:latin typeface="Microsoft YaHei"/>
                <a:ea typeface="Microsoft YaHei"/>
                <a:cs typeface="Microsoft YaHei"/>
              </a:rPr>
              <a:t>SNMP：常用于发现网络设备。</a:t>
            </a:r>
          </a:p>
          <a:p xmlns:a="http://schemas.openxmlformats.org/drawingml/2006/main">
            <a:pPr algn="l">
              <a:defRPr sz="788" b="0">
                <a:solidFill>
                  <a:srgbClr val="1726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172635"/>
                </a:solidFill>
                <a:latin typeface="Microsoft YaHei"/>
                <a:ea typeface="Microsoft YaHei"/>
                <a:cs typeface="Microsoft YaHei"/>
              </a:rPr>
              <a:t>WSS：ACC 与 MID Server 使用的加密 WebSocket 通信。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402353-4F78-4E6B-A65C-481EC1350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00775"/>
            <a:ext cx="1116330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F7F9"/>
          </a:solidFill>
          <a:ln xmlns:a="http://schemas.openxmlformats.org/drawingml/2006/main" w="9525">
            <a:solidFill>
              <a:srgbClr val="E4EAF0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rmAutofit fontScale="41422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465B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465B6C"/>
                </a:solidFill>
                <a:latin typeface="Microsoft YaHei"/>
                <a:ea typeface="Microsoft YaHei"/>
                <a:cs typeface="Microsoft YaHei"/>
              </a:rPr>
              <a:t>使用建议：汇报正文保留英文 + 中文；实际配置画面、账户申请和手顺书以英文名称为准。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45DA220-8AD5-4798-BF0A-09CCBFD60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4EAF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88A7A7A-42CE-471E-AC75-78A44C47D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43675"/>
            <a:ext cx="495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F7F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F7F8D"/>
                </a:solidFill>
                <a:latin typeface="Microsoft YaHei"/>
                <a:ea typeface="Microsoft YaHei"/>
                <a:cs typeface="Microsoft YaHei"/>
              </a:rPr>
              <a:t>PC2.0 Azure × ServiceNow ITOM｜术语说明版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A50A10E-1458-4281-8896-8C895EAB4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43675"/>
            <a:ext cx="6286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F7F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6F7F8D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16829219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2026-09-03T05:15:46.5600000Z</dcterms:created>
  <dcterms:modified xsi:type="dcterms:W3CDTF">2026-09-03T05:15:46.5600000Z</dcterms:modified>
</coreProperties>
</file>