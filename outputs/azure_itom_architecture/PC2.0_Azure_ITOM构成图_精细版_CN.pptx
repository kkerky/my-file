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26d12d1a964581" /><Relationship Type="http://schemas.openxmlformats.org/officeDocument/2006/relationships/extended-properties" Target="/docProps/app.xml" Id="Rb04c6390906e4b16" /><Relationship Type="http://schemas.openxmlformats.org/officeDocument/2006/relationships/officeDocument" Target="/ppt/presentation.xml" Id="Rb902742e80184d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e4a179dc614b2b"/>
  </p:sldMasterIdLst>
  <p:notesMasterIdLst>
    <p:notesMasterId xmlns:r="http://schemas.openxmlformats.org/officeDocument/2006/relationships" r:id="R288d0f2f44de4f94"/>
  </p:notesMasterIdLst>
  <p:sldIdLst>
    <p:sldId xmlns:r="http://schemas.openxmlformats.org/officeDocument/2006/relationships" id="256" r:id="R641deca0fc294f7f"/>
    <p:sldId xmlns:r="http://schemas.openxmlformats.org/officeDocument/2006/relationships" id="257" r:id="R6833dc640c5043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741dd6b22443be" /><Relationship Type="http://schemas.openxmlformats.org/officeDocument/2006/relationships/slideMaster" Target="/ppt/slideMasters/slideMaster1.xml" Id="Rd5e4a179dc614b2b" /><Relationship Type="http://schemas.openxmlformats.org/officeDocument/2006/relationships/notesMaster" Target="/ppt/notesMasters/notesMaster1.xml" Id="R288d0f2f44de4f94" /><Relationship Type="http://schemas.openxmlformats.org/officeDocument/2006/relationships/presProps" Target="/ppt/presProps.xml" Id="R9cbdd150bcb943fc" /><Relationship Type="http://schemas.openxmlformats.org/officeDocument/2006/relationships/tableStyles" Target="/ppt/tableStyles.xml" Id="Rf34d612bb8a844d7" /><Relationship Type="http://schemas.openxmlformats.org/officeDocument/2006/relationships/slide" Target="/ppt/slides/slide1.xml" Id="R641deca0fc294f7f" /><Relationship Type="http://schemas.openxmlformats.org/officeDocument/2006/relationships/slide" Target="/ppt/slides/slide2.xml" Id="R6833dc640c5043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f00507e8b249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efb99619fa4179" /><Relationship Type="http://schemas.openxmlformats.org/officeDocument/2006/relationships/notesMaster" Target="/ppt/notesMasters/notesMaster1.xml" Id="Rb6fd9794ea824d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f905d5bdd64a0a" /><Relationship Type="http://schemas.openxmlformats.org/officeDocument/2006/relationships/notesMaster" Target="/ppt/notesMasters/notesMaster1.xml" Id="R3626ef3fbbfe42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本页是 PC2.0 的项目建议构成，不是 Microsoft 或 ServiceNow 的强制模板。</a:t>
            </a:r>
          </a:p>
          <a:p xmlns:a="http://schemas.openxmlformats.org/drawingml/2006/main">
            <a:r>
              <a:t>- Horizontal Discovery 由 MID 主动访问目标；ACC 由 Agent 建立到 MID 的 WebSocket 连接；Azure Cloud Discovery 通过 Azure API 获取云侧资源信息。</a:t>
            </a:r>
          </a:p>
          <a:p xmlns:a="http://schemas.openxmlformats.org/drawingml/2006/main">
            <a:r>
              <a:t>- DEV / TEST / PROD 在同一 Subscription 中，通过 Resource Group、VNet、权限以及独立 Credential / API Key 做逻辑隔离。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Microsoft Entra Tenant 是身份目录基础；本页主体的四层是 Azure Resource Manager 官方定义的管理作用域。</a:t>
            </a:r>
          </a:p>
          <a:p xmlns:a="http://schemas.openxmlformats.org/drawingml/2006/main">
            <a:r>
              <a:t>- Management Group 用于跨 Subscription 的治理；Subscription 是资源使用、计费、配额和访问控制的重要边界。</a:t>
            </a:r>
          </a:p>
          <a:p xmlns:a="http://schemas.openxmlformats.org/drawingml/2006/main">
            <a:r>
              <a:t>- Resource Group 管理生命周期相近的相关资源；Resource 是 VM、VNet、Disk、NIC 等实际对象。</a:t>
            </a:r>
          </a:p>
          <a:p xmlns:a="http://schemas.openxmlformats.org/drawingml/2006/main">
            <a:r>
              <a:t>- Resource Manager 接收 Portal、CLI、PowerShell、REST 或 SDK 请求，完成身份验证和授权，再把请求转发给对应 Azure 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https://learn.microsoft.com/en-us/azure/azure-resource-manager/management/media/overview/scope-levels.png</a:t>
            </a:r>
          </a:p>
          <a:p xmlns:a="http://schemas.openxmlformats.org/drawingml/2006/main">
            <a:r>
              <a:t>- https://learn.microsoft.com/en-us/azure/azure-resource-manager/management/media/overview/consistent-management-layer.png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2d7d23c3a42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49d9cef08e4475" /><Relationship Type="http://schemas.openxmlformats.org/officeDocument/2006/relationships/slideLayout" Target="/ppt/slideLayouts/slideLayout1.xml" Id="Rc2d5af5353be4a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d5af5353be4a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8eb2088c34a29" /><Relationship Type="http://schemas.openxmlformats.org/officeDocument/2006/relationships/notesSlide" Target="/ppt/notesSlides/notesSlide1.xml" Id="R2dfa97f865f64f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e256bb5544ba3" /><Relationship Type="http://schemas.openxmlformats.org/officeDocument/2006/relationships/image" Target="/ppt/media/image.png" Id="R86d064d8bbb04b97" /><Relationship Type="http://schemas.openxmlformats.org/officeDocument/2006/relationships/notesSlide" Target="/ppt/notesSlides/notesSlide2.xml" Id="Rc1ed6cdaeb6e4c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36FD33-4F08-4ECE-A4E7-9070CE73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01｜构成图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49405-5D1B-41EE-BAA3-7F8A5C7E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PC2.0 Azure / ServiceNow ITOM 构成图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E74D8-A544-4668-94C5-BDD27667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一套 Subscription 内，以 Resource Group、VNet、权限和连接信息分开 DEV / TEST / PROD。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5D192-DC6F-46A3-8E6A-246F36B2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9755B-63BD-420E-8205-78F0B1B9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19300" cy="33147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2E41F-EF16-48BE-9CE5-6B2B8AD3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463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7199F-80B1-4995-9450-A3E9127E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8CC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CCE0"/>
                </a:solidFill>
                <a:latin typeface="Microsoft YaHei"/>
                <a:ea typeface="Microsoft YaHei"/>
                <a:cs typeface="Microsoft YaHei"/>
              </a:rPr>
              <a:t>实例对应关系另行确认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6C12B-460C-4887-BD63-1497257F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1638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DFA"/>
          </a:solidFill>
          <a:ln xmlns:a="http://schemas.openxmlformats.org/drawingml/2006/main" w="9525">
            <a:solidFill>
              <a:srgbClr val="D9EDF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Horizontal 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9880D-A3EF-4F9D-867D-4A270BAF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MID 主动访问目标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44FCF-0791-4F9B-B9DE-05CEF4BD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38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2DE"/>
          </a:solidFill>
          <a:ln xmlns:a="http://schemas.openxmlformats.org/drawingml/2006/main" w="9525">
            <a:solidFill>
              <a:srgbClr val="E5F2DE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Agent Client Collector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B7188-8F06-43BD-8C5B-FCE056BF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经 MID 回传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53C9C-6101-448A-B74D-F5CA3515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1638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9C8"/>
          </a:solidFill>
          <a:ln xmlns:a="http://schemas.openxmlformats.org/drawingml/2006/main" w="9525">
            <a:solidFill>
              <a:srgbClr val="FDE9C8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Azure Cloud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B3FE8-E153-4775-8C72-B9B8216E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 Azure API 取得云资源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CD077-332B-4F48-9216-E5E68302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76550"/>
            <a:ext cx="7239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88498-F066-49C7-933A-2C755DA1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723900" cy="2000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CF073-D3C1-4A31-B5CF-15AADF80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00550"/>
            <a:ext cx="7239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A899A-CEC6-4C35-8024-9747E7E9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4010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ED66C-0DE0-4D49-828B-6C4E3D8E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Microsoft Entra Tenant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3456E-52B9-456E-9AF2-67641F6F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62150"/>
            <a:ext cx="2324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Subscription：PC2.0-ITOM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613E1-8CE3-408E-BB41-F72AAA27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共同控制：RBAC ｜ Tag ｜ Policy ｜ Monitor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77505-FD27-42BA-BAA1-1BAE20EF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47850"/>
            <a:ext cx="2019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anchor="ctr">
            <a:normAutofit fontScale="98742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Resource Manager API</a:t>
            </a:r>
          </a:p>
          <a:p xmlns:a="http://schemas.openxmlformats.org/drawingml/2006/main">
            <a:pPr algn="ctr">
              <a:def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Cloud Discovery 读取云资源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3C2116-E9D2-45E8-805C-1DEF097D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3812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48F18-F781-4E02-A5D2-22DF45B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DC0D0-A4AD-4DF0-BAD1-AEBDBE14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76575"/>
            <a:ext cx="2381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7A5E5-63C7-443D-BE4E-ABE94A7F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30EE3E-4207-45B7-9498-6B1EDE9E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rg-pc20-dev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EA9D57-F4E9-45FE-BC39-AB47125C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147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vnet-dev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50FB3A-A6E9-4CBB-B1EE-D04EDC0C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48075"/>
            <a:ext cx="2038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MID-DEV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EDEF9E-0EE5-4130-A499-C2FB7D60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71950"/>
            <a:ext cx="7048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352A1-4A5A-49C5-8E84-ED9E3FAF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3624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741BEF-489E-4686-9FBA-5DA011C2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720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业务 VM + ACC 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BF7B9F-5B1A-4F81-A454-B2ED6A4F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3812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F37191-4C11-44CA-B293-DA0A460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8EBB80-5B5C-4987-BC3C-C880DDFC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76575"/>
            <a:ext cx="2381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66DDA8-1AE2-4B20-956A-C2D125A6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EECF96-BFAC-4BD7-8877-3832817C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rg-pc20-test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49A1E1-1008-4975-A0AA-B8A9EB25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vnet-test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423EF0-ECC4-46FE-A2AB-CF6490D2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48075"/>
            <a:ext cx="2038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MID-TEST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DDF7ED-45F7-4D19-823C-82A58C4E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7048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6AC679-86E1-4ECD-9019-F30D2066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3624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DA9B2F-8F66-4583-8FB3-815FCA49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720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业务 VM + ACC Agent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8E364B-D939-491E-BD1B-6DAED9DB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812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422038-0824-4A6F-BF4B-93DD6140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0DF6D2-CB24-4EF9-88C7-4537661D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76575"/>
            <a:ext cx="2381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82AE56-69CD-4890-9872-97A0C581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D9856A-9F84-44DC-AC97-84E57592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rg-pc20-prod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BC2AAF-AD3A-4ED9-AE70-6EC0C43D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147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vnet-prod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A6AA55-FED2-4CE6-9179-79DF67FF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48075"/>
            <a:ext cx="2038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MID-PROD 01 / 02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4C9FA3-F6D1-4F7C-B66C-F8F6A6D8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7048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8125AF-03D7-4B75-9A37-CEE0F3B8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3624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4D3ADF-7931-4F69-AB7B-3A2C24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业务 VM + ACC Agent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C95B7C-CE6B-43DE-9484-BECFED26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34050"/>
            <a:ext cx="840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C8649E-3205-4ED6-A940-0DFB6B6E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8483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环境隔离重点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BC750F-1F50-4C9A-B042-E95BF3EA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48350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RG + VNet + RBAC + 独立 Credential / API Key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89CC0D-5E19-48E0-BC51-89F6AFD2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102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可选共通组件：Palo Alto / Bastion / Log Analytics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E4232F-3465-4B92-B79F-62CF1099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6A1037-C0BC-4913-A5E6-F50FBB3A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ITOM｜精简版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663A36-1710-407C-962F-DB5A8B2C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384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B99268-D3FE-4854-90A2-EBD7FAAC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02｜Azure 管理层级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8FB13-E3B9-4D00-8929-8E0AC6A7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每个层级是什么、包含什么、管理什么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B053E-2656-42FB-B274-213CC0EF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Microsoft 官方定义四个管理作用域；越往下越具体，下层会继承上层设置的 RBAC 与 Policy。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E8842-D99F-40FA-AF6C-37C1D685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67E22-156F-4C87-A69F-11862416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76292-AB57-4AE4-B391-14B7A3B6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656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656C9"/>
                </a:solidFill>
                <a:latin typeface="Microsoft YaHei"/>
                <a:ea typeface="Microsoft YaHei"/>
                <a:cs typeface="Microsoft YaHei"/>
              </a:rPr>
              <a:t>身份基础｜Microsoft Entra Tenant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D16B5-7B69-4AFF-82A9-F25D3D76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43050"/>
            <a:ext cx="782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包含用户、组、Service Principal；同一 Management Group 下的 Subscription 必须信任同一 Tenant。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F0D3B-B2BF-4E65-B953-8E76D3D4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管理作用域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43E65-8401-4DD9-BF2F-4AD3856F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621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定义与主要用途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07D4B-529D-4C2B-8E5E-ABFB36AB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621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直接包含 / 典型对象 / PC2.0 示例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E3070-16C7-4C6C-8640-785C40C1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7277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95A2F-EA39-4521-80FA-1E0646F1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14668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1CE59-C968-4FB4-A14B-8E31CED5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38375"/>
            <a:ext cx="133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F0EC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4040D-740A-4DE4-AB22-3B69A111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7289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656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656C9"/>
                </a:solidFill>
                <a:latin typeface="Microsoft YaHei"/>
                <a:ea typeface="Microsoft YaHei"/>
                <a:cs typeface="Microsoft YaHei"/>
              </a:rPr>
              <a:t>1  Management Group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66E53-2000-4FC1-8115-AB77C11A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多订阅治理层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FB6B2-2464-4673-9768-B0E2AE0B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241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位于 Subscription 之上的治理作用域；用于统一管理多个订阅。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AFB75-9A8A-4BDE-AB3D-E52ED7CE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050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子 Management Group、Subscription</a:t>
            </a:r>
          </a:p>
          <a:p xmlns:a="http://schemas.openxmlformats.org/drawingml/2006/main">
            <a:pPr algn="l">
              <a:def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统一下发：RBAC / Policy / 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B9B84-F9F9-4038-8F6E-8598546B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7277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EC918-F405-4C08-92C7-762785F7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14668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535D1-385B-410F-BDD0-A4DEC748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76575"/>
            <a:ext cx="133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F9A05-42E4-40D0-9CA4-4F705BFD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718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2  Subscription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E0A13-AA97-4914-A962-D00FA691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8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计费、配额与权限边界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11ED7-36C5-4237-9260-6EE583B7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623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资源使用、费用、配额与访问控制的重要边界。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EE7252-87CF-4F86-9AEE-84F56AD6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432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Resource Group、订阅级设置</a:t>
            </a:r>
          </a:p>
          <a:p xmlns:a="http://schemas.openxmlformats.org/drawingml/2006/main">
            <a:pPr algn="l">
              <a:def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PC2.0：1 套 PC2.0-ITOM Subscription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BAA18-58A1-4355-997F-76474923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7277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49F4E6-A8FB-46F2-B31D-1C8683FC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4668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54215E-E42D-42EB-A2B8-4103F506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14775"/>
            <a:ext cx="133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EDF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9A65B-15B3-4E9D-A3CA-69836B26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00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923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3  Resource Group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B1E703-1C06-48DE-9B18-E42BEF44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生命周期管理容器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6248F8-A333-4F70-9EAB-8C2E343D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005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把同一解决方案、同一生命周期的相关资源作为一组管理；每个资源只能属于一个 RG。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791DAA-933E-4A19-A29A-E72688B6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8145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VM、VNet、Disk、NIC、NSG 等</a:t>
            </a:r>
          </a:p>
          <a:p xmlns:a="http://schemas.openxmlformats.org/drawingml/2006/main">
            <a:pPr algn="l">
              <a:def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PC2.0：rg-pc20-dev / test / prod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720071-52AB-4630-A667-3D54ABCE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7277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C7675B-A81C-46A3-A255-5F5CB68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146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CEAA6D-0E33-4819-9143-C73D88C4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10125"/>
            <a:ext cx="133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28E918-1CDA-4EEC-A3D9-7CE2C8D1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4  Resource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DBB976-493D-495A-BD21-1D1E01F6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816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实际创建和运行的对象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CED278-194B-4CCE-B36B-705FE866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958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中可以创建、更新、删除和监控的具体可管理对象。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E329DA-F0EC-4CE7-AAA8-916A49DA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7680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计算：VM / Disk　网络：VNet / Subnet / NIC / NSG / Route Table / Public IP</a:t>
            </a:r>
          </a:p>
          <a:p xmlns:a="http://schemas.openxmlformats.org/drawingml/2006/main">
            <a:pPr algn="l">
              <a:defRPr sz="8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运维：Key Vault / Log Analytics / Bastion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C651DD-ABB5-4F87-A563-2959E71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Microsoft 官方层级图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E5D3AF-C3C7-4764-93BF-FFDE08C5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064d8bbb04b97"/>
          <a:stretch xmlns:a="http://schemas.openxmlformats.org/drawingml/2006/main"/>
        </p:blipFill>
        <p:spPr>
          <a:xfrm xmlns:a="http://schemas.openxmlformats.org/drawingml/2006/main">
            <a:off x="8192861" y="2324100"/>
            <a:ext cx="3083379" cy="19621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152F4A-33CF-49AE-A3B3-C816CC64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Resource Manager 的位置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CB6632-629C-4DD7-8853-7F47C799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1466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Portal / CLI / API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681750-516E-4210-96FF-0B5CDB0F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958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9FDFC9-9DA3-4701-BB24-5825891B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5297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>
            <a:normAutofit fontScale="9657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Azure Resource Manager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认证・授权・统一管理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C4262B-8C3B-4772-A34A-89646A23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248275"/>
            <a:ext cx="2476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7F8D"/>
          </a:solidFill>
          <a:ln xmlns:a="http://schemas.openxmlformats.org/drawingml/2006/main" w="9525">
            <a:solidFill>
              <a:srgbClr val="6F7F8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A2C20A-B2FA-4DB8-9865-7F7F266A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864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Resource Provider → 实际资源</a:t>
            </a:r>
          </a:p>
          <a:p xmlns:a="http://schemas.openxmlformats.org/drawingml/2006/main">
            <a:pPr algn="ctr">
              <a:def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Compute：VM｜Network：VNet / NIC｜Storage：Disk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87395F-0D30-479C-8A6D-BAECEA8C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0275"/>
            <a:ext cx="727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继承方向：Management Group → Subscription → Resource Group → Resource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380A1E-F690-4559-8D3D-F74EA4B6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76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资料：Microsoft Learn｜Resource Manager overview / Management Groups overview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153A1A-FE92-42C5-A9BC-C87BBF4B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169AB3-EB60-4FB1-8FF2-3421F9F0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ITOM｜精简版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5FED7E-3FCC-4373-9639-1D9D22C7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0436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2026-09-03T04:43:22.7610000Z</dcterms:created>
  <dcterms:modified xsi:type="dcterms:W3CDTF">2026-09-03T04:43:22.7610000Z</dcterms:modified>
</coreProperties>
</file>