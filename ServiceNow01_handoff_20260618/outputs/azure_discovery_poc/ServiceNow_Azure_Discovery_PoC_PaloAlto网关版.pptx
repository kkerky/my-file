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54f388cf17346ff" /><Relationship Type="http://schemas.openxmlformats.org/officeDocument/2006/relationships/extended-properties" Target="/docProps/app.xml" Id="R82af97dc26d84d1c" /><Relationship Type="http://schemas.openxmlformats.org/officeDocument/2006/relationships/officeDocument" Target="/ppt/presentation.xml" Id="R8dea1d2347224e8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e0ba73aa9c84edf"/>
  </p:sldMasterIdLst>
  <p:notesMasterIdLst>
    <p:notesMasterId xmlns:r="http://schemas.openxmlformats.org/officeDocument/2006/relationships" r:id="R933db21d0eac45ac"/>
  </p:notesMasterIdLst>
  <p:sldIdLst>
    <p:sldId xmlns:r="http://schemas.openxmlformats.org/officeDocument/2006/relationships" id="256" r:id="R8ec85c4b0ab14990"/>
  </p:sldIdLst>
  <p:sldSz cx="15240000" cy="8572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7d6c12a87eb4a34" /><Relationship Type="http://schemas.openxmlformats.org/officeDocument/2006/relationships/slideMaster" Target="/ppt/slideMasters/slideMaster1.xml" Id="R8e0ba73aa9c84edf" /><Relationship Type="http://schemas.openxmlformats.org/officeDocument/2006/relationships/notesMaster" Target="/ppt/notesMasters/notesMaster1.xml" Id="R933db21d0eac45ac" /><Relationship Type="http://schemas.openxmlformats.org/officeDocument/2006/relationships/presProps" Target="/ppt/presProps.xml" Id="Ree33347d1e364048" /><Relationship Type="http://schemas.openxmlformats.org/officeDocument/2006/relationships/tableStyles" Target="/ppt/tableStyles.xml" Id="Rd50b0875651b443e" /><Relationship Type="http://schemas.openxmlformats.org/officeDocument/2006/relationships/slide" Target="/ppt/slides/slide1.xml" Id="R8ec85c4b0ab1499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53c4fdbcf95445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96d595a02da42c5" /><Relationship Type="http://schemas.openxmlformats.org/officeDocument/2006/relationships/notesMaster" Target="/ppt/notesMasters/notesMaster1.xml" Id="R77cd6616d04e421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76e90ec53e4d6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0199e43a3854799" /><Relationship Type="http://schemas.openxmlformats.org/officeDocument/2006/relationships/slideLayout" Target="/ppt/slideLayouts/slideLayout1.xml" Id="Rbefdfbaf5fed44b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efdfbaf5fed44b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5f6b8e523c4892" /><Relationship Type="http://schemas.openxmlformats.org/officeDocument/2006/relationships/notesSlide" Target="/ppt/notesSlides/notesSlide1.xml" Id="R0c3182f88abd4d6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r">
            <a:extLst xmlns:a="http://schemas.openxmlformats.org/drawingml/2006/main">
              <a:ext uri="{FF2B5EF4-FFF2-40B4-BE49-F238E27FC236}">
                <a16:creationId xmlns:a16="http://schemas.microsoft.com/office/drawing/2014/main" id="{E2DD725C-1103-4231-B6EF-3E4A2F8AC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95B"/>
          </a:solidFill>
          <a:ln xmlns:a="http://schemas.openxmlformats.org/drawingml/2006/main" w="11906">
            <a:solidFill>
              <a:srgbClr val="12395B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55C4E27-46C6-4BCC-84ED-AC5C5F53C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333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ServiceNow Discovery PoC 構成図（Palo Alto ゲートウェイ版）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CC09FB88-2288-48BE-90CB-E5DDA99E5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9050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DDEBF7"/>
                </a:solidFill>
              </a:defRPr>
            </a:pPr>
            <a:r>
              <a:rPr sz="1200" b="0">
                <a:solidFill>
                  <a:srgbClr val="DDEBF7"/>
                </a:solidFill>
              </a:rPr>
              <a:t>B案に近い考え方：Discovery traffic を Palo Alto 経由で検証</a:t>
            </a:r>
          </a:p>
        </p:txBody>
      </p:sp>
      <p:sp>
        <p:nvSpPr>
          <p:cNvPr id="4" name="azure-boundary">
            <a:extLst xmlns:a="http://schemas.openxmlformats.org/drawingml/2006/main">
              <a:ext uri="{FF2B5EF4-FFF2-40B4-BE49-F238E27FC236}">
                <a16:creationId xmlns:a16="http://schemas.microsoft.com/office/drawing/2014/main" id="{1B5A5251-3F91-4C49-8793-D7F0E4E91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066800"/>
            <a:ext cx="9620250" cy="6572250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1906">
            <a:solidFill>
              <a:srgbClr val="5B9BD5"/>
            </a:solidFill>
            <a:prstDash val="solid"/>
          </a:ln>
        </p:spPr>
      </p:sp>
      <p:sp>
        <p:nvSpPr>
          <p:cNvPr id="5" name="azure-title">
            <a:extLst xmlns:a="http://schemas.openxmlformats.org/drawingml/2006/main">
              <a:ext uri="{FF2B5EF4-FFF2-40B4-BE49-F238E27FC236}">
                <a16:creationId xmlns:a16="http://schemas.microsoft.com/office/drawing/2014/main" id="{7794D487-7C1C-441A-8B9D-EB7E8C19C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1811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395B"/>
                </a:solidFill>
              </a:defRPr>
            </a:pPr>
            <a:r>
              <a:rPr sz="1575" b="1">
                <a:solidFill>
                  <a:srgbClr val="12395B"/>
                </a:solidFill>
              </a:rPr>
              <a:t>Azure PoC Resource Group / VNet</a:t>
            </a:r>
          </a:p>
        </p:txBody>
      </p:sp>
      <p:sp>
        <p:nvSpPr>
          <p:cNvPr id="6" name="azure-note">
            <a:extLst xmlns:a="http://schemas.openxmlformats.org/drawingml/2006/main">
              <a:ext uri="{FF2B5EF4-FFF2-40B4-BE49-F238E27FC236}">
                <a16:creationId xmlns:a16="http://schemas.microsoft.com/office/drawing/2014/main" id="{2FF3FF0F-D6EF-4371-A90C-F61F53471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438275"/>
            <a:ext cx="800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475569"/>
                </a:solidFill>
              </a:defRPr>
            </a:pPr>
            <a:r>
              <a:rPr sz="938" b="0">
                <a:solidFill>
                  <a:srgbClr val="475569"/>
                </a:solidFill>
              </a:rPr>
              <a:t>この版では Palo Alto を経路上の Firewall / Gateway として扱う。UDR / Route Table / Security Policy の設計が必要。</a:t>
            </a:r>
          </a:p>
        </p:txBody>
      </p:sp>
      <p:sp>
        <p:nvSpPr>
          <p:cNvPr id="7" name="servicenow">
            <a:extLst xmlns:a="http://schemas.openxmlformats.org/drawingml/2006/main">
              <a:ext uri="{FF2B5EF4-FFF2-40B4-BE49-F238E27FC236}">
                <a16:creationId xmlns:a16="http://schemas.microsoft.com/office/drawing/2014/main" id="{D871EE37-3E99-4E94-80ED-EBDB232A0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104900"/>
            <a:ext cx="1952625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DEBF7"/>
          </a:solidFill>
          <a:ln xmlns:a="http://schemas.openxmlformats.org/drawingml/2006/main" w="11906">
            <a:solidFill>
              <a:srgbClr val="5B9BD5"/>
            </a:solidFill>
            <a:prstDash val="solid"/>
          </a:ln>
        </p:spPr>
      </p:sp>
      <p:sp>
        <p:nvSpPr>
          <p:cNvPr id="8" name="servicenow-title">
            <a:extLst xmlns:a="http://schemas.openxmlformats.org/drawingml/2006/main">
              <a:ext uri="{FF2B5EF4-FFF2-40B4-BE49-F238E27FC236}">
                <a16:creationId xmlns:a16="http://schemas.microsoft.com/office/drawing/2014/main" id="{2D6F703E-4E0E-41A3-9D84-7DA654CB0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200150"/>
            <a:ext cx="16859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95B"/>
                </a:solidFill>
              </a:defRPr>
            </a:pPr>
            <a:r>
              <a:rPr sz="1350" b="1">
                <a:solidFill>
                  <a:srgbClr val="12395B"/>
                </a:solidFill>
              </a:rPr>
              <a:t>ServiceNow Instance</a:t>
            </a:r>
          </a:p>
        </p:txBody>
      </p:sp>
      <p:sp>
        <p:nvSpPr>
          <p:cNvPr id="9" name="servicenow-body">
            <a:extLst xmlns:a="http://schemas.openxmlformats.org/drawingml/2006/main">
              <a:ext uri="{FF2B5EF4-FFF2-40B4-BE49-F238E27FC236}">
                <a16:creationId xmlns:a16="http://schemas.microsoft.com/office/drawing/2014/main" id="{3D056BDB-1E8C-4666-9824-270F89898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466850"/>
            <a:ext cx="16859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3"/>
                </a:solidFill>
              </a:defRPr>
            </a:pPr>
            <a:r>
              <a:rPr sz="975" b="0">
                <a:solidFill>
                  <a:srgbClr val="1F2933"/>
                </a:solidFill>
              </a:rPr>
              <a:t>Discovery / Service Mapping</a:t>
            </a:r>
          </a:p>
          <a:p xmlns:a="http://schemas.openxmlformats.org/drawingml/2006/main">
            <a:pPr algn="l">
              <a:defRPr sz="975" b="0">
                <a:solidFill>
                  <a:srgbClr val="1F2933"/>
                </a:solidFill>
              </a:defRPr>
            </a:pPr>
            <a:r>
              <a:rPr sz="975" b="0">
                <a:solidFill>
                  <a:srgbClr val="1F2933"/>
                </a:solidFill>
              </a:rPr>
              <a:t>CMDB / ACC / Cloud Discovery</a:t>
            </a:r>
          </a:p>
        </p:txBody>
      </p:sp>
      <p:sp>
        <p:nvSpPr>
          <p:cNvPr id="10" name="mid">
            <a:extLst xmlns:a="http://schemas.openxmlformats.org/drawingml/2006/main">
              <a:ext uri="{FF2B5EF4-FFF2-40B4-BE49-F238E27FC236}">
                <a16:creationId xmlns:a16="http://schemas.microsoft.com/office/drawing/2014/main" id="{6E87B88F-EE4A-4829-96C1-AD3F68B77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828800"/>
            <a:ext cx="2047875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5B9BD5"/>
            </a:solidFill>
            <a:prstDash val="solid"/>
          </a:ln>
        </p:spPr>
      </p:sp>
      <p:sp>
        <p:nvSpPr>
          <p:cNvPr id="11" name="mid-title">
            <a:extLst xmlns:a="http://schemas.openxmlformats.org/drawingml/2006/main">
              <a:ext uri="{FF2B5EF4-FFF2-40B4-BE49-F238E27FC236}">
                <a16:creationId xmlns:a16="http://schemas.microsoft.com/office/drawing/2014/main" id="{E1FC40AF-6105-493C-9CEA-916CBB130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924050"/>
            <a:ext cx="17811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95B"/>
                </a:solidFill>
              </a:defRPr>
            </a:pPr>
            <a:r>
              <a:rPr sz="1350" b="1">
                <a:solidFill>
                  <a:srgbClr val="12395B"/>
                </a:solidFill>
              </a:rPr>
              <a:t>MID Server</a:t>
            </a:r>
          </a:p>
        </p:txBody>
      </p:sp>
      <p:sp>
        <p:nvSpPr>
          <p:cNvPr id="12" name="mid-body">
            <a:extLst xmlns:a="http://schemas.openxmlformats.org/drawingml/2006/main">
              <a:ext uri="{FF2B5EF4-FFF2-40B4-BE49-F238E27FC236}">
                <a16:creationId xmlns:a16="http://schemas.microsoft.com/office/drawing/2014/main" id="{5AD6FAF6-6EDA-4602-983B-6D67CCDEF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190750"/>
            <a:ext cx="17811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3"/>
                </a:solidFill>
              </a:defRPr>
            </a:pPr>
            <a:r>
              <a:rPr sz="975" b="0">
                <a:solidFill>
                  <a:srgbClr val="1F2933"/>
                </a:solidFill>
              </a:rPr>
              <a:t>VLAN01 / Mgmt Subnet</a:t>
            </a:r>
          </a:p>
          <a:p xmlns:a="http://schemas.openxmlformats.org/drawingml/2006/main">
            <a:pPr algn="l">
              <a:defRPr sz="975" b="0">
                <a:solidFill>
                  <a:srgbClr val="1F2933"/>
                </a:solidFill>
              </a:defRPr>
            </a:pPr>
            <a:r>
              <a:rPr sz="975" b="0">
                <a:solidFill>
                  <a:srgbClr val="1F2933"/>
                </a:solidFill>
              </a:rPr>
              <a:t>10.100.10.0/24</a:t>
            </a:r>
          </a:p>
          <a:p xmlns:a="http://schemas.openxmlformats.org/drawingml/2006/main">
            <a:pPr algn="l">
              <a:defRPr sz="975" b="0">
                <a:solidFill>
                  <a:srgbClr val="1F2933"/>
                </a:solidFill>
              </a:defRPr>
            </a:pPr>
            <a:r>
              <a:rPr sz="975" b="0">
                <a:solidFill>
                  <a:srgbClr val="1F2933"/>
                </a:solidFill>
              </a:rPr>
              <a:t>Outbound HTTPS 443</a:t>
            </a:r>
          </a:p>
        </p:txBody>
      </p:sp>
      <p:sp>
        <p:nvSpPr>
          <p:cNvPr id="13" name="sn-mid-0">
            <a:extLst xmlns:a="http://schemas.openxmlformats.org/drawingml/2006/main">
              <a:ext uri="{FF2B5EF4-FFF2-40B4-BE49-F238E27FC236}">
                <a16:creationId xmlns:a16="http://schemas.microsoft.com/office/drawing/2014/main" id="{814229F5-DFEC-4BEA-84D4-A90CED919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1604963"/>
            <a:ext cx="409575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B9BD5"/>
          </a:solidFill>
          <a:ln xmlns:a="http://schemas.openxmlformats.org/drawingml/2006/main" w="11906">
            <a:solidFill>
              <a:srgbClr val="5B9BD5"/>
            </a:solidFill>
            <a:prstDash val="solid"/>
          </a:ln>
        </p:spPr>
      </p:sp>
      <p:sp>
        <p:nvSpPr>
          <p:cNvPr id="14" name="sn-mid-1">
            <a:extLst xmlns:a="http://schemas.openxmlformats.org/drawingml/2006/main">
              <a:ext uri="{FF2B5EF4-FFF2-40B4-BE49-F238E27FC236}">
                <a16:creationId xmlns:a16="http://schemas.microsoft.com/office/drawing/2014/main" id="{D145676D-E07E-4D54-AE78-BD26D0E8B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2713" y="1619250"/>
            <a:ext cx="28575" cy="762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B9BD5"/>
          </a:solidFill>
          <a:ln xmlns:a="http://schemas.openxmlformats.org/drawingml/2006/main" w="11906">
            <a:solidFill>
              <a:srgbClr val="5B9BD5"/>
            </a:solidFill>
            <a:prstDash val="solid"/>
          </a:ln>
        </p:spPr>
      </p:sp>
      <p:sp>
        <p:nvSpPr>
          <p:cNvPr id="15" name="sn-mid-2">
            <a:extLst xmlns:a="http://schemas.openxmlformats.org/drawingml/2006/main">
              <a:ext uri="{FF2B5EF4-FFF2-40B4-BE49-F238E27FC236}">
                <a16:creationId xmlns:a16="http://schemas.microsoft.com/office/drawing/2014/main" id="{7303E30A-77A4-4E6F-80E0-89BA5A6DB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366963"/>
            <a:ext cx="4000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B9BD5"/>
          </a:solidFill>
          <a:ln xmlns:a="http://schemas.openxmlformats.org/drawingml/2006/main" w="11906">
            <a:solidFill>
              <a:srgbClr val="5B9BD5"/>
            </a:solidFill>
            <a:prstDash val="solid"/>
          </a:ln>
        </p:spPr>
      </p:sp>
      <p:sp>
        <p:nvSpPr>
          <p:cNvPr id="16" name="step-1">
            <a:extLst xmlns:a="http://schemas.openxmlformats.org/drawingml/2006/main">
              <a:ext uri="{FF2B5EF4-FFF2-40B4-BE49-F238E27FC236}">
                <a16:creationId xmlns:a16="http://schemas.microsoft.com/office/drawing/2014/main" id="{5A006C11-8502-4B61-A67D-ACE0B75A3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7907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9525">
            <a:solidFill>
              <a:srgbClr val="5B9BD5"/>
            </a:solidFill>
            <a:prstDash val="solid"/>
          </a:ln>
        </p:spPr>
      </p:sp>
      <p:sp>
        <p:nvSpPr>
          <p:cNvPr id="17" name="step-1-t">
            <a:extLst xmlns:a="http://schemas.openxmlformats.org/drawingml/2006/main">
              <a:ext uri="{FF2B5EF4-FFF2-40B4-BE49-F238E27FC236}">
                <a16:creationId xmlns:a16="http://schemas.microsoft.com/office/drawing/2014/main" id="{916D5512-1E76-4331-88E4-C751A2C2D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1828800"/>
            <a:ext cx="114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8" name="step-1-label">
            <a:extLst xmlns:a="http://schemas.openxmlformats.org/drawingml/2006/main">
              <a:ext uri="{FF2B5EF4-FFF2-40B4-BE49-F238E27FC236}">
                <a16:creationId xmlns:a16="http://schemas.microsoft.com/office/drawing/2014/main" id="{38F7C991-913B-490F-BF5F-D08722660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8097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5B9BD5"/>
                </a:solidFill>
              </a:defRPr>
            </a:pPr>
            <a:r>
              <a:rPr sz="840" b="0">
                <a:solidFill>
                  <a:srgbClr val="5B9BD5"/>
                </a:solidFill>
              </a:rPr>
              <a:t>ServiceNow ↔ MID / HTTPS 443</a:t>
            </a:r>
          </a:p>
        </p:txBody>
      </p:sp>
      <p:sp>
        <p:nvSpPr>
          <p:cNvPr id="19" name="fw-header">
            <a:extLst xmlns:a="http://schemas.openxmlformats.org/drawingml/2006/main">
              <a:ext uri="{FF2B5EF4-FFF2-40B4-BE49-F238E27FC236}">
                <a16:creationId xmlns:a16="http://schemas.microsoft.com/office/drawing/2014/main" id="{BE0A39A2-09C7-43BC-A91F-20EFEB046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752600"/>
            <a:ext cx="4286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F4E79"/>
          </a:solidFill>
          <a:ln xmlns:a="http://schemas.openxmlformats.org/drawingml/2006/main" w="11906">
            <a:solidFill>
              <a:srgbClr val="1F4E79"/>
            </a:solidFill>
            <a:prstDash val="solid"/>
          </a:ln>
        </p:spPr>
      </p:sp>
      <p:sp>
        <p:nvSpPr>
          <p:cNvPr id="20" name="fw-header-text">
            <a:extLst xmlns:a="http://schemas.openxmlformats.org/drawingml/2006/main">
              <a:ext uri="{FF2B5EF4-FFF2-40B4-BE49-F238E27FC236}">
                <a16:creationId xmlns:a16="http://schemas.microsoft.com/office/drawing/2014/main" id="{8690D653-E53C-4D7C-A23C-6BDD3ED1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828800"/>
            <a:ext cx="4057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Palo Alto Gateway / Firewall Subnet  VLAN04  10.100.40.0/24</a:t>
            </a:r>
          </a:p>
        </p:txBody>
      </p:sp>
      <p:sp>
        <p:nvSpPr>
          <p:cNvPr id="21" name="paloalto">
            <a:extLst xmlns:a="http://schemas.openxmlformats.org/drawingml/2006/main">
              <a:ext uri="{FF2B5EF4-FFF2-40B4-BE49-F238E27FC236}">
                <a16:creationId xmlns:a16="http://schemas.microsoft.com/office/drawing/2014/main" id="{843A0ED5-3DC0-452C-AB4E-A49AE8EC1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24100"/>
            <a:ext cx="2381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CE4D6"/>
          </a:solidFill>
          <a:ln xmlns:a="http://schemas.openxmlformats.org/drawingml/2006/main" w="11906">
            <a:solidFill>
              <a:srgbClr val="C65911"/>
            </a:solidFill>
            <a:prstDash val="solid"/>
          </a:ln>
        </p:spPr>
      </p:sp>
      <p:sp>
        <p:nvSpPr>
          <p:cNvPr id="22" name="paloalto-title">
            <a:extLst xmlns:a="http://schemas.openxmlformats.org/drawingml/2006/main">
              <a:ext uri="{FF2B5EF4-FFF2-40B4-BE49-F238E27FC236}">
                <a16:creationId xmlns:a16="http://schemas.microsoft.com/office/drawing/2014/main" id="{57B4673E-FF82-4C31-A574-967007666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419350"/>
            <a:ext cx="2114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65911"/>
                </a:solidFill>
              </a:defRPr>
            </a:pPr>
            <a:r>
              <a:rPr sz="1650" b="1">
                <a:solidFill>
                  <a:srgbClr val="C65911"/>
                </a:solidFill>
              </a:rPr>
              <a:t>Palo Alto</a:t>
            </a:r>
          </a:p>
        </p:txBody>
      </p:sp>
      <p:sp>
        <p:nvSpPr>
          <p:cNvPr id="23" name="paloalto-body">
            <a:extLst xmlns:a="http://schemas.openxmlformats.org/drawingml/2006/main">
              <a:ext uri="{FF2B5EF4-FFF2-40B4-BE49-F238E27FC236}">
                <a16:creationId xmlns:a16="http://schemas.microsoft.com/office/drawing/2014/main" id="{BC76C725-F21B-442C-8959-15807C486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86050"/>
            <a:ext cx="2114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F2933"/>
                </a:solidFill>
              </a:defRPr>
            </a:pPr>
            <a:r>
              <a:rPr sz="975" b="0">
                <a:solidFill>
                  <a:srgbClr val="1F2933"/>
                </a:solidFill>
              </a:rPr>
              <a:t>Gateway / Security Policy</a:t>
            </a:r>
          </a:p>
          <a:p xmlns:a="http://schemas.openxmlformats.org/drawingml/2006/main">
            <a:pPr algn="ctr">
              <a:defRPr sz="975" b="0">
                <a:solidFill>
                  <a:srgbClr val="1F2933"/>
                </a:solidFill>
              </a:defRPr>
            </a:pPr>
            <a:r>
              <a:rPr sz="975" b="0">
                <a:solidFill>
                  <a:srgbClr val="1F2933"/>
                </a:solidFill>
              </a:rPr>
              <a:t>SNMPv2 discovery target</a:t>
            </a:r>
          </a:p>
          <a:p xmlns:a="http://schemas.openxmlformats.org/drawingml/2006/main">
            <a:pPr algn="ctr">
              <a:defRPr sz="975" b="0">
                <a:solidFill>
                  <a:srgbClr val="1F2933"/>
                </a:solidFill>
              </a:defRPr>
            </a:pPr>
            <a:r>
              <a:rPr sz="975" b="0">
                <a:solidFill>
                  <a:srgbClr val="1F2933"/>
                </a:solidFill>
              </a:rPr>
              <a:t>NW(PaloAlto)</a:t>
            </a:r>
          </a:p>
        </p:txBody>
      </p:sp>
      <p:sp>
        <p:nvSpPr>
          <p:cNvPr id="24" name="pa-note">
            <a:extLst xmlns:a="http://schemas.openxmlformats.org/drawingml/2006/main">
              <a:ext uri="{FF2B5EF4-FFF2-40B4-BE49-F238E27FC236}">
                <a16:creationId xmlns:a16="http://schemas.microsoft.com/office/drawing/2014/main" id="{DD070FFA-B209-4405-8739-6F9FDC31C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505200"/>
            <a:ext cx="3714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CCCC"/>
          </a:solidFill>
          <a:ln xmlns:a="http://schemas.openxmlformats.org/drawingml/2006/main" w="11906">
            <a:solidFill>
              <a:srgbClr val="F4CCCC"/>
            </a:solidFill>
            <a:prstDash val="solid"/>
          </a:ln>
        </p:spPr>
      </p:sp>
      <p:sp>
        <p:nvSpPr>
          <p:cNvPr id="25" name="pa-note-text">
            <a:extLst xmlns:a="http://schemas.openxmlformats.org/drawingml/2006/main">
              <a:ext uri="{FF2B5EF4-FFF2-40B4-BE49-F238E27FC236}">
                <a16:creationId xmlns:a16="http://schemas.microsoft.com/office/drawing/2014/main" id="{E7F256F8-3500-4C45-9E02-C54C2D250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562350"/>
            <a:ext cx="3600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9A3412"/>
                </a:solidFill>
              </a:defRPr>
            </a:pPr>
            <a:r>
              <a:rPr sz="825" b="1">
                <a:solidFill>
                  <a:srgbClr val="9A3412"/>
                </a:solidFill>
              </a:rPr>
              <a:t>Discovery traffic passes through Palo Alto</a:t>
            </a:r>
          </a:p>
        </p:txBody>
      </p:sp>
      <p:sp>
        <p:nvSpPr>
          <p:cNvPr id="26" name="fortigate">
            <a:extLst xmlns:a="http://schemas.openxmlformats.org/drawingml/2006/main">
              <a:ext uri="{FF2B5EF4-FFF2-40B4-BE49-F238E27FC236}">
                <a16:creationId xmlns:a16="http://schemas.microsoft.com/office/drawing/2014/main" id="{43D67D6B-868C-4F0F-A7DB-26CF95FFB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324100"/>
            <a:ext cx="14287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1906">
            <a:solidFill>
              <a:srgbClr val="CBD5E1"/>
            </a:solidFill>
            <a:prstDash val="solid"/>
          </a:ln>
        </p:spPr>
      </p:sp>
      <p:sp>
        <p:nvSpPr>
          <p:cNvPr id="27" name="fortigate-title">
            <a:extLst xmlns:a="http://schemas.openxmlformats.org/drawingml/2006/main">
              <a:ext uri="{FF2B5EF4-FFF2-40B4-BE49-F238E27FC236}">
                <a16:creationId xmlns:a16="http://schemas.microsoft.com/office/drawing/2014/main" id="{2B2F0503-5BFB-4CDF-BE80-F4A7C19D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19350"/>
            <a:ext cx="1162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4748B"/>
                </a:solidFill>
              </a:defRPr>
            </a:pPr>
            <a:r>
              <a:rPr sz="1350" b="1">
                <a:solidFill>
                  <a:srgbClr val="64748B"/>
                </a:solidFill>
              </a:rPr>
              <a:t>FortiGate</a:t>
            </a:r>
          </a:p>
        </p:txBody>
      </p:sp>
      <p:sp>
        <p:nvSpPr>
          <p:cNvPr id="28" name="fortigate-body">
            <a:extLst xmlns:a="http://schemas.openxmlformats.org/drawingml/2006/main">
              <a:ext uri="{FF2B5EF4-FFF2-40B4-BE49-F238E27FC236}">
                <a16:creationId xmlns:a16="http://schemas.microsoft.com/office/drawing/2014/main" id="{30BA3168-421E-4631-8471-31CD74382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686050"/>
            <a:ext cx="1162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2933"/>
                </a:solidFill>
              </a:defRPr>
            </a:pPr>
            <a:r>
              <a:rPr sz="900" b="0">
                <a:solidFill>
                  <a:srgbClr val="1F2933"/>
                </a:solidFill>
              </a:rPr>
              <a:t>Optional NW target</a:t>
            </a:r>
          </a:p>
          <a:p xmlns:a="http://schemas.openxmlformats.org/drawingml/2006/main">
            <a:pPr algn="ctr">
              <a:defRPr sz="900" b="0">
                <a:solidFill>
                  <a:srgbClr val="1F2933"/>
                </a:solidFill>
              </a:defRPr>
            </a:pPr>
            <a:r>
              <a:rPr sz="900" b="0">
                <a:solidFill>
                  <a:srgbClr val="1F2933"/>
                </a:solidFill>
              </a:rPr>
              <a:t>SNMPv2 / UDP 161</a:t>
            </a:r>
          </a:p>
        </p:txBody>
      </p:sp>
      <p:sp>
        <p:nvSpPr>
          <p:cNvPr id="29" name="forti-note">
            <a:extLst xmlns:a="http://schemas.openxmlformats.org/drawingml/2006/main">
              <a:ext uri="{FF2B5EF4-FFF2-40B4-BE49-F238E27FC236}">
                <a16:creationId xmlns:a16="http://schemas.microsoft.com/office/drawing/2014/main" id="{7864D134-D361-4B1A-A513-3D0D673DA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2004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10" b="0">
                <a:solidFill>
                  <a:srgbClr val="64748B"/>
                </a:solidFill>
              </a:defRPr>
            </a:pPr>
            <a:r>
              <a:rPr sz="810" b="0">
                <a:solidFill>
                  <a:srgbClr val="64748B"/>
                </a:solidFill>
              </a:rPr>
              <a:t>NW(FortiGate) は</a:t>
            </a:r>
          </a:p>
          <a:p xmlns:a="http://schemas.openxmlformats.org/drawingml/2006/main">
            <a:pPr algn="ctr">
              <a:defRPr sz="810" b="0">
                <a:solidFill>
                  <a:srgbClr val="64748B"/>
                </a:solidFill>
              </a:defRPr>
            </a:pPr>
            <a:r>
              <a:rPr sz="810" b="0">
                <a:solidFill>
                  <a:srgbClr val="64748B"/>
                </a:solidFill>
              </a:rPr>
              <a:t>追加要件時に検証</a:t>
            </a:r>
          </a:p>
        </p:txBody>
      </p:sp>
      <p:sp>
        <p:nvSpPr>
          <p:cNvPr id="30" name="azure-api">
            <a:extLst xmlns:a="http://schemas.openxmlformats.org/drawingml/2006/main">
              <a:ext uri="{FF2B5EF4-FFF2-40B4-BE49-F238E27FC236}">
                <a16:creationId xmlns:a16="http://schemas.microsoft.com/office/drawing/2014/main" id="{B596919E-8B78-4108-AC86-408A16835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314450"/>
            <a:ext cx="22098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7F3FE"/>
          </a:solidFill>
          <a:ln xmlns:a="http://schemas.openxmlformats.org/drawingml/2006/main" w="11906">
            <a:solidFill>
              <a:srgbClr val="5B9BD5"/>
            </a:solidFill>
            <a:prstDash val="solid"/>
          </a:ln>
        </p:spPr>
      </p:sp>
      <p:sp>
        <p:nvSpPr>
          <p:cNvPr id="31" name="azure-api-title">
            <a:extLst xmlns:a="http://schemas.openxmlformats.org/drawingml/2006/main">
              <a:ext uri="{FF2B5EF4-FFF2-40B4-BE49-F238E27FC236}">
                <a16:creationId xmlns:a16="http://schemas.microsoft.com/office/drawing/2014/main" id="{77439C0F-D2E7-4588-B7FE-006E7E985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409700"/>
            <a:ext cx="1943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395B"/>
                </a:solidFill>
              </a:defRPr>
            </a:pPr>
            <a:r>
              <a:rPr sz="1200" b="1">
                <a:solidFill>
                  <a:srgbClr val="12395B"/>
                </a:solidFill>
              </a:rPr>
              <a:t>Azure Cloud Discovery</a:t>
            </a:r>
          </a:p>
        </p:txBody>
      </p:sp>
      <p:sp>
        <p:nvSpPr>
          <p:cNvPr id="32" name="azure-api-body">
            <a:extLst xmlns:a="http://schemas.openxmlformats.org/drawingml/2006/main">
              <a:ext uri="{FF2B5EF4-FFF2-40B4-BE49-F238E27FC236}">
                <a16:creationId xmlns:a16="http://schemas.microsoft.com/office/drawing/2014/main" id="{CF41AA8D-A441-465A-9E85-C988DE972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676400"/>
            <a:ext cx="1943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F2933"/>
                </a:solidFill>
              </a:defRPr>
            </a:pPr>
            <a:r>
              <a:rPr sz="863" b="0">
                <a:solidFill>
                  <a:srgbClr val="1F2933"/>
                </a:solidFill>
              </a:rPr>
              <a:t>Azure API / Credential</a:t>
            </a:r>
          </a:p>
          <a:p xmlns:a="http://schemas.openxmlformats.org/drawingml/2006/main">
            <a:pPr algn="l">
              <a:defRPr sz="863" b="0">
                <a:solidFill>
                  <a:srgbClr val="1F2933"/>
                </a:solidFill>
              </a:defRPr>
            </a:pPr>
            <a:r>
              <a:rPr sz="863" b="0">
                <a:solidFill>
                  <a:srgbClr val="1F2933"/>
                </a:solidFill>
              </a:rPr>
              <a:t>Subscription / Resource Group</a:t>
            </a:r>
          </a:p>
          <a:p xmlns:a="http://schemas.openxmlformats.org/drawingml/2006/main">
            <a:pPr algn="l">
              <a:defRPr sz="863" b="0">
                <a:solidFill>
                  <a:srgbClr val="1F2933"/>
                </a:solidFill>
              </a:defRPr>
            </a:pPr>
            <a:r>
              <a:rPr sz="863" b="0">
                <a:solidFill>
                  <a:srgbClr val="1F2933"/>
                </a:solidFill>
              </a:rPr>
              <a:t>VNet / Subnet / VM / Disk / NIC</a:t>
            </a:r>
          </a:p>
        </p:txBody>
      </p:sp>
      <p:sp>
        <p:nvSpPr>
          <p:cNvPr id="33" name="mid-azure-api-0">
            <a:extLst xmlns:a="http://schemas.openxmlformats.org/drawingml/2006/main">
              <a:ext uri="{FF2B5EF4-FFF2-40B4-BE49-F238E27FC236}">
                <a16:creationId xmlns:a16="http://schemas.microsoft.com/office/drawing/2014/main" id="{6FF04F7C-66C4-47A5-BFE3-9550D45B7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064544"/>
            <a:ext cx="2324100" cy="23813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B9BD5"/>
          </a:solidFill>
          <a:ln xmlns:a="http://schemas.openxmlformats.org/drawingml/2006/main" w="11906">
            <a:solidFill>
              <a:srgbClr val="5B9BD5"/>
            </a:solidFill>
            <a:prstDash val="solid"/>
          </a:ln>
        </p:spPr>
      </p:sp>
      <p:sp>
        <p:nvSpPr>
          <p:cNvPr id="34" name="mid-azure-api-1">
            <a:extLst xmlns:a="http://schemas.openxmlformats.org/drawingml/2006/main">
              <a:ext uri="{FF2B5EF4-FFF2-40B4-BE49-F238E27FC236}">
                <a16:creationId xmlns:a16="http://schemas.microsoft.com/office/drawing/2014/main" id="{1414ABE8-FA11-4BBA-A45A-5817455DB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7594" y="1657350"/>
            <a:ext cx="23813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B9BD5"/>
          </a:solidFill>
          <a:ln xmlns:a="http://schemas.openxmlformats.org/drawingml/2006/main" w="11906">
            <a:solidFill>
              <a:srgbClr val="5B9BD5"/>
            </a:solidFill>
            <a:prstDash val="solid"/>
          </a:ln>
        </p:spPr>
      </p:sp>
      <p:sp>
        <p:nvSpPr>
          <p:cNvPr id="35" name="mid-azure-api-2">
            <a:extLst xmlns:a="http://schemas.openxmlformats.org/drawingml/2006/main">
              <a:ext uri="{FF2B5EF4-FFF2-40B4-BE49-F238E27FC236}">
                <a16:creationId xmlns:a16="http://schemas.microsoft.com/office/drawing/2014/main" id="{C9587AE5-EDA0-410B-BE0D-A8AEFDF7C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645444"/>
            <a:ext cx="2247900" cy="23813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B9BD5"/>
          </a:solidFill>
          <a:ln xmlns:a="http://schemas.openxmlformats.org/drawingml/2006/main" w="11906">
            <a:solidFill>
              <a:srgbClr val="5B9BD5"/>
            </a:solidFill>
            <a:prstDash val="solid"/>
          </a:ln>
        </p:spPr>
      </p:sp>
      <p:sp>
        <p:nvSpPr>
          <p:cNvPr id="36" name="step-2">
            <a:extLst xmlns:a="http://schemas.openxmlformats.org/drawingml/2006/main">
              <a:ext uri="{FF2B5EF4-FFF2-40B4-BE49-F238E27FC236}">
                <a16:creationId xmlns:a16="http://schemas.microsoft.com/office/drawing/2014/main" id="{239A5F92-FBFD-4EE2-90C4-15E9984EB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2573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9BD5"/>
          </a:solidFill>
          <a:ln xmlns:a="http://schemas.openxmlformats.org/drawingml/2006/main" w="9525">
            <a:solidFill>
              <a:srgbClr val="5B9BD5"/>
            </a:solidFill>
            <a:prstDash val="solid"/>
          </a:ln>
        </p:spPr>
      </p:sp>
      <p:sp>
        <p:nvSpPr>
          <p:cNvPr id="37" name="step-2-t">
            <a:extLst xmlns:a="http://schemas.openxmlformats.org/drawingml/2006/main">
              <a:ext uri="{FF2B5EF4-FFF2-40B4-BE49-F238E27FC236}">
                <a16:creationId xmlns:a16="http://schemas.microsoft.com/office/drawing/2014/main" id="{8DF74CF1-E1E6-4DDB-85B3-7DC59B8E6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295400"/>
            <a:ext cx="114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8" name="step-2-label">
            <a:extLst xmlns:a="http://schemas.openxmlformats.org/drawingml/2006/main">
              <a:ext uri="{FF2B5EF4-FFF2-40B4-BE49-F238E27FC236}">
                <a16:creationId xmlns:a16="http://schemas.microsoft.com/office/drawing/2014/main" id="{384F11B3-F6F9-408D-A779-980A4955F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276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5B9BD5"/>
                </a:solidFill>
              </a:defRPr>
            </a:pPr>
            <a:r>
              <a:rPr sz="840" b="0">
                <a:solidFill>
                  <a:srgbClr val="5B9BD5"/>
                </a:solidFill>
              </a:rPr>
              <a:t>Cloud Discovery / Azure API</a:t>
            </a:r>
          </a:p>
        </p:txBody>
      </p:sp>
      <p:sp>
        <p:nvSpPr>
          <p:cNvPr id="39" name="server-subnet">
            <a:extLst xmlns:a="http://schemas.openxmlformats.org/drawingml/2006/main">
              <a:ext uri="{FF2B5EF4-FFF2-40B4-BE49-F238E27FC236}">
                <a16:creationId xmlns:a16="http://schemas.microsoft.com/office/drawing/2014/main" id="{D2D3A130-B15A-48F2-A707-10F273EFC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038600"/>
            <a:ext cx="584835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D9E2F3"/>
            </a:solidFill>
            <a:prstDash val="solid"/>
          </a:ln>
        </p:spPr>
      </p:sp>
      <p:sp>
        <p:nvSpPr>
          <p:cNvPr id="40" name="server-head">
            <a:extLst xmlns:a="http://schemas.openxmlformats.org/drawingml/2006/main">
              <a:ext uri="{FF2B5EF4-FFF2-40B4-BE49-F238E27FC236}">
                <a16:creationId xmlns:a16="http://schemas.microsoft.com/office/drawing/2014/main" id="{26A987E2-BA41-4633-BE4A-98276F130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191000"/>
            <a:ext cx="40005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F4E79"/>
          </a:solidFill>
          <a:ln xmlns:a="http://schemas.openxmlformats.org/drawingml/2006/main" w="11906">
            <a:solidFill>
              <a:srgbClr val="1F4E79"/>
            </a:solidFill>
            <a:prstDash val="solid"/>
          </a:ln>
        </p:spPr>
      </p:sp>
      <p:sp>
        <p:nvSpPr>
          <p:cNvPr id="41" name="server-head-text">
            <a:extLst xmlns:a="http://schemas.openxmlformats.org/drawingml/2006/main">
              <a:ext uri="{FF2B5EF4-FFF2-40B4-BE49-F238E27FC236}">
                <a16:creationId xmlns:a16="http://schemas.microsoft.com/office/drawing/2014/main" id="{96040DEB-EA8D-496B-932D-8D8682B12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267200"/>
            <a:ext cx="3771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VLAN02 / Server・DMZ Subnet  10.100.20.0/24</a:t>
            </a:r>
          </a:p>
        </p:txBody>
      </p:sp>
      <p:sp>
        <p:nvSpPr>
          <p:cNvPr id="42" name="win-server">
            <a:extLst xmlns:a="http://schemas.openxmlformats.org/drawingml/2006/main">
              <a:ext uri="{FF2B5EF4-FFF2-40B4-BE49-F238E27FC236}">
                <a16:creationId xmlns:a16="http://schemas.microsoft.com/office/drawing/2014/main" id="{8ADE5E32-CED4-429D-BB09-E45348A3C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705350"/>
            <a:ext cx="161925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CE4D6"/>
          </a:solidFill>
          <a:ln xmlns:a="http://schemas.openxmlformats.org/drawingml/2006/main" w="11906">
            <a:solidFill>
              <a:srgbClr val="C65911"/>
            </a:solidFill>
            <a:prstDash val="solid"/>
          </a:ln>
        </p:spPr>
      </p:sp>
      <p:sp>
        <p:nvSpPr>
          <p:cNvPr id="43" name="win-server-title">
            <a:extLst xmlns:a="http://schemas.openxmlformats.org/drawingml/2006/main">
              <a:ext uri="{FF2B5EF4-FFF2-40B4-BE49-F238E27FC236}">
                <a16:creationId xmlns:a16="http://schemas.microsoft.com/office/drawing/2014/main" id="{83EECF70-4DC3-4449-B2E1-9E961C209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00600"/>
            <a:ext cx="1352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65911"/>
                </a:solidFill>
              </a:defRPr>
            </a:pPr>
            <a:r>
              <a:rPr sz="1350" b="1">
                <a:solidFill>
                  <a:srgbClr val="C65911"/>
                </a:solidFill>
              </a:rPr>
              <a:t>Windows Server</a:t>
            </a:r>
          </a:p>
        </p:txBody>
      </p:sp>
      <p:sp>
        <p:nvSpPr>
          <p:cNvPr id="44" name="win-server-body">
            <a:extLst xmlns:a="http://schemas.openxmlformats.org/drawingml/2006/main">
              <a:ext uri="{FF2B5EF4-FFF2-40B4-BE49-F238E27FC236}">
                <a16:creationId xmlns:a16="http://schemas.microsoft.com/office/drawing/2014/main" id="{FD41320C-D914-4C78-8C04-9822B5624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67300"/>
            <a:ext cx="1352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1F2933"/>
                </a:solidFill>
              </a:defRPr>
            </a:pPr>
            <a:r>
              <a:rPr sz="863" b="0">
                <a:solidFill>
                  <a:srgbClr val="1F2933"/>
                </a:solidFill>
              </a:rPr>
              <a:t>Mail Server</a:t>
            </a:r>
          </a:p>
          <a:p xmlns:a="http://schemas.openxmlformats.org/drawingml/2006/main">
            <a:pPr algn="ctr">
              <a:defRPr sz="863" b="0">
                <a:solidFill>
                  <a:srgbClr val="1F2933"/>
                </a:solidFill>
              </a:defRPr>
            </a:pPr>
            <a:r>
              <a:rPr sz="863" b="0">
                <a:solidFill>
                  <a:srgbClr val="1F2933"/>
                </a:solidFill>
              </a:rPr>
              <a:t>Credentialed Discovery</a:t>
            </a:r>
          </a:p>
        </p:txBody>
      </p:sp>
      <p:sp>
        <p:nvSpPr>
          <p:cNvPr id="45" name="tag-Tag: DMZ-642-558">
            <a:extLst xmlns:a="http://schemas.openxmlformats.org/drawingml/2006/main">
              <a:ext uri="{FF2B5EF4-FFF2-40B4-BE49-F238E27FC236}">
                <a16:creationId xmlns:a16="http://schemas.microsoft.com/office/drawing/2014/main" id="{CD728494-55CE-4653-9D0A-5BF4B0745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314950"/>
            <a:ext cx="723900" cy="228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2F0D9"/>
          </a:solidFill>
          <a:ln xmlns:a="http://schemas.openxmlformats.org/drawingml/2006/main" w="11906">
            <a:solidFill>
              <a:srgbClr val="548235"/>
            </a:solidFill>
            <a:prstDash val="solid"/>
          </a:ln>
        </p:spPr>
      </p:sp>
      <p:sp>
        <p:nvSpPr>
          <p:cNvPr id="46" name="tag-text-Tag: DMZ-642-558">
            <a:extLst xmlns:a="http://schemas.openxmlformats.org/drawingml/2006/main">
              <a:ext uri="{FF2B5EF4-FFF2-40B4-BE49-F238E27FC236}">
                <a16:creationId xmlns:a16="http://schemas.microsoft.com/office/drawing/2014/main" id="{276B8AD8-5FDB-4C5C-9208-D1FD4336F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353050"/>
            <a:ext cx="609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548235"/>
                </a:solidFill>
              </a:defRPr>
            </a:pPr>
            <a:r>
              <a:rPr sz="788" b="1">
                <a:solidFill>
                  <a:srgbClr val="548235"/>
                </a:solidFill>
              </a:rPr>
              <a:t>Tag: DMZ</a:t>
            </a:r>
          </a:p>
        </p:txBody>
      </p:sp>
      <p:sp>
        <p:nvSpPr>
          <p:cNvPr id="47" name="tag-Tag: GAM_Service-724-558">
            <a:extLst xmlns:a="http://schemas.openxmlformats.org/drawingml/2006/main">
              <a:ext uri="{FF2B5EF4-FFF2-40B4-BE49-F238E27FC236}">
                <a16:creationId xmlns:a16="http://schemas.microsoft.com/office/drawing/2014/main" id="{945FDB9C-E4AA-480F-A0C5-EC1E4D05B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314950"/>
            <a:ext cx="1200150" cy="228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2F0D9"/>
          </a:solidFill>
          <a:ln xmlns:a="http://schemas.openxmlformats.org/drawingml/2006/main" w="11906">
            <a:solidFill>
              <a:srgbClr val="548235"/>
            </a:solidFill>
            <a:prstDash val="solid"/>
          </a:ln>
        </p:spPr>
      </p:sp>
      <p:sp>
        <p:nvSpPr>
          <p:cNvPr id="48" name="tag-text-Tag: GAM_Service-724-558">
            <a:extLst xmlns:a="http://schemas.openxmlformats.org/drawingml/2006/main">
              <a:ext uri="{FF2B5EF4-FFF2-40B4-BE49-F238E27FC236}">
                <a16:creationId xmlns:a16="http://schemas.microsoft.com/office/drawing/2014/main" id="{CEA2502C-DBFC-4CBA-823C-EF9F41C3A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353050"/>
            <a:ext cx="1085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548235"/>
                </a:solidFill>
              </a:defRPr>
            </a:pPr>
            <a:r>
              <a:rPr sz="788" b="1">
                <a:solidFill>
                  <a:srgbClr val="548235"/>
                </a:solidFill>
              </a:rPr>
              <a:t>Tag: GAM_Service</a:t>
            </a:r>
          </a:p>
        </p:txBody>
      </p:sp>
      <p:sp>
        <p:nvSpPr>
          <p:cNvPr id="49" name="rhel-app">
            <a:extLst xmlns:a="http://schemas.openxmlformats.org/drawingml/2006/main">
              <a:ext uri="{FF2B5EF4-FFF2-40B4-BE49-F238E27FC236}">
                <a16:creationId xmlns:a16="http://schemas.microsoft.com/office/drawing/2014/main" id="{A15AEF7E-CACE-4BCF-B876-84138059B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05350"/>
            <a:ext cx="17526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CE4D6"/>
          </a:solidFill>
          <a:ln xmlns:a="http://schemas.openxmlformats.org/drawingml/2006/main" w="11906">
            <a:solidFill>
              <a:srgbClr val="C65911"/>
            </a:solidFill>
            <a:prstDash val="solid"/>
          </a:ln>
        </p:spPr>
      </p:sp>
      <p:sp>
        <p:nvSpPr>
          <p:cNvPr id="50" name="rhel-app-title">
            <a:extLst xmlns:a="http://schemas.openxmlformats.org/drawingml/2006/main">
              <a:ext uri="{FF2B5EF4-FFF2-40B4-BE49-F238E27FC236}">
                <a16:creationId xmlns:a16="http://schemas.microsoft.com/office/drawing/2014/main" id="{D7017B32-A5E2-4C85-827E-DC8F6F60D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800600"/>
            <a:ext cx="1485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65911"/>
                </a:solidFill>
              </a:defRPr>
            </a:pPr>
            <a:r>
              <a:rPr sz="1350" b="1">
                <a:solidFill>
                  <a:srgbClr val="C65911"/>
                </a:solidFill>
              </a:rPr>
              <a:t>RedHat / Linux</a:t>
            </a:r>
          </a:p>
        </p:txBody>
      </p:sp>
      <p:sp>
        <p:nvSpPr>
          <p:cNvPr id="51" name="rhel-app-body">
            <a:extLst xmlns:a="http://schemas.openxmlformats.org/drawingml/2006/main">
              <a:ext uri="{FF2B5EF4-FFF2-40B4-BE49-F238E27FC236}">
                <a16:creationId xmlns:a16="http://schemas.microsoft.com/office/drawing/2014/main" id="{E07F4340-C3AD-48C9-A8AF-67439891A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067300"/>
            <a:ext cx="1485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1F2933"/>
                </a:solidFill>
              </a:defRPr>
            </a:pPr>
            <a:r>
              <a:rPr sz="863" b="0">
                <a:solidFill>
                  <a:srgbClr val="1F2933"/>
                </a:solidFill>
              </a:rPr>
              <a:t>App: Apache or Tomcat</a:t>
            </a:r>
          </a:p>
          <a:p xmlns:a="http://schemas.openxmlformats.org/drawingml/2006/main">
            <a:pPr algn="ctr">
              <a:defRPr sz="863" b="0">
                <a:solidFill>
                  <a:srgbClr val="1F2933"/>
                </a:solidFill>
              </a:defRPr>
            </a:pPr>
            <a:r>
              <a:rPr sz="863" b="0">
                <a:solidFill>
                  <a:srgbClr val="1F2933"/>
                </a:solidFill>
              </a:rPr>
              <a:t>Top-down Entry Point</a:t>
            </a:r>
          </a:p>
        </p:txBody>
      </p:sp>
      <p:sp>
        <p:nvSpPr>
          <p:cNvPr id="52" name="tag-Tag: DMZ-905-558">
            <a:extLst xmlns:a="http://schemas.openxmlformats.org/drawingml/2006/main">
              <a:ext uri="{FF2B5EF4-FFF2-40B4-BE49-F238E27FC236}">
                <a16:creationId xmlns:a16="http://schemas.microsoft.com/office/drawing/2014/main" id="{838E48DA-8B45-4C87-816E-D212B3E99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5314950"/>
            <a:ext cx="723900" cy="228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2F0D9"/>
          </a:solidFill>
          <a:ln xmlns:a="http://schemas.openxmlformats.org/drawingml/2006/main" w="11906">
            <a:solidFill>
              <a:srgbClr val="548235"/>
            </a:solidFill>
            <a:prstDash val="solid"/>
          </a:ln>
        </p:spPr>
      </p:sp>
      <p:sp>
        <p:nvSpPr>
          <p:cNvPr id="53" name="tag-text-Tag: DMZ-905-558">
            <a:extLst xmlns:a="http://schemas.openxmlformats.org/drawingml/2006/main">
              <a:ext uri="{FF2B5EF4-FFF2-40B4-BE49-F238E27FC236}">
                <a16:creationId xmlns:a16="http://schemas.microsoft.com/office/drawing/2014/main" id="{A9DDB667-1088-4980-B735-579CC15BA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5353050"/>
            <a:ext cx="609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548235"/>
                </a:solidFill>
              </a:defRPr>
            </a:pPr>
            <a:r>
              <a:rPr sz="788" b="1">
                <a:solidFill>
                  <a:srgbClr val="548235"/>
                </a:solidFill>
              </a:rPr>
              <a:t>Tag: DMZ</a:t>
            </a:r>
          </a:p>
        </p:txBody>
      </p:sp>
      <p:sp>
        <p:nvSpPr>
          <p:cNvPr id="54" name="tag-Tag: GAM_Service-988-558">
            <a:extLst xmlns:a="http://schemas.openxmlformats.org/drawingml/2006/main">
              <a:ext uri="{FF2B5EF4-FFF2-40B4-BE49-F238E27FC236}">
                <a16:creationId xmlns:a16="http://schemas.microsoft.com/office/drawing/2014/main" id="{EAFC75E5-550C-459A-B2FC-6EBE166E6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314950"/>
            <a:ext cx="1200150" cy="228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2F0D9"/>
          </a:solidFill>
          <a:ln xmlns:a="http://schemas.openxmlformats.org/drawingml/2006/main" w="11906">
            <a:solidFill>
              <a:srgbClr val="548235"/>
            </a:solidFill>
            <a:prstDash val="solid"/>
          </a:ln>
        </p:spPr>
      </p:sp>
      <p:sp>
        <p:nvSpPr>
          <p:cNvPr id="55" name="tag-text-Tag: GAM_Service-988-558">
            <a:extLst xmlns:a="http://schemas.openxmlformats.org/drawingml/2006/main">
              <a:ext uri="{FF2B5EF4-FFF2-40B4-BE49-F238E27FC236}">
                <a16:creationId xmlns:a16="http://schemas.microsoft.com/office/drawing/2014/main" id="{19A559A3-DAF0-45D7-95E0-DA524D6E0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353050"/>
            <a:ext cx="1085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548235"/>
                </a:solidFill>
              </a:defRPr>
            </a:pPr>
            <a:r>
              <a:rPr sz="788" b="1">
                <a:solidFill>
                  <a:srgbClr val="548235"/>
                </a:solidFill>
              </a:rPr>
              <a:t>Tag: GAM_Service</a:t>
            </a:r>
          </a:p>
        </p:txBody>
      </p:sp>
      <p:sp>
        <p:nvSpPr>
          <p:cNvPr id="56" name="service-map-pill">
            <a:extLst xmlns:a="http://schemas.openxmlformats.org/drawingml/2006/main">
              <a:ext uri="{FF2B5EF4-FFF2-40B4-BE49-F238E27FC236}">
                <a16:creationId xmlns:a16="http://schemas.microsoft.com/office/drawing/2014/main" id="{76DBB215-E1BF-46EA-8B8A-1762975AA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514850"/>
            <a:ext cx="3333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DCF8"/>
          </a:solidFill>
          <a:ln xmlns:a="http://schemas.openxmlformats.org/drawingml/2006/main" w="11906">
            <a:solidFill>
              <a:srgbClr val="EADCF8"/>
            </a:solidFill>
            <a:prstDash val="solid"/>
          </a:ln>
        </p:spPr>
      </p:sp>
      <p:sp>
        <p:nvSpPr>
          <p:cNvPr id="57" name="service-map-pill-text">
            <a:extLst xmlns:a="http://schemas.openxmlformats.org/drawingml/2006/main">
              <a:ext uri="{FF2B5EF4-FFF2-40B4-BE49-F238E27FC236}">
                <a16:creationId xmlns:a16="http://schemas.microsoft.com/office/drawing/2014/main" id="{D01705BF-ED4E-4B47-875B-98D62FC6C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572000"/>
            <a:ext cx="3219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7030A0"/>
                </a:solidFill>
              </a:defRPr>
            </a:pPr>
            <a:r>
              <a:rPr sz="825" b="1">
                <a:solidFill>
                  <a:srgbClr val="7030A0"/>
                </a:solidFill>
              </a:rPr>
              <a:t>Service Mapping 最小验证：URL/IP:80 or :8080</a:t>
            </a:r>
          </a:p>
        </p:txBody>
      </p:sp>
      <p:sp>
        <p:nvSpPr>
          <p:cNvPr id="58" name="client-subnet">
            <a:extLst xmlns:a="http://schemas.openxmlformats.org/drawingml/2006/main">
              <a:ext uri="{FF2B5EF4-FFF2-40B4-BE49-F238E27FC236}">
                <a16:creationId xmlns:a16="http://schemas.microsoft.com/office/drawing/2014/main" id="{0E207A74-8389-47C3-8B5B-9E2F8E4C8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905500"/>
            <a:ext cx="584835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D9E2F3"/>
            </a:solidFill>
            <a:prstDash val="solid"/>
          </a:ln>
        </p:spPr>
      </p:sp>
      <p:sp>
        <p:nvSpPr>
          <p:cNvPr id="59" name="client-head">
            <a:extLst xmlns:a="http://schemas.openxmlformats.org/drawingml/2006/main">
              <a:ext uri="{FF2B5EF4-FFF2-40B4-BE49-F238E27FC236}">
                <a16:creationId xmlns:a16="http://schemas.microsoft.com/office/drawing/2014/main" id="{82BC3332-B434-4F21-AD4A-2E0685FB8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6057900"/>
            <a:ext cx="32385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F4E79"/>
          </a:solidFill>
          <a:ln xmlns:a="http://schemas.openxmlformats.org/drawingml/2006/main" w="11906">
            <a:solidFill>
              <a:srgbClr val="1F4E79"/>
            </a:solidFill>
            <a:prstDash val="solid"/>
          </a:ln>
        </p:spPr>
      </p:sp>
      <p:sp>
        <p:nvSpPr>
          <p:cNvPr id="60" name="client-head-text">
            <a:extLst xmlns:a="http://schemas.openxmlformats.org/drawingml/2006/main">
              <a:ext uri="{FF2B5EF4-FFF2-40B4-BE49-F238E27FC236}">
                <a16:creationId xmlns:a16="http://schemas.microsoft.com/office/drawing/2014/main" id="{69AD1B52-3E19-4C7B-92F5-E2F038FE7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6134100"/>
            <a:ext cx="3009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VLAN03 / Client・OA Subnet  10.100.30.0/24</a:t>
            </a:r>
          </a:p>
        </p:txBody>
      </p:sp>
      <p:sp>
        <p:nvSpPr>
          <p:cNvPr id="61" name="win11">
            <a:extLst xmlns:a="http://schemas.openxmlformats.org/drawingml/2006/main">
              <a:ext uri="{FF2B5EF4-FFF2-40B4-BE49-F238E27FC236}">
                <a16:creationId xmlns:a16="http://schemas.microsoft.com/office/drawing/2014/main" id="{9D91AC6E-2F3F-44E4-9D3D-0A740E825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572250"/>
            <a:ext cx="15240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CE4D6"/>
          </a:solidFill>
          <a:ln xmlns:a="http://schemas.openxmlformats.org/drawingml/2006/main" w="11906">
            <a:solidFill>
              <a:srgbClr val="C65911"/>
            </a:solidFill>
            <a:prstDash val="solid"/>
          </a:ln>
        </p:spPr>
      </p:sp>
      <p:sp>
        <p:nvSpPr>
          <p:cNvPr id="62" name="win11-title">
            <a:extLst xmlns:a="http://schemas.openxmlformats.org/drawingml/2006/main">
              <a:ext uri="{FF2B5EF4-FFF2-40B4-BE49-F238E27FC236}">
                <a16:creationId xmlns:a16="http://schemas.microsoft.com/office/drawing/2014/main" id="{D95042AB-707A-48F8-AD1F-862AA1537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6667500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65911"/>
                </a:solidFill>
              </a:defRPr>
            </a:pPr>
            <a:r>
              <a:rPr sz="1350" b="1">
                <a:solidFill>
                  <a:srgbClr val="C65911"/>
                </a:solidFill>
              </a:rPr>
              <a:t>Windows 11</a:t>
            </a:r>
          </a:p>
        </p:txBody>
      </p:sp>
      <p:sp>
        <p:nvSpPr>
          <p:cNvPr id="63" name="win11-body">
            <a:extLst xmlns:a="http://schemas.openxmlformats.org/drawingml/2006/main">
              <a:ext uri="{FF2B5EF4-FFF2-40B4-BE49-F238E27FC236}">
                <a16:creationId xmlns:a16="http://schemas.microsoft.com/office/drawing/2014/main" id="{4F0989A8-9F84-465E-896D-D6B501713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6934200"/>
            <a:ext cx="125730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10" b="0">
                <a:solidFill>
                  <a:srgbClr val="1F2933"/>
                </a:solidFill>
              </a:defRPr>
            </a:pPr>
            <a:r>
              <a:rPr sz="810" b="0">
                <a:solidFill>
                  <a:srgbClr val="1F2933"/>
                </a:solidFill>
              </a:rPr>
              <a:t>Credential-less / ACC</a:t>
            </a:r>
          </a:p>
          <a:p xmlns:a="http://schemas.openxmlformats.org/drawingml/2006/main">
            <a:pPr algn="ctr">
              <a:defRPr sz="810" b="0">
                <a:solidFill>
                  <a:srgbClr val="1F2933"/>
                </a:solidFill>
              </a:defRPr>
            </a:pPr>
            <a:r>
              <a:rPr sz="810" b="0">
                <a:solidFill>
                  <a:srgbClr val="1F2933"/>
                </a:solidFill>
              </a:rPr>
              <a:t>OA_group</a:t>
            </a:r>
          </a:p>
        </p:txBody>
      </p:sp>
      <p:sp>
        <p:nvSpPr>
          <p:cNvPr id="64" name="tag-Tag: OA_group-386-746">
            <a:extLst xmlns:a="http://schemas.openxmlformats.org/drawingml/2006/main">
              <a:ext uri="{FF2B5EF4-FFF2-40B4-BE49-F238E27FC236}">
                <a16:creationId xmlns:a16="http://schemas.microsoft.com/office/drawing/2014/main" id="{ABABE465-BAAF-4D80-A53B-9CFC191DE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7105650"/>
            <a:ext cx="1000125" cy="228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2F0D9"/>
          </a:solidFill>
          <a:ln xmlns:a="http://schemas.openxmlformats.org/drawingml/2006/main" w="11906">
            <a:solidFill>
              <a:srgbClr val="548235"/>
            </a:solidFill>
            <a:prstDash val="solid"/>
          </a:ln>
        </p:spPr>
      </p:sp>
      <p:sp>
        <p:nvSpPr>
          <p:cNvPr id="65" name="tag-text-Tag: OA_group-386-746">
            <a:extLst xmlns:a="http://schemas.openxmlformats.org/drawingml/2006/main">
              <a:ext uri="{FF2B5EF4-FFF2-40B4-BE49-F238E27FC236}">
                <a16:creationId xmlns:a16="http://schemas.microsoft.com/office/drawing/2014/main" id="{32024C86-686C-449C-8DC8-B691A4E48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7143750"/>
            <a:ext cx="885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548235"/>
                </a:solidFill>
              </a:defRPr>
            </a:pPr>
            <a:r>
              <a:rPr sz="788" b="1">
                <a:solidFill>
                  <a:srgbClr val="548235"/>
                </a:solidFill>
              </a:rPr>
              <a:t>Tag: OA_group</a:t>
            </a:r>
          </a:p>
        </p:txBody>
      </p:sp>
      <p:sp>
        <p:nvSpPr>
          <p:cNvPr id="66" name="ubuntu">
            <a:extLst xmlns:a="http://schemas.openxmlformats.org/drawingml/2006/main">
              <a:ext uri="{FF2B5EF4-FFF2-40B4-BE49-F238E27FC236}">
                <a16:creationId xmlns:a16="http://schemas.microsoft.com/office/drawing/2014/main" id="{1709AADF-AA7F-4C29-A20D-864B3D4E4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572250"/>
            <a:ext cx="15240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CE4D6"/>
          </a:solidFill>
          <a:ln xmlns:a="http://schemas.openxmlformats.org/drawingml/2006/main" w="11906">
            <a:solidFill>
              <a:srgbClr val="C65911"/>
            </a:solidFill>
            <a:prstDash val="solid"/>
          </a:ln>
        </p:spPr>
      </p:sp>
      <p:sp>
        <p:nvSpPr>
          <p:cNvPr id="67" name="ubuntu-title">
            <a:extLst xmlns:a="http://schemas.openxmlformats.org/drawingml/2006/main">
              <a:ext uri="{FF2B5EF4-FFF2-40B4-BE49-F238E27FC236}">
                <a16:creationId xmlns:a16="http://schemas.microsoft.com/office/drawing/2014/main" id="{B53D6B7B-17CC-4CD6-AB33-C2627DB22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6667500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65911"/>
                </a:solidFill>
              </a:defRPr>
            </a:pPr>
            <a:r>
              <a:rPr sz="1350" b="1">
                <a:solidFill>
                  <a:srgbClr val="C65911"/>
                </a:solidFill>
              </a:rPr>
              <a:t>Ubuntu / Linux</a:t>
            </a:r>
          </a:p>
        </p:txBody>
      </p:sp>
      <p:sp>
        <p:nvSpPr>
          <p:cNvPr id="68" name="ubuntu-body">
            <a:extLst xmlns:a="http://schemas.openxmlformats.org/drawingml/2006/main">
              <a:ext uri="{FF2B5EF4-FFF2-40B4-BE49-F238E27FC236}">
                <a16:creationId xmlns:a16="http://schemas.microsoft.com/office/drawing/2014/main" id="{EF603440-B96A-4FDC-8E3A-F0160F75A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6934200"/>
            <a:ext cx="1257300" cy="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10" b="0">
                <a:solidFill>
                  <a:srgbClr val="1F2933"/>
                </a:solidFill>
              </a:defRPr>
            </a:pPr>
            <a:r>
              <a:rPr sz="810" b="0">
                <a:solidFill>
                  <a:srgbClr val="1F2933"/>
                </a:solidFill>
              </a:rPr>
              <a:t>Credential-less / ACC</a:t>
            </a:r>
          </a:p>
          <a:p xmlns:a="http://schemas.openxmlformats.org/drawingml/2006/main">
            <a:pPr algn="ctr">
              <a:defRPr sz="810" b="0">
                <a:solidFill>
                  <a:srgbClr val="1F2933"/>
                </a:solidFill>
              </a:defRPr>
            </a:pPr>
            <a:r>
              <a:rPr sz="810" b="0">
                <a:solidFill>
                  <a:srgbClr val="1F2933"/>
                </a:solidFill>
              </a:rPr>
              <a:t>OA_group</a:t>
            </a:r>
          </a:p>
        </p:txBody>
      </p:sp>
      <p:sp>
        <p:nvSpPr>
          <p:cNvPr id="69" name="tag-Tag: OA_group-652-746">
            <a:extLst xmlns:a="http://schemas.openxmlformats.org/drawingml/2006/main">
              <a:ext uri="{FF2B5EF4-FFF2-40B4-BE49-F238E27FC236}">
                <a16:creationId xmlns:a16="http://schemas.microsoft.com/office/drawing/2014/main" id="{28409CF2-EE72-4721-A5FA-2CC5DD838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7105650"/>
            <a:ext cx="1000125" cy="228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2F0D9"/>
          </a:solidFill>
          <a:ln xmlns:a="http://schemas.openxmlformats.org/drawingml/2006/main" w="11906">
            <a:solidFill>
              <a:srgbClr val="548235"/>
            </a:solidFill>
            <a:prstDash val="solid"/>
          </a:ln>
        </p:spPr>
      </p:sp>
      <p:sp>
        <p:nvSpPr>
          <p:cNvPr id="70" name="tag-text-Tag: OA_group-652-746">
            <a:extLst xmlns:a="http://schemas.openxmlformats.org/drawingml/2006/main">
              <a:ext uri="{FF2B5EF4-FFF2-40B4-BE49-F238E27FC236}">
                <a16:creationId xmlns:a16="http://schemas.microsoft.com/office/drawing/2014/main" id="{CF16EF85-25F6-4293-8954-9C1D867FE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7143750"/>
            <a:ext cx="885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548235"/>
                </a:solidFill>
              </a:defRPr>
            </a:pPr>
            <a:r>
              <a:rPr sz="788" b="1">
                <a:solidFill>
                  <a:srgbClr val="548235"/>
                </a:solidFill>
              </a:rPr>
              <a:t>Tag: OA_group</a:t>
            </a:r>
          </a:p>
        </p:txBody>
      </p:sp>
      <p:sp>
        <p:nvSpPr>
          <p:cNvPr id="71" name="acc-pill">
            <a:extLst xmlns:a="http://schemas.openxmlformats.org/drawingml/2006/main">
              <a:ext uri="{FF2B5EF4-FFF2-40B4-BE49-F238E27FC236}">
                <a16:creationId xmlns:a16="http://schemas.microsoft.com/office/drawing/2014/main" id="{65680581-CAFD-43C7-9D3F-5510A8BEB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6096000"/>
            <a:ext cx="223837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F0D9"/>
          </a:solidFill>
          <a:ln xmlns:a="http://schemas.openxmlformats.org/drawingml/2006/main" w="11906">
            <a:solidFill>
              <a:srgbClr val="E2F0D9"/>
            </a:solidFill>
            <a:prstDash val="solid"/>
          </a:ln>
        </p:spPr>
      </p:sp>
      <p:sp>
        <p:nvSpPr>
          <p:cNvPr id="72" name="acc-pill-text">
            <a:extLst xmlns:a="http://schemas.openxmlformats.org/drawingml/2006/main">
              <a:ext uri="{FF2B5EF4-FFF2-40B4-BE49-F238E27FC236}">
                <a16:creationId xmlns:a16="http://schemas.microsoft.com/office/drawing/2014/main" id="{6C8A31BA-13B1-4924-88CA-4F8B0F358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6153150"/>
            <a:ext cx="21240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48235"/>
                </a:solidFill>
              </a:defRPr>
            </a:pPr>
            <a:r>
              <a:rPr sz="825" b="1">
                <a:solidFill>
                  <a:srgbClr val="548235"/>
                </a:solidFill>
              </a:rPr>
              <a:t>ACC 有/无对比：Windows / Linux</a:t>
            </a:r>
          </a:p>
        </p:txBody>
      </p:sp>
      <p:sp>
        <p:nvSpPr>
          <p:cNvPr id="73" name="mid-to-pa-0">
            <a:extLst xmlns:a="http://schemas.openxmlformats.org/drawingml/2006/main">
              <a:ext uri="{FF2B5EF4-FFF2-40B4-BE49-F238E27FC236}">
                <a16:creationId xmlns:a16="http://schemas.microsoft.com/office/drawing/2014/main" id="{3EE99A94-74EB-4E85-AF12-1EB4D3F24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81250"/>
            <a:ext cx="8001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65911"/>
          </a:solidFill>
          <a:ln xmlns:a="http://schemas.openxmlformats.org/drawingml/2006/main" w="11906">
            <a:solidFill>
              <a:srgbClr val="C65911"/>
            </a:solidFill>
            <a:prstDash val="solid"/>
          </a:ln>
        </p:spPr>
      </p:sp>
      <p:sp>
        <p:nvSpPr>
          <p:cNvPr id="74" name="mid-to-pa-1">
            <a:extLst xmlns:a="http://schemas.openxmlformats.org/drawingml/2006/main">
              <a:ext uri="{FF2B5EF4-FFF2-40B4-BE49-F238E27FC236}">
                <a16:creationId xmlns:a16="http://schemas.microsoft.com/office/drawing/2014/main" id="{A9887519-E28E-4C47-8C32-669D5057F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400300"/>
            <a:ext cx="381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65911"/>
          </a:solidFill>
          <a:ln xmlns:a="http://schemas.openxmlformats.org/drawingml/2006/main" w="11906">
            <a:solidFill>
              <a:srgbClr val="C65911"/>
            </a:solidFill>
            <a:prstDash val="solid"/>
          </a:ln>
        </p:spPr>
      </p:sp>
      <p:sp>
        <p:nvSpPr>
          <p:cNvPr id="75" name="mid-to-pa-2">
            <a:extLst xmlns:a="http://schemas.openxmlformats.org/drawingml/2006/main">
              <a:ext uri="{FF2B5EF4-FFF2-40B4-BE49-F238E27FC236}">
                <a16:creationId xmlns:a16="http://schemas.microsoft.com/office/drawing/2014/main" id="{3F0FB86E-4F95-4BC1-9853-13D6FC484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838450"/>
            <a:ext cx="4762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65911"/>
          </a:solidFill>
          <a:ln xmlns:a="http://schemas.openxmlformats.org/drawingml/2006/main" w="11906">
            <a:solidFill>
              <a:srgbClr val="C65911"/>
            </a:solidFill>
            <a:prstDash val="solid"/>
          </a:ln>
        </p:spPr>
      </p:sp>
      <p:sp>
        <p:nvSpPr>
          <p:cNvPr id="76" name="step-3">
            <a:extLst xmlns:a="http://schemas.openxmlformats.org/drawingml/2006/main">
              <a:ext uri="{FF2B5EF4-FFF2-40B4-BE49-F238E27FC236}">
                <a16:creationId xmlns:a16="http://schemas.microsoft.com/office/drawing/2014/main" id="{13ADFA0A-35AF-4405-9E45-47B518C8C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146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5911"/>
          </a:solidFill>
          <a:ln xmlns:a="http://schemas.openxmlformats.org/drawingml/2006/main" w="9525">
            <a:solidFill>
              <a:srgbClr val="C65911"/>
            </a:solidFill>
            <a:prstDash val="solid"/>
          </a:ln>
        </p:spPr>
      </p:sp>
      <p:sp>
        <p:nvSpPr>
          <p:cNvPr id="77" name="step-3-t">
            <a:extLst xmlns:a="http://schemas.openxmlformats.org/drawingml/2006/main">
              <a:ext uri="{FF2B5EF4-FFF2-40B4-BE49-F238E27FC236}">
                <a16:creationId xmlns:a16="http://schemas.microsoft.com/office/drawing/2014/main" id="{FC10C4A9-5442-4949-BD14-C1F9E300E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552700"/>
            <a:ext cx="114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78" name="step-3-label">
            <a:extLst xmlns:a="http://schemas.openxmlformats.org/drawingml/2006/main">
              <a:ext uri="{FF2B5EF4-FFF2-40B4-BE49-F238E27FC236}">
                <a16:creationId xmlns:a16="http://schemas.microsoft.com/office/drawing/2014/main" id="{8B2DA5DC-15C1-4355-83B4-B4CE69EFA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5336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C65911"/>
                </a:solidFill>
              </a:defRPr>
            </a:pPr>
            <a:r>
              <a:rPr sz="840" b="0">
                <a:solidFill>
                  <a:srgbClr val="C65911"/>
                </a:solidFill>
              </a:rPr>
              <a:t>MID → Palo Alto / UDR next hop</a:t>
            </a:r>
          </a:p>
        </p:txBody>
      </p:sp>
      <p:sp>
        <p:nvSpPr>
          <p:cNvPr id="79" name="pa-to-server-0">
            <a:extLst xmlns:a="http://schemas.openxmlformats.org/drawingml/2006/main">
              <a:ext uri="{FF2B5EF4-FFF2-40B4-BE49-F238E27FC236}">
                <a16:creationId xmlns:a16="http://schemas.microsoft.com/office/drawing/2014/main" id="{6CC80DE1-E7E6-4A41-B35B-AB7042F31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62250"/>
            <a:ext cx="22860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65911"/>
          </a:solidFill>
          <a:ln xmlns:a="http://schemas.openxmlformats.org/drawingml/2006/main" w="11906">
            <a:solidFill>
              <a:srgbClr val="C65911"/>
            </a:solidFill>
            <a:prstDash val="solid"/>
          </a:ln>
        </p:spPr>
      </p:sp>
      <p:sp>
        <p:nvSpPr>
          <p:cNvPr id="80" name="pa-to-server-1">
            <a:extLst xmlns:a="http://schemas.openxmlformats.org/drawingml/2006/main">
              <a:ext uri="{FF2B5EF4-FFF2-40B4-BE49-F238E27FC236}">
                <a16:creationId xmlns:a16="http://schemas.microsoft.com/office/drawing/2014/main" id="{470CA80C-73CA-4A06-95C2-4E7AC82C3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781300"/>
            <a:ext cx="38100" cy="1981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65911"/>
          </a:solidFill>
          <a:ln xmlns:a="http://schemas.openxmlformats.org/drawingml/2006/main" w="11906">
            <a:solidFill>
              <a:srgbClr val="C65911"/>
            </a:solidFill>
            <a:prstDash val="solid"/>
          </a:ln>
        </p:spPr>
      </p:sp>
      <p:sp>
        <p:nvSpPr>
          <p:cNvPr id="81" name="pa-to-server-2">
            <a:extLst xmlns:a="http://schemas.openxmlformats.org/drawingml/2006/main">
              <a:ext uri="{FF2B5EF4-FFF2-40B4-BE49-F238E27FC236}">
                <a16:creationId xmlns:a16="http://schemas.microsoft.com/office/drawing/2014/main" id="{09B215B4-B604-4AEF-84FC-01416026B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4743450"/>
            <a:ext cx="7239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65911"/>
          </a:solidFill>
          <a:ln xmlns:a="http://schemas.openxmlformats.org/drawingml/2006/main" w="11906">
            <a:solidFill>
              <a:srgbClr val="C65911"/>
            </a:solidFill>
            <a:prstDash val="solid"/>
          </a:ln>
        </p:spPr>
      </p:sp>
      <p:sp>
        <p:nvSpPr>
          <p:cNvPr id="82" name="step-4">
            <a:extLst xmlns:a="http://schemas.openxmlformats.org/drawingml/2006/main">
              <a:ext uri="{FF2B5EF4-FFF2-40B4-BE49-F238E27FC236}">
                <a16:creationId xmlns:a16="http://schemas.microsoft.com/office/drawing/2014/main" id="{33515CB1-4D94-4C16-818D-FB9420E90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8956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5911"/>
          </a:solidFill>
          <a:ln xmlns:a="http://schemas.openxmlformats.org/drawingml/2006/main" w="9525">
            <a:solidFill>
              <a:srgbClr val="C65911"/>
            </a:solidFill>
            <a:prstDash val="solid"/>
          </a:ln>
        </p:spPr>
      </p:sp>
      <p:sp>
        <p:nvSpPr>
          <p:cNvPr id="83" name="step-4-t">
            <a:extLst xmlns:a="http://schemas.openxmlformats.org/drawingml/2006/main">
              <a:ext uri="{FF2B5EF4-FFF2-40B4-BE49-F238E27FC236}">
                <a16:creationId xmlns:a16="http://schemas.microsoft.com/office/drawing/2014/main" id="{DFF3C573-47AD-4357-BA20-A6F9A5175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933700"/>
            <a:ext cx="114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84" name="step-4-label">
            <a:extLst xmlns:a="http://schemas.openxmlformats.org/drawingml/2006/main">
              <a:ext uri="{FF2B5EF4-FFF2-40B4-BE49-F238E27FC236}">
                <a16:creationId xmlns:a16="http://schemas.microsoft.com/office/drawing/2014/main" id="{BB89F531-D4CB-429F-8D01-D39B05C7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9146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C65911"/>
                </a:solidFill>
              </a:defRPr>
            </a:pPr>
            <a:r>
              <a:rPr sz="840" b="0">
                <a:solidFill>
                  <a:srgbClr val="C65911"/>
                </a:solidFill>
              </a:rPr>
              <a:t>Palo Alto → Server Subnet</a:t>
            </a:r>
          </a:p>
        </p:txBody>
      </p:sp>
      <p:sp>
        <p:nvSpPr>
          <p:cNvPr id="85" name="pa-to-client-0">
            <a:extLst xmlns:a="http://schemas.openxmlformats.org/drawingml/2006/main">
              <a:ext uri="{FF2B5EF4-FFF2-40B4-BE49-F238E27FC236}">
                <a16:creationId xmlns:a16="http://schemas.microsoft.com/office/drawing/2014/main" id="{D277A0B7-CFB9-4906-A13E-E0BB1E8A0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09900"/>
            <a:ext cx="32385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65911"/>
          </a:solidFill>
          <a:ln xmlns:a="http://schemas.openxmlformats.org/drawingml/2006/main" w="11906">
            <a:solidFill>
              <a:srgbClr val="C65911"/>
            </a:solidFill>
            <a:prstDash val="solid"/>
          </a:ln>
        </p:spPr>
      </p:sp>
      <p:sp>
        <p:nvSpPr>
          <p:cNvPr id="86" name="pa-to-client-1">
            <a:extLst xmlns:a="http://schemas.openxmlformats.org/drawingml/2006/main">
              <a:ext uri="{FF2B5EF4-FFF2-40B4-BE49-F238E27FC236}">
                <a16:creationId xmlns:a16="http://schemas.microsoft.com/office/drawing/2014/main" id="{BDFB73B1-E7FD-4376-9803-9A9660AD2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028950"/>
            <a:ext cx="38100" cy="3733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65911"/>
          </a:solidFill>
          <a:ln xmlns:a="http://schemas.openxmlformats.org/drawingml/2006/main" w="11906">
            <a:solidFill>
              <a:srgbClr val="C65911"/>
            </a:solidFill>
            <a:prstDash val="solid"/>
          </a:ln>
        </p:spPr>
      </p:sp>
      <p:sp>
        <p:nvSpPr>
          <p:cNvPr id="87" name="pa-to-client-2">
            <a:extLst xmlns:a="http://schemas.openxmlformats.org/drawingml/2006/main">
              <a:ext uri="{FF2B5EF4-FFF2-40B4-BE49-F238E27FC236}">
                <a16:creationId xmlns:a16="http://schemas.microsoft.com/office/drawing/2014/main" id="{C2AB4A40-2163-441D-8008-B3AC4BEB0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743700"/>
            <a:ext cx="5143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65911"/>
          </a:solidFill>
          <a:ln xmlns:a="http://schemas.openxmlformats.org/drawingml/2006/main" w="11906">
            <a:solidFill>
              <a:srgbClr val="C65911"/>
            </a:solidFill>
            <a:prstDash val="solid"/>
          </a:ln>
        </p:spPr>
      </p:sp>
      <p:sp>
        <p:nvSpPr>
          <p:cNvPr id="88" name="step-5">
            <a:extLst xmlns:a="http://schemas.openxmlformats.org/drawingml/2006/main">
              <a:ext uri="{FF2B5EF4-FFF2-40B4-BE49-F238E27FC236}">
                <a16:creationId xmlns:a16="http://schemas.microsoft.com/office/drawing/2014/main" id="{AD645F4F-220B-461D-BB0A-4189734CC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0863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5911"/>
          </a:solidFill>
          <a:ln xmlns:a="http://schemas.openxmlformats.org/drawingml/2006/main" w="9525">
            <a:solidFill>
              <a:srgbClr val="C65911"/>
            </a:solidFill>
            <a:prstDash val="solid"/>
          </a:ln>
        </p:spPr>
      </p:sp>
      <p:sp>
        <p:nvSpPr>
          <p:cNvPr id="89" name="step-5-t">
            <a:extLst xmlns:a="http://schemas.openxmlformats.org/drawingml/2006/main">
              <a:ext uri="{FF2B5EF4-FFF2-40B4-BE49-F238E27FC236}">
                <a16:creationId xmlns:a16="http://schemas.microsoft.com/office/drawing/2014/main" id="{39125063-A7B0-484C-B629-148ED0FBE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124450"/>
            <a:ext cx="114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90" name="step-5-label">
            <a:extLst xmlns:a="http://schemas.openxmlformats.org/drawingml/2006/main">
              <a:ext uri="{FF2B5EF4-FFF2-40B4-BE49-F238E27FC236}">
                <a16:creationId xmlns:a16="http://schemas.microsoft.com/office/drawing/2014/main" id="{FACF42B4-223D-4038-9F54-998F09DCC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1054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C65911"/>
                </a:solidFill>
              </a:defRPr>
            </a:pPr>
            <a:r>
              <a:rPr sz="840" b="0">
                <a:solidFill>
                  <a:srgbClr val="C65911"/>
                </a:solidFill>
              </a:rPr>
              <a:t>Palo Alto → Client Subnet</a:t>
            </a:r>
          </a:p>
        </p:txBody>
      </p:sp>
      <p:sp>
        <p:nvSpPr>
          <p:cNvPr id="91" name="return-path-0">
            <a:extLst xmlns:a="http://schemas.openxmlformats.org/drawingml/2006/main">
              <a:ext uri="{FF2B5EF4-FFF2-40B4-BE49-F238E27FC236}">
                <a16:creationId xmlns:a16="http://schemas.microsoft.com/office/drawing/2014/main" id="{A3FB38DF-4BEF-4133-A271-243462DE9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264944"/>
            <a:ext cx="381000" cy="23813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48235"/>
          </a:solidFill>
          <a:ln xmlns:a="http://schemas.openxmlformats.org/drawingml/2006/main" w="11906">
            <a:solidFill>
              <a:srgbClr val="548235"/>
            </a:solidFill>
            <a:prstDash val="solid"/>
          </a:ln>
        </p:spPr>
      </p:sp>
      <p:sp>
        <p:nvSpPr>
          <p:cNvPr id="92" name="return-path-1">
            <a:extLst xmlns:a="http://schemas.openxmlformats.org/drawingml/2006/main">
              <a:ext uri="{FF2B5EF4-FFF2-40B4-BE49-F238E27FC236}">
                <a16:creationId xmlns:a16="http://schemas.microsoft.com/office/drawing/2014/main" id="{A6EE945B-92C1-42ED-94DF-ED7EFA24A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4994" y="3619500"/>
            <a:ext cx="23813" cy="1657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48235"/>
          </a:solidFill>
          <a:ln xmlns:a="http://schemas.openxmlformats.org/drawingml/2006/main" w="11906">
            <a:solidFill>
              <a:srgbClr val="548235"/>
            </a:solidFill>
            <a:prstDash val="solid"/>
          </a:ln>
        </p:spPr>
      </p:sp>
      <p:sp>
        <p:nvSpPr>
          <p:cNvPr id="93" name="return-path-2">
            <a:extLst xmlns:a="http://schemas.openxmlformats.org/drawingml/2006/main">
              <a:ext uri="{FF2B5EF4-FFF2-40B4-BE49-F238E27FC236}">
                <a16:creationId xmlns:a16="http://schemas.microsoft.com/office/drawing/2014/main" id="{D6053AAC-B9D5-442A-8662-E34ADEE3F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607594"/>
            <a:ext cx="1428750" cy="23813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48235"/>
          </a:solidFill>
          <a:ln xmlns:a="http://schemas.openxmlformats.org/drawingml/2006/main" w="11906">
            <a:solidFill>
              <a:srgbClr val="548235"/>
            </a:solidFill>
            <a:prstDash val="solid"/>
          </a:ln>
        </p:spPr>
      </p:sp>
      <p:sp>
        <p:nvSpPr>
          <p:cNvPr id="94" name="return-path-3">
            <a:extLst xmlns:a="http://schemas.openxmlformats.org/drawingml/2006/main">
              <a:ext uri="{FF2B5EF4-FFF2-40B4-BE49-F238E27FC236}">
                <a16:creationId xmlns:a16="http://schemas.microsoft.com/office/drawing/2014/main" id="{88BA1B7F-3886-4CB3-A9D1-D7A313DEF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3744" y="3390900"/>
            <a:ext cx="23813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48235"/>
          </a:solidFill>
          <a:ln xmlns:a="http://schemas.openxmlformats.org/drawingml/2006/main" w="11906">
            <a:solidFill>
              <a:srgbClr val="548235"/>
            </a:solidFill>
            <a:prstDash val="solid"/>
          </a:ln>
        </p:spPr>
      </p:sp>
      <p:sp>
        <p:nvSpPr>
          <p:cNvPr id="95" name="return-path2-0">
            <a:extLst xmlns:a="http://schemas.openxmlformats.org/drawingml/2006/main">
              <a:ext uri="{FF2B5EF4-FFF2-40B4-BE49-F238E27FC236}">
                <a16:creationId xmlns:a16="http://schemas.microsoft.com/office/drawing/2014/main" id="{1D74B629-58A8-46F7-AB0A-D4026465B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6807994"/>
            <a:ext cx="495300" cy="23813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48235"/>
          </a:solidFill>
          <a:ln xmlns:a="http://schemas.openxmlformats.org/drawingml/2006/main" w="11906">
            <a:solidFill>
              <a:srgbClr val="548235"/>
            </a:solidFill>
            <a:prstDash val="solid"/>
          </a:ln>
        </p:spPr>
      </p:sp>
      <p:sp>
        <p:nvSpPr>
          <p:cNvPr id="96" name="return-path2-1">
            <a:extLst xmlns:a="http://schemas.openxmlformats.org/drawingml/2006/main">
              <a:ext uri="{FF2B5EF4-FFF2-40B4-BE49-F238E27FC236}">
                <a16:creationId xmlns:a16="http://schemas.microsoft.com/office/drawing/2014/main" id="{AA377FC8-7410-4A70-ADA7-CA4E31769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4994" y="5276850"/>
            <a:ext cx="23813" cy="1543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48235"/>
          </a:solidFill>
          <a:ln xmlns:a="http://schemas.openxmlformats.org/drawingml/2006/main" w="11906">
            <a:solidFill>
              <a:srgbClr val="548235"/>
            </a:solidFill>
            <a:prstDash val="solid"/>
          </a:ln>
        </p:spPr>
      </p:sp>
      <p:sp>
        <p:nvSpPr>
          <p:cNvPr id="97" name="step-6">
            <a:extLst xmlns:a="http://schemas.openxmlformats.org/drawingml/2006/main">
              <a:ext uri="{FF2B5EF4-FFF2-40B4-BE49-F238E27FC236}">
                <a16:creationId xmlns:a16="http://schemas.microsoft.com/office/drawing/2014/main" id="{040034A0-69A3-4485-8185-420171CEB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6766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8235"/>
          </a:solidFill>
          <a:ln xmlns:a="http://schemas.openxmlformats.org/drawingml/2006/main" w="9525">
            <a:solidFill>
              <a:srgbClr val="548235"/>
            </a:solidFill>
            <a:prstDash val="solid"/>
          </a:ln>
        </p:spPr>
      </p:sp>
      <p:sp>
        <p:nvSpPr>
          <p:cNvPr id="98" name="step-6-t">
            <a:extLst xmlns:a="http://schemas.openxmlformats.org/drawingml/2006/main">
              <a:ext uri="{FF2B5EF4-FFF2-40B4-BE49-F238E27FC236}">
                <a16:creationId xmlns:a16="http://schemas.microsoft.com/office/drawing/2014/main" id="{8C23833E-525E-4C58-864A-405E0DE7D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714750"/>
            <a:ext cx="114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99" name="step-6-label">
            <a:extLst xmlns:a="http://schemas.openxmlformats.org/drawingml/2006/main">
              <a:ext uri="{FF2B5EF4-FFF2-40B4-BE49-F238E27FC236}">
                <a16:creationId xmlns:a16="http://schemas.microsoft.com/office/drawing/2014/main" id="{C9A00F89-BC30-46F0-8446-C18B35EA5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95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548235"/>
                </a:solidFill>
              </a:defRPr>
            </a:pPr>
            <a:r>
              <a:rPr sz="840" b="0">
                <a:solidFill>
                  <a:srgbClr val="548235"/>
                </a:solidFill>
              </a:rPr>
              <a:t>Return path も Palo Alto 経由</a:t>
            </a:r>
          </a:p>
        </p:txBody>
      </p:sp>
      <p:sp>
        <p:nvSpPr>
          <p:cNvPr id="100" name="sm-line-0">
            <a:extLst xmlns:a="http://schemas.openxmlformats.org/drawingml/2006/main">
              <a:ext uri="{FF2B5EF4-FFF2-40B4-BE49-F238E27FC236}">
                <a16:creationId xmlns:a16="http://schemas.microsoft.com/office/drawing/2014/main" id="{0967EE0E-51AA-4F51-9967-75D1BA689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844" y="4495800"/>
            <a:ext cx="23813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030A0"/>
          </a:solidFill>
          <a:ln xmlns:a="http://schemas.openxmlformats.org/drawingml/2006/main" w="11906">
            <a:solidFill>
              <a:srgbClr val="7030A0"/>
            </a:solidFill>
            <a:prstDash val="solid"/>
          </a:ln>
        </p:spPr>
      </p:sp>
      <p:sp>
        <p:nvSpPr>
          <p:cNvPr id="101" name="sm-line-1">
            <a:extLst xmlns:a="http://schemas.openxmlformats.org/drawingml/2006/main">
              <a:ext uri="{FF2B5EF4-FFF2-40B4-BE49-F238E27FC236}">
                <a16:creationId xmlns:a16="http://schemas.microsoft.com/office/drawing/2014/main" id="{32FD3C07-94D2-4290-A6BA-6E77C796B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483894"/>
            <a:ext cx="742950" cy="23813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030A0"/>
          </a:solidFill>
          <a:ln xmlns:a="http://schemas.openxmlformats.org/drawingml/2006/main" w="11906">
            <a:solidFill>
              <a:srgbClr val="7030A0"/>
            </a:solidFill>
            <a:prstDash val="solid"/>
          </a:ln>
        </p:spPr>
      </p:sp>
      <p:sp>
        <p:nvSpPr>
          <p:cNvPr id="102" name="sm-line-2">
            <a:extLst xmlns:a="http://schemas.openxmlformats.org/drawingml/2006/main">
              <a:ext uri="{FF2B5EF4-FFF2-40B4-BE49-F238E27FC236}">
                <a16:creationId xmlns:a16="http://schemas.microsoft.com/office/drawing/2014/main" id="{FBF867E6-449F-48BE-A941-ABE411316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794" y="4495800"/>
            <a:ext cx="23813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030A0"/>
          </a:solidFill>
          <a:ln xmlns:a="http://schemas.openxmlformats.org/drawingml/2006/main" w="11906">
            <a:solidFill>
              <a:srgbClr val="7030A0"/>
            </a:solidFill>
            <a:prstDash val="solid"/>
          </a:ln>
        </p:spPr>
      </p:sp>
      <p:sp>
        <p:nvSpPr>
          <p:cNvPr id="103" name="sm-label">
            <a:extLst xmlns:a="http://schemas.openxmlformats.org/drawingml/2006/main">
              <a:ext uri="{FF2B5EF4-FFF2-40B4-BE49-F238E27FC236}">
                <a16:creationId xmlns:a16="http://schemas.microsoft.com/office/drawing/2014/main" id="{2EF821B7-37C9-4122-A503-DF047DBD5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705350"/>
            <a:ext cx="876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7030A0"/>
                </a:solidFill>
              </a:defRPr>
            </a:pPr>
            <a:r>
              <a:rPr sz="863" b="0">
                <a:solidFill>
                  <a:srgbClr val="7030A0"/>
                </a:solidFill>
              </a:rPr>
              <a:t>⑦ Top-down</a:t>
            </a:r>
          </a:p>
          <a:p xmlns:a="http://schemas.openxmlformats.org/drawingml/2006/main">
            <a:pPr algn="ctr">
              <a:defRPr sz="863" b="0">
                <a:solidFill>
                  <a:srgbClr val="7030A0"/>
                </a:solidFill>
              </a:defRPr>
            </a:pPr>
            <a:r>
              <a:rPr sz="863" b="0">
                <a:solidFill>
                  <a:srgbClr val="7030A0"/>
                </a:solidFill>
              </a:rPr>
              <a:t>Entry Point</a:t>
            </a:r>
          </a:p>
        </p:txBody>
      </p:sp>
      <p:sp>
        <p:nvSpPr>
          <p:cNvPr id="104" name="acc-line-0">
            <a:extLst xmlns:a="http://schemas.openxmlformats.org/drawingml/2006/main">
              <a:ext uri="{FF2B5EF4-FFF2-40B4-BE49-F238E27FC236}">
                <a16:creationId xmlns:a16="http://schemas.microsoft.com/office/drawing/2014/main" id="{55EC8DF7-6040-4EAE-9065-3C546EF40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6810375"/>
            <a:ext cx="43815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48235"/>
          </a:solidFill>
          <a:ln xmlns:a="http://schemas.openxmlformats.org/drawingml/2006/main" w="11906">
            <a:solidFill>
              <a:srgbClr val="548235"/>
            </a:solidFill>
            <a:prstDash val="solid"/>
          </a:ln>
        </p:spPr>
      </p:sp>
      <p:sp>
        <p:nvSpPr>
          <p:cNvPr id="105" name="acc-line-1">
            <a:extLst xmlns:a="http://schemas.openxmlformats.org/drawingml/2006/main">
              <a:ext uri="{FF2B5EF4-FFF2-40B4-BE49-F238E27FC236}">
                <a16:creationId xmlns:a16="http://schemas.microsoft.com/office/drawing/2014/main" id="{ED20ED5B-B601-4A7F-8E24-A67DB48D2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6819900"/>
            <a:ext cx="19050" cy="666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48235"/>
          </a:solidFill>
          <a:ln xmlns:a="http://schemas.openxmlformats.org/drawingml/2006/main" w="11906">
            <a:solidFill>
              <a:srgbClr val="548235"/>
            </a:solidFill>
            <a:prstDash val="solid"/>
          </a:ln>
        </p:spPr>
      </p:sp>
      <p:sp>
        <p:nvSpPr>
          <p:cNvPr id="106" name="acc-line-2">
            <a:extLst xmlns:a="http://schemas.openxmlformats.org/drawingml/2006/main">
              <a:ext uri="{FF2B5EF4-FFF2-40B4-BE49-F238E27FC236}">
                <a16:creationId xmlns:a16="http://schemas.microsoft.com/office/drawing/2014/main" id="{AFEB156C-0ABD-49B7-8F85-30DC3F01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7477125"/>
            <a:ext cx="25527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48235"/>
          </a:solidFill>
          <a:ln xmlns:a="http://schemas.openxmlformats.org/drawingml/2006/main" w="11906">
            <a:solidFill>
              <a:srgbClr val="548235"/>
            </a:solidFill>
            <a:prstDash val="solid"/>
          </a:ln>
        </p:spPr>
      </p:sp>
      <p:sp>
        <p:nvSpPr>
          <p:cNvPr id="107" name="acc-line-3">
            <a:extLst xmlns:a="http://schemas.openxmlformats.org/drawingml/2006/main">
              <a:ext uri="{FF2B5EF4-FFF2-40B4-BE49-F238E27FC236}">
                <a16:creationId xmlns:a16="http://schemas.microsoft.com/office/drawing/2014/main" id="{B478E6AF-2092-46D4-A7A4-14E80F5BD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952750"/>
            <a:ext cx="19050" cy="453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48235"/>
          </a:solidFill>
          <a:ln xmlns:a="http://schemas.openxmlformats.org/drawingml/2006/main" w="11906">
            <a:solidFill>
              <a:srgbClr val="548235"/>
            </a:solidFill>
            <a:prstDash val="solid"/>
          </a:ln>
        </p:spPr>
      </p:sp>
      <p:sp>
        <p:nvSpPr>
          <p:cNvPr id="108" name="acc-label">
            <a:extLst xmlns:a="http://schemas.openxmlformats.org/drawingml/2006/main">
              <a:ext uri="{FF2B5EF4-FFF2-40B4-BE49-F238E27FC236}">
                <a16:creationId xmlns:a16="http://schemas.microsoft.com/office/drawing/2014/main" id="{F03E1371-3FCF-4FA5-BC6B-362361BA9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7410450"/>
            <a:ext cx="1219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548235"/>
                </a:solidFill>
              </a:defRPr>
            </a:pPr>
            <a:r>
              <a:rPr sz="863" b="0">
                <a:solidFill>
                  <a:srgbClr val="548235"/>
                </a:solidFill>
              </a:rPr>
              <a:t>⑧ ACC Agent</a:t>
            </a:r>
          </a:p>
          <a:p xmlns:a="http://schemas.openxmlformats.org/drawingml/2006/main">
            <a:pPr algn="ctr">
              <a:defRPr sz="863" b="0">
                <a:solidFill>
                  <a:srgbClr val="548235"/>
                </a:solidFill>
              </a:defRPr>
            </a:pPr>
            <a:r>
              <a:rPr sz="863" b="0">
                <a:solidFill>
                  <a:srgbClr val="548235"/>
                </a:solidFill>
              </a:rPr>
              <a:t>主机主动上报</a:t>
            </a:r>
          </a:p>
        </p:txBody>
      </p:sp>
      <p:sp>
        <p:nvSpPr>
          <p:cNvPr id="109" name="snmp-pa-0">
            <a:extLst xmlns:a="http://schemas.openxmlformats.org/drawingml/2006/main">
              <a:ext uri="{FF2B5EF4-FFF2-40B4-BE49-F238E27FC236}">
                <a16:creationId xmlns:a16="http://schemas.microsoft.com/office/drawing/2014/main" id="{42F897FE-677E-4DE7-9C66-F3122F7E1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238375"/>
            <a:ext cx="66675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E79"/>
          </a:solidFill>
          <a:ln xmlns:a="http://schemas.openxmlformats.org/drawingml/2006/main" w="11906">
            <a:solidFill>
              <a:srgbClr val="1F4E79"/>
            </a:solidFill>
            <a:prstDash val="solid"/>
          </a:ln>
        </p:spPr>
      </p:sp>
      <p:sp>
        <p:nvSpPr>
          <p:cNvPr id="110" name="snmp-pa-1">
            <a:extLst xmlns:a="http://schemas.openxmlformats.org/drawingml/2006/main">
              <a:ext uri="{FF2B5EF4-FFF2-40B4-BE49-F238E27FC236}">
                <a16:creationId xmlns:a16="http://schemas.microsoft.com/office/drawing/2014/main" id="{B545E217-1A65-43E1-9F97-58748B2B2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247900"/>
            <a:ext cx="1905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E79"/>
          </a:solidFill>
          <a:ln xmlns:a="http://schemas.openxmlformats.org/drawingml/2006/main" w="11906">
            <a:solidFill>
              <a:srgbClr val="1F4E79"/>
            </a:solidFill>
            <a:prstDash val="solid"/>
          </a:ln>
        </p:spPr>
      </p:sp>
      <p:sp>
        <p:nvSpPr>
          <p:cNvPr id="111" name="snmp-pa-2">
            <a:extLst xmlns:a="http://schemas.openxmlformats.org/drawingml/2006/main">
              <a:ext uri="{FF2B5EF4-FFF2-40B4-BE49-F238E27FC236}">
                <a16:creationId xmlns:a16="http://schemas.microsoft.com/office/drawing/2014/main" id="{91C2866F-AF1E-453F-AD6C-C373C3807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771775"/>
            <a:ext cx="6096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4E79"/>
          </a:solidFill>
          <a:ln xmlns:a="http://schemas.openxmlformats.org/drawingml/2006/main" w="11906">
            <a:solidFill>
              <a:srgbClr val="1F4E79"/>
            </a:solidFill>
            <a:prstDash val="solid"/>
          </a:ln>
        </p:spPr>
      </p:sp>
      <p:sp>
        <p:nvSpPr>
          <p:cNvPr id="112" name="snmp-label">
            <a:extLst xmlns:a="http://schemas.openxmlformats.org/drawingml/2006/main">
              <a:ext uri="{FF2B5EF4-FFF2-40B4-BE49-F238E27FC236}">
                <a16:creationId xmlns:a16="http://schemas.microsoft.com/office/drawing/2014/main" id="{E936161C-D019-4C6E-9AF5-069F63A10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0383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10" b="0">
                <a:solidFill>
                  <a:srgbClr val="1F4E79"/>
                </a:solidFill>
              </a:defRPr>
            </a:pPr>
            <a:r>
              <a:rPr sz="810" b="0">
                <a:solidFill>
                  <a:srgbClr val="1F4E79"/>
                </a:solidFill>
              </a:rPr>
              <a:t>SNMPv2 で</a:t>
            </a:r>
          </a:p>
          <a:p xmlns:a="http://schemas.openxmlformats.org/drawingml/2006/main">
            <a:pPr algn="ctr">
              <a:defRPr sz="810" b="0">
                <a:solidFill>
                  <a:srgbClr val="1F4E79"/>
                </a:solidFill>
              </a:defRPr>
            </a:pPr>
            <a:r>
              <a:rPr sz="810" b="0">
                <a:solidFill>
                  <a:srgbClr val="1F4E79"/>
                </a:solidFill>
              </a:rPr>
              <a:t>Palo Alto 自身も検出</a:t>
            </a:r>
          </a:p>
        </p:txBody>
      </p:sp>
      <p:sp>
        <p:nvSpPr>
          <p:cNvPr id="113" name="route-box">
            <a:extLst xmlns:a="http://schemas.openxmlformats.org/drawingml/2006/main">
              <a:ext uri="{FF2B5EF4-FFF2-40B4-BE49-F238E27FC236}">
                <a16:creationId xmlns:a16="http://schemas.microsoft.com/office/drawing/2014/main" id="{B38BAB74-FFE0-468A-B6DB-A502A6B40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171950"/>
            <a:ext cx="24574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2CC"/>
          </a:solidFill>
          <a:ln xmlns:a="http://schemas.openxmlformats.org/drawingml/2006/main" w="11906">
            <a:solidFill>
              <a:srgbClr val="D6B656"/>
            </a:solidFill>
            <a:prstDash val="solid"/>
          </a:ln>
        </p:spPr>
      </p:sp>
      <p:sp>
        <p:nvSpPr>
          <p:cNvPr id="114" name="route-title">
            <a:extLst xmlns:a="http://schemas.openxmlformats.org/drawingml/2006/main">
              <a:ext uri="{FF2B5EF4-FFF2-40B4-BE49-F238E27FC236}">
                <a16:creationId xmlns:a16="http://schemas.microsoft.com/office/drawing/2014/main" id="{6EC36F62-22B0-4FFE-9CD8-C5BD27627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2862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F6000"/>
                </a:solidFill>
              </a:defRPr>
            </a:pPr>
            <a:r>
              <a:rPr sz="1125" b="1">
                <a:solidFill>
                  <a:srgbClr val="7F6000"/>
                </a:solidFill>
              </a:rPr>
              <a:t>追加で必要な設計</a:t>
            </a:r>
          </a:p>
        </p:txBody>
      </p:sp>
      <p:sp>
        <p:nvSpPr>
          <p:cNvPr id="115" name="route-body">
            <a:extLst xmlns:a="http://schemas.openxmlformats.org/drawingml/2006/main">
              <a:ext uri="{FF2B5EF4-FFF2-40B4-BE49-F238E27FC236}">
                <a16:creationId xmlns:a16="http://schemas.microsoft.com/office/drawing/2014/main" id="{7A8B0F98-723E-45EE-B85B-2CE3FDA1B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552950"/>
            <a:ext cx="2133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7F6000"/>
                </a:solidFill>
              </a:defRPr>
            </a:pPr>
            <a:r>
              <a:rPr sz="840" b="0">
                <a:solidFill>
                  <a:srgbClr val="7F6000"/>
                </a:solidFill>
              </a:rPr>
              <a:t>・Azure Route Table / UDR</a:t>
            </a:r>
          </a:p>
          <a:p xmlns:a="http://schemas.openxmlformats.org/drawingml/2006/main">
            <a:pPr algn="l">
              <a:defRPr sz="840" b="0">
                <a:solidFill>
                  <a:srgbClr val="7F6000"/>
                </a:solidFill>
              </a:defRPr>
            </a:pPr>
            <a:r>
              <a:rPr sz="840" b="0">
                <a:solidFill>
                  <a:srgbClr val="7F6000"/>
                </a:solidFill>
              </a:rPr>
              <a:t>・Next hop = Palo Alto private IP</a:t>
            </a:r>
          </a:p>
          <a:p xmlns:a="http://schemas.openxmlformats.org/drawingml/2006/main">
            <a:pPr algn="l">
              <a:defRPr sz="840" b="0">
                <a:solidFill>
                  <a:srgbClr val="7F6000"/>
                </a:solidFill>
              </a:defRPr>
            </a:pPr>
            <a:r>
              <a:rPr sz="840" b="0">
                <a:solidFill>
                  <a:srgbClr val="7F6000"/>
                </a:solidFill>
              </a:rPr>
              <a:t>・Palo Alto Security Policy</a:t>
            </a:r>
          </a:p>
          <a:p xmlns:a="http://schemas.openxmlformats.org/drawingml/2006/main">
            <a:pPr algn="l">
              <a:defRPr sz="840" b="0">
                <a:solidFill>
                  <a:srgbClr val="7F6000"/>
                </a:solidFill>
              </a:defRPr>
            </a:pPr>
            <a:r>
              <a:rPr sz="840" b="0">
                <a:solidFill>
                  <a:srgbClr val="7F6000"/>
                </a:solidFill>
              </a:rPr>
              <a:t>・往路/復路の経路確認</a:t>
            </a:r>
          </a:p>
        </p:txBody>
      </p:sp>
      <p:sp>
        <p:nvSpPr>
          <p:cNvPr id="116" name="legend-panel">
            <a:extLst xmlns:a="http://schemas.openxmlformats.org/drawingml/2006/main">
              <a:ext uri="{FF2B5EF4-FFF2-40B4-BE49-F238E27FC236}">
                <a16:creationId xmlns:a16="http://schemas.microsoft.com/office/drawing/2014/main" id="{66B67647-AB59-427A-B48C-240371CAF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700" y="1066800"/>
            <a:ext cx="2476500" cy="6572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D9E2F3"/>
            </a:solidFill>
            <a:prstDash val="solid"/>
          </a:ln>
        </p:spPr>
      </p:sp>
      <p:sp>
        <p:nvSpPr>
          <p:cNvPr id="117" name="legend-title">
            <a:extLst xmlns:a="http://schemas.openxmlformats.org/drawingml/2006/main">
              <a:ext uri="{FF2B5EF4-FFF2-40B4-BE49-F238E27FC236}">
                <a16:creationId xmlns:a16="http://schemas.microsoft.com/office/drawing/2014/main" id="{66229946-DED9-4D2E-AB97-7C44B40EA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121920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95B"/>
                </a:solidFill>
              </a:defRPr>
            </a:pPr>
            <a:r>
              <a:rPr sz="1350" b="1">
                <a:solidFill>
                  <a:srgbClr val="12395B"/>
                </a:solidFill>
              </a:rPr>
              <a:t>客户橙色项 → 本图对应</a:t>
            </a:r>
          </a:p>
        </p:txBody>
      </p:sp>
      <p:sp>
        <p:nvSpPr>
          <p:cNvPr id="118" name="legend-Windows">
            <a:extLst xmlns:a="http://schemas.openxmlformats.org/drawingml/2006/main">
              <a:ext uri="{FF2B5EF4-FFF2-40B4-BE49-F238E27FC236}">
                <a16:creationId xmlns:a16="http://schemas.microsoft.com/office/drawing/2014/main" id="{07A5CBDA-D963-4F95-BEFA-7E612B40F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1676400"/>
            <a:ext cx="9906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4D6"/>
          </a:solidFill>
          <a:ln xmlns:a="http://schemas.openxmlformats.org/drawingml/2006/main" w="11906">
            <a:solidFill>
              <a:srgbClr val="FCE4D6"/>
            </a:solidFill>
            <a:prstDash val="solid"/>
          </a:ln>
        </p:spPr>
      </p:sp>
      <p:sp>
        <p:nvSpPr>
          <p:cNvPr id="119" name="legend-Windows-text">
            <a:extLst xmlns:a="http://schemas.openxmlformats.org/drawingml/2006/main">
              <a:ext uri="{FF2B5EF4-FFF2-40B4-BE49-F238E27FC236}">
                <a16:creationId xmlns:a16="http://schemas.microsoft.com/office/drawing/2014/main" id="{0368C07C-0BA0-485A-B592-AA62FCB44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5400" y="1733550"/>
            <a:ext cx="876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C65911"/>
                </a:solidFill>
              </a:defRPr>
            </a:pPr>
            <a:r>
              <a:rPr sz="825" b="1">
                <a:solidFill>
                  <a:srgbClr val="C65911"/>
                </a:solidFill>
              </a:rPr>
              <a:t>Windows</a:t>
            </a:r>
          </a:p>
        </p:txBody>
      </p:sp>
      <p:sp>
        <p:nvSpPr>
          <p:cNvPr id="120" name="legend-Windows-v">
            <a:extLst xmlns:a="http://schemas.openxmlformats.org/drawingml/2006/main">
              <a:ext uri="{FF2B5EF4-FFF2-40B4-BE49-F238E27FC236}">
                <a16:creationId xmlns:a16="http://schemas.microsoft.com/office/drawing/2014/main" id="{BBC0D390-7A3B-4282-93AF-89C749ECB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171450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F2933"/>
                </a:solidFill>
              </a:defRPr>
            </a:pPr>
            <a:r>
              <a:rPr sz="840" b="0">
                <a:solidFill>
                  <a:srgbClr val="1F2933"/>
                </a:solidFill>
              </a:rPr>
              <a:t>Windows Server / Windows 11</a:t>
            </a:r>
          </a:p>
        </p:txBody>
      </p:sp>
      <p:sp>
        <p:nvSpPr>
          <p:cNvPr id="121" name="legend-Linux">
            <a:extLst xmlns:a="http://schemas.openxmlformats.org/drawingml/2006/main">
              <a:ext uri="{FF2B5EF4-FFF2-40B4-BE49-F238E27FC236}">
                <a16:creationId xmlns:a16="http://schemas.microsoft.com/office/drawing/2014/main" id="{0FA9691B-1005-4FC9-AB18-4F51C4057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2171700"/>
            <a:ext cx="9906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4D6"/>
          </a:solidFill>
          <a:ln xmlns:a="http://schemas.openxmlformats.org/drawingml/2006/main" w="11906">
            <a:solidFill>
              <a:srgbClr val="FCE4D6"/>
            </a:solidFill>
            <a:prstDash val="solid"/>
          </a:ln>
        </p:spPr>
      </p:sp>
      <p:sp>
        <p:nvSpPr>
          <p:cNvPr id="122" name="legend-Linux-text">
            <a:extLst xmlns:a="http://schemas.openxmlformats.org/drawingml/2006/main">
              <a:ext uri="{FF2B5EF4-FFF2-40B4-BE49-F238E27FC236}">
                <a16:creationId xmlns:a16="http://schemas.microsoft.com/office/drawing/2014/main" id="{1923D69B-EE6E-458C-B261-DEDC651B5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5400" y="2228850"/>
            <a:ext cx="876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C65911"/>
                </a:solidFill>
              </a:defRPr>
            </a:pPr>
            <a:r>
              <a:rPr sz="825" b="1">
                <a:solidFill>
                  <a:srgbClr val="C65911"/>
                </a:solidFill>
              </a:rPr>
              <a:t>Linux</a:t>
            </a:r>
          </a:p>
        </p:txBody>
      </p:sp>
      <p:sp>
        <p:nvSpPr>
          <p:cNvPr id="123" name="legend-Linux-v">
            <a:extLst xmlns:a="http://schemas.openxmlformats.org/drawingml/2006/main">
              <a:ext uri="{FF2B5EF4-FFF2-40B4-BE49-F238E27FC236}">
                <a16:creationId xmlns:a16="http://schemas.microsoft.com/office/drawing/2014/main" id="{D3DE5B8A-8A6F-44AF-A772-7504D4119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220980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F2933"/>
                </a:solidFill>
              </a:defRPr>
            </a:pPr>
            <a:r>
              <a:rPr sz="840" b="0">
                <a:solidFill>
                  <a:srgbClr val="1F2933"/>
                </a:solidFill>
              </a:rPr>
              <a:t>RedHat / Ubuntu</a:t>
            </a:r>
          </a:p>
        </p:txBody>
      </p:sp>
      <p:sp>
        <p:nvSpPr>
          <p:cNvPr id="124" name="legend-NW(PaloAlto)">
            <a:extLst xmlns:a="http://schemas.openxmlformats.org/drawingml/2006/main">
              <a:ext uri="{FF2B5EF4-FFF2-40B4-BE49-F238E27FC236}">
                <a16:creationId xmlns:a16="http://schemas.microsoft.com/office/drawing/2014/main" id="{BCDA4FD9-E917-4997-99E2-E3E01BF6D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2667000"/>
            <a:ext cx="9906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4D6"/>
          </a:solidFill>
          <a:ln xmlns:a="http://schemas.openxmlformats.org/drawingml/2006/main" w="11906">
            <a:solidFill>
              <a:srgbClr val="FCE4D6"/>
            </a:solidFill>
            <a:prstDash val="solid"/>
          </a:ln>
        </p:spPr>
      </p:sp>
      <p:sp>
        <p:nvSpPr>
          <p:cNvPr id="125" name="legend-NW(PaloAlto)-text">
            <a:extLst xmlns:a="http://schemas.openxmlformats.org/drawingml/2006/main">
              <a:ext uri="{FF2B5EF4-FFF2-40B4-BE49-F238E27FC236}">
                <a16:creationId xmlns:a16="http://schemas.microsoft.com/office/drawing/2014/main" id="{040D2588-0D09-43AB-A14C-7B5BA5212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5400" y="2724150"/>
            <a:ext cx="876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C65911"/>
                </a:solidFill>
              </a:defRPr>
            </a:pPr>
            <a:r>
              <a:rPr sz="825" b="1">
                <a:solidFill>
                  <a:srgbClr val="C65911"/>
                </a:solidFill>
              </a:rPr>
              <a:t>NW(PaloAlto)</a:t>
            </a:r>
          </a:p>
        </p:txBody>
      </p:sp>
      <p:sp>
        <p:nvSpPr>
          <p:cNvPr id="126" name="legend-NW(PaloAlto)-v">
            <a:extLst xmlns:a="http://schemas.openxmlformats.org/drawingml/2006/main">
              <a:ext uri="{FF2B5EF4-FFF2-40B4-BE49-F238E27FC236}">
                <a16:creationId xmlns:a16="http://schemas.microsoft.com/office/drawing/2014/main" id="{63F3F615-7A9F-4AE9-BED2-D6E392225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270510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F2933"/>
                </a:solidFill>
              </a:defRPr>
            </a:pPr>
            <a:r>
              <a:rPr sz="840" b="0">
                <a:solidFill>
                  <a:srgbClr val="1F2933"/>
                </a:solidFill>
              </a:rPr>
              <a:t>Gateway + SNMPv2 target</a:t>
            </a:r>
          </a:p>
        </p:txBody>
      </p:sp>
      <p:sp>
        <p:nvSpPr>
          <p:cNvPr id="127" name="legend-NW(FortiGate)">
            <a:extLst xmlns:a="http://schemas.openxmlformats.org/drawingml/2006/main">
              <a:ext uri="{FF2B5EF4-FFF2-40B4-BE49-F238E27FC236}">
                <a16:creationId xmlns:a16="http://schemas.microsoft.com/office/drawing/2014/main" id="{BB788171-FB76-4155-8A25-554C0BE5A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3162300"/>
            <a:ext cx="9906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4D6"/>
          </a:solidFill>
          <a:ln xmlns:a="http://schemas.openxmlformats.org/drawingml/2006/main" w="11906">
            <a:solidFill>
              <a:srgbClr val="FCE4D6"/>
            </a:solidFill>
            <a:prstDash val="solid"/>
          </a:ln>
        </p:spPr>
      </p:sp>
      <p:sp>
        <p:nvSpPr>
          <p:cNvPr id="128" name="legend-NW(FortiGate)-text">
            <a:extLst xmlns:a="http://schemas.openxmlformats.org/drawingml/2006/main">
              <a:ext uri="{FF2B5EF4-FFF2-40B4-BE49-F238E27FC236}">
                <a16:creationId xmlns:a16="http://schemas.microsoft.com/office/drawing/2014/main" id="{23048B64-277A-41AC-97E0-E2E23D22E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5400" y="3219450"/>
            <a:ext cx="876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C65911"/>
                </a:solidFill>
              </a:defRPr>
            </a:pPr>
            <a:r>
              <a:rPr sz="825" b="1">
                <a:solidFill>
                  <a:srgbClr val="C65911"/>
                </a:solidFill>
              </a:rPr>
              <a:t>NW(FortiGate)</a:t>
            </a:r>
          </a:p>
        </p:txBody>
      </p:sp>
      <p:sp>
        <p:nvSpPr>
          <p:cNvPr id="129" name="legend-NW(FortiGate)-v">
            <a:extLst xmlns:a="http://schemas.openxmlformats.org/drawingml/2006/main">
              <a:ext uri="{FF2B5EF4-FFF2-40B4-BE49-F238E27FC236}">
                <a16:creationId xmlns:a16="http://schemas.microsoft.com/office/drawing/2014/main" id="{8EC83F83-7BA0-40B1-B521-7A9F51DB1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320040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F2933"/>
                </a:solidFill>
              </a:defRPr>
            </a:pPr>
            <a:r>
              <a:rPr sz="840" b="0">
                <a:solidFill>
                  <a:srgbClr val="1F2933"/>
                </a:solidFill>
              </a:rPr>
              <a:t>Optional SNMPv2 target</a:t>
            </a:r>
          </a:p>
        </p:txBody>
      </p:sp>
      <p:sp>
        <p:nvSpPr>
          <p:cNvPr id="130" name="legend-Azure">
            <a:extLst xmlns:a="http://schemas.openxmlformats.org/drawingml/2006/main">
              <a:ext uri="{FF2B5EF4-FFF2-40B4-BE49-F238E27FC236}">
                <a16:creationId xmlns:a16="http://schemas.microsoft.com/office/drawing/2014/main" id="{C1192082-EFDD-4521-A48A-2781921DA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3657600"/>
            <a:ext cx="9906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4D6"/>
          </a:solidFill>
          <a:ln xmlns:a="http://schemas.openxmlformats.org/drawingml/2006/main" w="11906">
            <a:solidFill>
              <a:srgbClr val="FCE4D6"/>
            </a:solidFill>
            <a:prstDash val="solid"/>
          </a:ln>
        </p:spPr>
      </p:sp>
      <p:sp>
        <p:nvSpPr>
          <p:cNvPr id="131" name="legend-Azure-text">
            <a:extLst xmlns:a="http://schemas.openxmlformats.org/drawingml/2006/main">
              <a:ext uri="{FF2B5EF4-FFF2-40B4-BE49-F238E27FC236}">
                <a16:creationId xmlns:a16="http://schemas.microsoft.com/office/drawing/2014/main" id="{8924973E-CB30-4334-B696-8455F6F1F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5400" y="3714750"/>
            <a:ext cx="876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C65911"/>
                </a:solidFill>
              </a:defRPr>
            </a:pPr>
            <a:r>
              <a:rPr sz="825" b="1">
                <a:solidFill>
                  <a:srgbClr val="C65911"/>
                </a:solidFill>
              </a:rPr>
              <a:t>Azure</a:t>
            </a:r>
          </a:p>
        </p:txBody>
      </p:sp>
      <p:sp>
        <p:nvSpPr>
          <p:cNvPr id="132" name="legend-Azure-v">
            <a:extLst xmlns:a="http://schemas.openxmlformats.org/drawingml/2006/main">
              <a:ext uri="{FF2B5EF4-FFF2-40B4-BE49-F238E27FC236}">
                <a16:creationId xmlns:a16="http://schemas.microsoft.com/office/drawing/2014/main" id="{7F683D59-A505-4AC2-89A1-D23027060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369570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F2933"/>
                </a:solidFill>
              </a:defRPr>
            </a:pPr>
            <a:r>
              <a:rPr sz="840" b="0">
                <a:solidFill>
                  <a:srgbClr val="1F2933"/>
                </a:solidFill>
              </a:rPr>
              <a:t>Azure Cloud Discovery</a:t>
            </a:r>
          </a:p>
        </p:txBody>
      </p:sp>
      <p:sp>
        <p:nvSpPr>
          <p:cNvPr id="133" name="legend-ACC">
            <a:extLst xmlns:a="http://schemas.openxmlformats.org/drawingml/2006/main">
              <a:ext uri="{FF2B5EF4-FFF2-40B4-BE49-F238E27FC236}">
                <a16:creationId xmlns:a16="http://schemas.microsoft.com/office/drawing/2014/main" id="{95A2EC68-914A-47AF-9293-E6B437AE2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4152900"/>
            <a:ext cx="9906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4D6"/>
          </a:solidFill>
          <a:ln xmlns:a="http://schemas.openxmlformats.org/drawingml/2006/main" w="11906">
            <a:solidFill>
              <a:srgbClr val="FCE4D6"/>
            </a:solidFill>
            <a:prstDash val="solid"/>
          </a:ln>
        </p:spPr>
      </p:sp>
      <p:sp>
        <p:nvSpPr>
          <p:cNvPr id="134" name="legend-ACC-text">
            <a:extLst xmlns:a="http://schemas.openxmlformats.org/drawingml/2006/main">
              <a:ext uri="{FF2B5EF4-FFF2-40B4-BE49-F238E27FC236}">
                <a16:creationId xmlns:a16="http://schemas.microsoft.com/office/drawing/2014/main" id="{1AC852D6-7372-4B2F-BB64-5FCA8248C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5400" y="4210050"/>
            <a:ext cx="876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C65911"/>
                </a:solidFill>
              </a:defRPr>
            </a:pPr>
            <a:r>
              <a:rPr sz="825" b="1">
                <a:solidFill>
                  <a:srgbClr val="C65911"/>
                </a:solidFill>
              </a:rPr>
              <a:t>ACC</a:t>
            </a:r>
          </a:p>
        </p:txBody>
      </p:sp>
      <p:sp>
        <p:nvSpPr>
          <p:cNvPr id="135" name="legend-ACC-v">
            <a:extLst xmlns:a="http://schemas.openxmlformats.org/drawingml/2006/main">
              <a:ext uri="{FF2B5EF4-FFF2-40B4-BE49-F238E27FC236}">
                <a16:creationId xmlns:a16="http://schemas.microsoft.com/office/drawing/2014/main" id="{A2896F4C-F42E-49E9-9E54-F5B6B9184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419100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F2933"/>
                </a:solidFill>
              </a:defRPr>
            </a:pPr>
            <a:r>
              <a:rPr sz="840" b="0">
                <a:solidFill>
                  <a:srgbClr val="1F2933"/>
                </a:solidFill>
              </a:rPr>
              <a:t>Windows / Linux Agent</a:t>
            </a:r>
          </a:p>
        </p:txBody>
      </p:sp>
      <p:sp>
        <p:nvSpPr>
          <p:cNvPr id="136" name="complexity-title">
            <a:extLst xmlns:a="http://schemas.openxmlformats.org/drawingml/2006/main">
              <a:ext uri="{FF2B5EF4-FFF2-40B4-BE49-F238E27FC236}">
                <a16:creationId xmlns:a16="http://schemas.microsoft.com/office/drawing/2014/main" id="{8A938EF3-610B-458B-95F0-1103F9CF8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49149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A3412"/>
                </a:solidFill>
              </a:defRPr>
            </a:pPr>
            <a:r>
              <a:rPr sz="1125" b="1">
                <a:solidFill>
                  <a:srgbClr val="9A3412"/>
                </a:solidFill>
              </a:rPr>
              <a:t>この版の位置づけ</a:t>
            </a:r>
          </a:p>
        </p:txBody>
      </p:sp>
      <p:sp>
        <p:nvSpPr>
          <p:cNvPr id="137" name="complexity-box">
            <a:extLst xmlns:a="http://schemas.openxmlformats.org/drawingml/2006/main">
              <a:ext uri="{FF2B5EF4-FFF2-40B4-BE49-F238E27FC236}">
                <a16:creationId xmlns:a16="http://schemas.microsoft.com/office/drawing/2014/main" id="{5C0B217F-063B-4547-9A6F-1860E1459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0150" y="5238750"/>
            <a:ext cx="2095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1906">
            <a:solidFill>
              <a:srgbClr val="FCA5A5"/>
            </a:solidFill>
            <a:prstDash val="solid"/>
          </a:ln>
        </p:spPr>
      </p:sp>
      <p:sp>
        <p:nvSpPr>
          <p:cNvPr id="138" name="complexity-note">
            <a:extLst xmlns:a="http://schemas.openxmlformats.org/drawingml/2006/main">
              <a:ext uri="{FF2B5EF4-FFF2-40B4-BE49-F238E27FC236}">
                <a16:creationId xmlns:a16="http://schemas.microsoft.com/office/drawing/2014/main" id="{481CA138-9F63-4A52-898F-9ACC9A2B3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5353050"/>
            <a:ext cx="1847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9A3412"/>
                </a:solidFill>
              </a:defRPr>
            </a:pPr>
            <a:r>
              <a:rPr sz="863" b="0">
                <a:solidFill>
                  <a:srgbClr val="9A3412"/>
                </a:solidFill>
              </a:rPr>
              <a:t>Palo Alto を検出対象だけでなく、通信経路上の Gateway として扱う。</a:t>
            </a:r>
          </a:p>
          <a:p xmlns:a="http://schemas.openxmlformats.org/drawingml/2006/main">
            <a:pPr algn="l">
              <a:defRPr sz="863" b="0">
                <a:solidFill>
                  <a:srgbClr val="9A3412"/>
                </a:solidFill>
              </a:defRPr>
            </a:pPr>
            <a:r>
              <a:rPr sz="863" b="0">
                <a:solidFill>
                  <a:srgbClr val="9A3412"/>
                </a:solidFill>
              </a:rPr>
              <a:t>案Aより難易度が高く、B案に近い。</a:t>
            </a:r>
          </a:p>
        </p:txBody>
      </p:sp>
      <p:sp>
        <p:nvSpPr>
          <p:cNvPr id="139" name="scope-note-box">
            <a:extLst xmlns:a="http://schemas.openxmlformats.org/drawingml/2006/main">
              <a:ext uri="{FF2B5EF4-FFF2-40B4-BE49-F238E27FC236}">
                <a16:creationId xmlns:a16="http://schemas.microsoft.com/office/drawing/2014/main" id="{5D836D8E-9DF9-4526-8694-1B058D6AC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0150" y="6629400"/>
            <a:ext cx="2095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2CC"/>
          </a:solidFill>
          <a:ln xmlns:a="http://schemas.openxmlformats.org/drawingml/2006/main" w="11906">
            <a:solidFill>
              <a:srgbClr val="D6B656"/>
            </a:solidFill>
            <a:prstDash val="solid"/>
          </a:ln>
        </p:spPr>
      </p:sp>
      <p:sp>
        <p:nvSpPr>
          <p:cNvPr id="140" name="scope-note">
            <a:extLst xmlns:a="http://schemas.openxmlformats.org/drawingml/2006/main">
              <a:ext uri="{FF2B5EF4-FFF2-40B4-BE49-F238E27FC236}">
                <a16:creationId xmlns:a16="http://schemas.microsoft.com/office/drawing/2014/main" id="{F7803682-60DD-4808-A1B7-A9C34C7E5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6743700"/>
            <a:ext cx="1847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7F6000"/>
                </a:solidFill>
              </a:defRPr>
            </a:pPr>
            <a:r>
              <a:rPr sz="863" b="0">
                <a:solidFill>
                  <a:srgbClr val="7F6000"/>
                </a:solidFill>
              </a:rPr>
              <a:t>注意：この版では Route Table / UDR と Palo Alto Policy の調整が前提。ネットワーク担当者の協力が必要。</a:t>
            </a:r>
          </a:p>
        </p:txBody>
      </p:sp>
      <p:sp>
        <p:nvSpPr>
          <p:cNvPr id="141" name="footer-line">
            <a:extLst xmlns:a="http://schemas.openxmlformats.org/drawingml/2006/main">
              <a:ext uri="{FF2B5EF4-FFF2-40B4-BE49-F238E27FC236}">
                <a16:creationId xmlns:a16="http://schemas.microsoft.com/office/drawing/2014/main" id="{67B8A575-5823-4F18-9415-331C15724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001000"/>
            <a:ext cx="1463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3"/>
          </a:solidFill>
          <a:ln xmlns:a="http://schemas.openxmlformats.org/drawingml/2006/main" w="11906">
            <a:solidFill>
              <a:srgbClr val="D9E2F3"/>
            </a:solidFill>
            <a:prstDash val="solid"/>
          </a:ln>
        </p:spPr>
      </p:sp>
      <p:sp>
        <p:nvSpPr>
          <p:cNvPr id="142" name="footer">
            <a:extLst xmlns:a="http://schemas.openxmlformats.org/drawingml/2006/main">
              <a:ext uri="{FF2B5EF4-FFF2-40B4-BE49-F238E27FC236}">
                <a16:creationId xmlns:a16="http://schemas.microsoft.com/office/drawing/2014/main" id="{AFF18E91-E71B-4DFF-B753-FD49AB97E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115300"/>
            <a:ext cx="1181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475569"/>
                </a:solidFill>
              </a:defRPr>
            </a:pPr>
            <a:r>
              <a:rPr sz="938" b="0">
                <a:solidFill>
                  <a:srgbClr val="475569"/>
                </a:solidFill>
              </a:rPr>
              <a:t>読み方：MID から各 Subnet への Discovery traffic を Palo Alto 経由にする構成。Palo Alto 自身は SNMPv2 の検出対象にもなる。</a:t>
            </a:r>
          </a:p>
        </p:txBody>
      </p:sp>
    </p:spTree>
    <p:extLst>
      <p:ext uri="{BB962C8B-B14F-4D97-AF65-F5344CB8AC3E}">
        <p14:creationId xmlns:p14="http://schemas.microsoft.com/office/powerpoint/2010/main" val="4868276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2026-06-18T03:03:06.1300000Z</dcterms:created>
  <dcterms:modified xsi:type="dcterms:W3CDTF">2026-06-18T03:03:06.1300000Z</dcterms:modified>
</coreProperties>
</file>