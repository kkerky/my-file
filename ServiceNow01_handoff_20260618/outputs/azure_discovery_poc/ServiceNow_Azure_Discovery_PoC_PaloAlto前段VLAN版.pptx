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fb1f58fdb74db6" /><Relationship Type="http://schemas.openxmlformats.org/officeDocument/2006/relationships/extended-properties" Target="/docProps/app.xml" Id="R7b08edbbcef34c3f" /><Relationship Type="http://schemas.openxmlformats.org/officeDocument/2006/relationships/officeDocument" Target="/ppt/presentation.xml" Id="R0cceee98b3a648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f641a07bfd407e"/>
  </p:sldMasterIdLst>
  <p:notesMasterIdLst>
    <p:notesMasterId xmlns:r="http://schemas.openxmlformats.org/officeDocument/2006/relationships" r:id="Rfe40b531aa8c4cfa"/>
  </p:notesMasterIdLst>
  <p:sldIdLst>
    <p:sldId xmlns:r="http://schemas.openxmlformats.org/officeDocument/2006/relationships" id="256" r:id="Rf91956f9f8944df1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272c94d378429a" /><Relationship Type="http://schemas.openxmlformats.org/officeDocument/2006/relationships/slideMaster" Target="/ppt/slideMasters/slideMaster1.xml" Id="Rb6f641a07bfd407e" /><Relationship Type="http://schemas.openxmlformats.org/officeDocument/2006/relationships/notesMaster" Target="/ppt/notesMasters/notesMaster1.xml" Id="Rfe40b531aa8c4cfa" /><Relationship Type="http://schemas.openxmlformats.org/officeDocument/2006/relationships/presProps" Target="/ppt/presProps.xml" Id="R8fc2f7bb372d4946" /><Relationship Type="http://schemas.openxmlformats.org/officeDocument/2006/relationships/tableStyles" Target="/ppt/tableStyles.xml" Id="Ra77a2ef8d42b4914" /><Relationship Type="http://schemas.openxmlformats.org/officeDocument/2006/relationships/slide" Target="/ppt/slides/slide1.xml" Id="Rf91956f9f8944d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1eff6ac7634d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272606b50b4c7d" /><Relationship Type="http://schemas.openxmlformats.org/officeDocument/2006/relationships/notesMaster" Target="/ppt/notesMasters/notesMaster1.xml" Id="R74fb1f10d0b94b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5d216c6ee446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726b78874e43d0" /><Relationship Type="http://schemas.openxmlformats.org/officeDocument/2006/relationships/slideLayout" Target="/ppt/slideLayouts/slideLayout1.xml" Id="R38ac3448fbe249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ac3448fbe249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f8bfaf25843c5" /><Relationship Type="http://schemas.openxmlformats.org/officeDocument/2006/relationships/notesSlide" Target="/ppt/notesSlides/notesSlide1.xml" Id="R24ab49d4d61249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r">
            <a:extLst xmlns:a="http://schemas.openxmlformats.org/drawingml/2006/main">
              <a:ext uri="{FF2B5EF4-FFF2-40B4-BE49-F238E27FC236}">
                <a16:creationId xmlns:a16="http://schemas.microsoft.com/office/drawing/2014/main" id="{14CE8B2D-68AD-4FAE-BBBB-FE3C0F98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95B"/>
          </a:solidFill>
          <a:ln xmlns:a="http://schemas.openxmlformats.org/drawingml/2006/main" w="0">
            <a:solidFill>
              <a:srgbClr val="12395B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D0352C-0B2A-4084-8BAB-F9B8FBAB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333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ServiceNow Discovery PoC 架构图：Palo Alto 前段控制 / VLAN 表达版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EA4FF1D-BA14-49C3-8C9C-79E4EADE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88" b="0">
                <a:solidFill>
                  <a:srgbClr val="DDEB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DDEBF7"/>
                </a:solidFill>
                <a:latin typeface="Microsoft YaHei"/>
                <a:ea typeface="Microsoft YaHei"/>
                <a:cs typeface="Microsoft YaHei"/>
              </a:rPr>
              <a:t>客户反馈修正版：Palo Alto 在最前面，控制所有 VLAN/Subnet 流量；MID Server 放在管理 VLAN 内</a:t>
            </a:r>
          </a:p>
        </p:txBody>
      </p:sp>
      <p:sp>
        <p:nvSpPr>
          <p:cNvPr id="4" name="azure-boundary">
            <a:extLst xmlns:a="http://schemas.openxmlformats.org/drawingml/2006/main">
              <a:ext uri="{FF2B5EF4-FFF2-40B4-BE49-F238E27FC236}">
                <a16:creationId xmlns:a16="http://schemas.microsoft.com/office/drawing/2014/main" id="{37D026D5-C4C9-43C9-B2C1-FC7D7ED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028700"/>
            <a:ext cx="9525000" cy="6191250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9050">
            <a:solidFill>
              <a:srgbClr val="5B9BD5"/>
            </a:solidFill>
            <a:prstDash val="solid"/>
          </a:ln>
        </p:spPr>
      </p:sp>
      <p:sp>
        <p:nvSpPr>
          <p:cNvPr id="5" name="azure-title">
            <a:extLst xmlns:a="http://schemas.openxmlformats.org/drawingml/2006/main">
              <a:ext uri="{FF2B5EF4-FFF2-40B4-BE49-F238E27FC236}">
                <a16:creationId xmlns:a16="http://schemas.microsoft.com/office/drawing/2014/main" id="{376DE303-52F4-49A0-BD63-7B4B02F7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1811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9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95B"/>
                </a:solidFill>
                <a:latin typeface="Microsoft YaHei"/>
                <a:ea typeface="Microsoft YaHei"/>
                <a:cs typeface="Microsoft YaHei"/>
              </a:rPr>
              <a:t>Azure PoC VNet / Resource Group</a:t>
            </a:r>
          </a:p>
        </p:txBody>
      </p:sp>
      <p:sp>
        <p:nvSpPr>
          <p:cNvPr id="6" name="azure-desc">
            <a:extLst xmlns:a="http://schemas.openxmlformats.org/drawingml/2006/main">
              <a:ext uri="{FF2B5EF4-FFF2-40B4-BE49-F238E27FC236}">
                <a16:creationId xmlns:a16="http://schemas.microsoft.com/office/drawing/2014/main" id="{D66B83A6-DEB6-4B25-83EF-0C36877C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447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线条代表 VLAN / Subnet。所有 VLAN 间通信、以及对外出口，均由 Palo Alto 策略控制。</a:t>
            </a:r>
          </a:p>
        </p:txBody>
      </p:sp>
      <p:sp>
        <p:nvSpPr>
          <p:cNvPr id="7" name="servicenow">
            <a:extLst xmlns:a="http://schemas.openxmlformats.org/drawingml/2006/main">
              <a:ext uri="{FF2B5EF4-FFF2-40B4-BE49-F238E27FC236}">
                <a16:creationId xmlns:a16="http://schemas.microsoft.com/office/drawing/2014/main" id="{E22FB59A-60B0-4CD5-8CB5-EC722E20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62050"/>
            <a:ext cx="20193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DEBF7"/>
          </a:solidFill>
          <a:ln xmlns:a="http://schemas.openxmlformats.org/drawingml/2006/main" w="14288">
            <a:solidFill>
              <a:srgbClr val="5B9BD5"/>
            </a:solidFill>
            <a:prstDash val="solid"/>
          </a:ln>
        </p:spPr>
      </p:sp>
      <p:sp>
        <p:nvSpPr>
          <p:cNvPr id="8" name="servicenow-title">
            <a:extLst xmlns:a="http://schemas.openxmlformats.org/drawingml/2006/main">
              <a:ext uri="{FF2B5EF4-FFF2-40B4-BE49-F238E27FC236}">
                <a16:creationId xmlns:a16="http://schemas.microsoft.com/office/drawing/2014/main" id="{52DC0B6C-2594-4F52-AA1F-BFD3C13E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573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9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95B"/>
                </a:solidFill>
                <a:latin typeface="Microsoft YaHei"/>
                <a:ea typeface="Microsoft YaHei"/>
                <a:cs typeface="Microsoft YaHei"/>
              </a:rPr>
              <a:t>ServiceNow</a:t>
            </a:r>
          </a:p>
        </p:txBody>
      </p:sp>
      <p:sp>
        <p:nvSpPr>
          <p:cNvPr id="9" name="servicenow-body">
            <a:extLst xmlns:a="http://schemas.openxmlformats.org/drawingml/2006/main">
              <a:ext uri="{FF2B5EF4-FFF2-40B4-BE49-F238E27FC236}">
                <a16:creationId xmlns:a16="http://schemas.microsoft.com/office/drawing/2014/main" id="{5BFDCC2D-4A9A-4B94-832D-0186F649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62100"/>
            <a:ext cx="1752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CMDB / Discovery</a:t>
            </a:r>
          </a:p>
          <a:p xmlns:a="http://schemas.openxmlformats.org/drawingml/2006/main">
            <a:pPr algn="ctr">
              <a:defRPr sz="863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Service Mapping / ACC</a:t>
            </a:r>
          </a:p>
          <a:p xmlns:a="http://schemas.openxmlformats.org/drawingml/2006/main">
            <a:pPr algn="ctr">
              <a:defRPr sz="863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Cloud Discovery</a:t>
            </a:r>
          </a:p>
        </p:txBody>
      </p:sp>
      <p:sp>
        <p:nvSpPr>
          <p:cNvPr id="10" name="outside-net">
            <a:extLst xmlns:a="http://schemas.openxmlformats.org/drawingml/2006/main">
              <a:ext uri="{FF2B5EF4-FFF2-40B4-BE49-F238E27FC236}">
                <a16:creationId xmlns:a16="http://schemas.microsoft.com/office/drawing/2014/main" id="{6B9CE840-D678-4D1A-A2AD-CD57A3D8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BF7"/>
          </a:solidFill>
          <a:ln xmlns:a="http://schemas.openxmlformats.org/drawingml/2006/main" w="9525">
            <a:solidFill>
              <a:srgbClr val="DDEBF7"/>
            </a:solidFill>
            <a:prstDash val="solid"/>
          </a:ln>
        </p:spPr>
      </p:sp>
      <p:sp>
        <p:nvSpPr>
          <p:cNvPr id="11" name="outside-net-text">
            <a:extLst xmlns:a="http://schemas.openxmlformats.org/drawingml/2006/main">
              <a:ext uri="{FF2B5EF4-FFF2-40B4-BE49-F238E27FC236}">
                <a16:creationId xmlns:a16="http://schemas.microsoft.com/office/drawing/2014/main" id="{2D4C5A91-44A3-47A9-B7AC-3C699C40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19375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外部 / ServiceNow 云端</a:t>
            </a:r>
          </a:p>
        </p:txBody>
      </p:sp>
      <p:sp>
        <p:nvSpPr>
          <p:cNvPr id="12" name="front-zone">
            <a:extLst xmlns:a="http://schemas.openxmlformats.org/drawingml/2006/main">
              <a:ext uri="{FF2B5EF4-FFF2-40B4-BE49-F238E27FC236}">
                <a16:creationId xmlns:a16="http://schemas.microsoft.com/office/drawing/2014/main" id="{CD578DAB-FD5A-418A-8927-11837773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43100"/>
            <a:ext cx="2000250" cy="4000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C65911"/>
            </a:solidFill>
            <a:prstDash val="solid"/>
          </a:ln>
        </p:spPr>
      </p:sp>
      <p:sp>
        <p:nvSpPr>
          <p:cNvPr id="13" name="front-zone-title">
            <a:extLst xmlns:a="http://schemas.openxmlformats.org/drawingml/2006/main">
              <a:ext uri="{FF2B5EF4-FFF2-40B4-BE49-F238E27FC236}">
                <a16:creationId xmlns:a16="http://schemas.microsoft.com/office/drawing/2014/main" id="{70C64559-2F54-4727-83F9-463FF7BA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659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65911"/>
                </a:solidFill>
                <a:latin typeface="Microsoft YaHei"/>
                <a:ea typeface="Microsoft YaHei"/>
                <a:cs typeface="Microsoft YaHei"/>
              </a:rPr>
              <a:t>网络前段 / Gateway</a:t>
            </a:r>
          </a:p>
        </p:txBody>
      </p:sp>
      <p:sp>
        <p:nvSpPr>
          <p:cNvPr id="14" name="paloalto">
            <a:extLst xmlns:a="http://schemas.openxmlformats.org/drawingml/2006/main">
              <a:ext uri="{FF2B5EF4-FFF2-40B4-BE49-F238E27FC236}">
                <a16:creationId xmlns:a16="http://schemas.microsoft.com/office/drawing/2014/main" id="{59A677ED-D395-4C49-AAAE-C34599A1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57450"/>
            <a:ext cx="1581150" cy="16954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19050">
            <a:solidFill>
              <a:srgbClr val="C65911"/>
            </a:solidFill>
            <a:prstDash val="solid"/>
          </a:ln>
        </p:spPr>
      </p:sp>
      <p:sp>
        <p:nvSpPr>
          <p:cNvPr id="15" name="paloalto-title">
            <a:extLst xmlns:a="http://schemas.openxmlformats.org/drawingml/2006/main">
              <a:ext uri="{FF2B5EF4-FFF2-40B4-BE49-F238E27FC236}">
                <a16:creationId xmlns:a16="http://schemas.microsoft.com/office/drawing/2014/main" id="{741462F0-18D3-498A-AEA9-A7C6DD5A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527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659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65911"/>
                </a:solidFill>
                <a:latin typeface="Microsoft YaHei"/>
                <a:ea typeface="Microsoft YaHei"/>
                <a:cs typeface="Microsoft YaHei"/>
              </a:rPr>
              <a:t>Palo Alto</a:t>
            </a:r>
          </a:p>
        </p:txBody>
      </p:sp>
      <p:sp>
        <p:nvSpPr>
          <p:cNvPr id="16" name="paloalto-body">
            <a:extLst xmlns:a="http://schemas.openxmlformats.org/drawingml/2006/main">
              <a:ext uri="{FF2B5EF4-FFF2-40B4-BE49-F238E27FC236}">
                <a16:creationId xmlns:a16="http://schemas.microsoft.com/office/drawing/2014/main" id="{221719D2-8FD8-4320-9130-9CA9EA45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57500"/>
            <a:ext cx="13144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前段防火墙 / 网关</a:t>
            </a:r>
          </a:p>
          <a:p xmlns:a="http://schemas.openxmlformats.org/drawingml/2006/main">
            <a:pPr algn="ctr">
              <a:defRPr sz="84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VLAN Gateway</a:t>
            </a:r>
          </a:p>
          <a:p xmlns:a="http://schemas.openxmlformats.org/drawingml/2006/main">
            <a:pPr algn="ctr">
              <a:defRPr sz="84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Security Policy / Log</a:t>
            </a:r>
          </a:p>
          <a:p xmlns:a="http://schemas.openxmlformats.org/drawingml/2006/main">
            <a:pPr algn="ctr">
              <a:defRPr sz="84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SNMPv2 target</a:t>
            </a:r>
          </a:p>
        </p:txBody>
      </p:sp>
      <p:sp>
        <p:nvSpPr>
          <p:cNvPr id="17" name="pa-snmp">
            <a:extLst xmlns:a="http://schemas.openxmlformats.org/drawingml/2006/main">
              <a:ext uri="{FF2B5EF4-FFF2-40B4-BE49-F238E27FC236}">
                <a16:creationId xmlns:a16="http://schemas.microsoft.com/office/drawing/2014/main" id="{30C94AA7-C164-4EAF-9C48-798BB36C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24350"/>
            <a:ext cx="13906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FCE4D6"/>
            </a:solidFill>
            <a:prstDash val="solid"/>
          </a:ln>
        </p:spPr>
      </p:sp>
      <p:sp>
        <p:nvSpPr>
          <p:cNvPr id="18" name="pa-snmp-text">
            <a:extLst xmlns:a="http://schemas.openxmlformats.org/drawingml/2006/main">
              <a:ext uri="{FF2B5EF4-FFF2-40B4-BE49-F238E27FC236}">
                <a16:creationId xmlns:a16="http://schemas.microsoft.com/office/drawing/2014/main" id="{67860D16-72B2-4327-94FC-0D8D8C09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719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659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65911"/>
                </a:solidFill>
                <a:latin typeface="Microsoft YaHei"/>
                <a:ea typeface="Microsoft YaHei"/>
                <a:cs typeface="Microsoft YaHei"/>
              </a:rPr>
              <a:t>NW(PaloAlto) / SNMPv2</a:t>
            </a:r>
          </a:p>
        </p:txBody>
      </p:sp>
      <p:sp>
        <p:nvSpPr>
          <p:cNvPr id="19" name="pa-control">
            <a:extLst xmlns:a="http://schemas.openxmlformats.org/drawingml/2006/main">
              <a:ext uri="{FF2B5EF4-FFF2-40B4-BE49-F238E27FC236}">
                <a16:creationId xmlns:a16="http://schemas.microsoft.com/office/drawing/2014/main" id="{F42288AB-6F56-4BE0-93B0-F38F463F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5300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EE2E2"/>
            </a:solidFill>
            <a:prstDash val="solid"/>
          </a:ln>
        </p:spPr>
      </p:sp>
      <p:sp>
        <p:nvSpPr>
          <p:cNvPr id="20" name="pa-control-text">
            <a:extLst xmlns:a="http://schemas.openxmlformats.org/drawingml/2006/main">
              <a:ext uri="{FF2B5EF4-FFF2-40B4-BE49-F238E27FC236}">
                <a16:creationId xmlns:a16="http://schemas.microsoft.com/office/drawing/2014/main" id="{8EF868BB-344D-4E83-9768-D8E986E3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000625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All traffic controlled here</a:t>
            </a:r>
          </a:p>
        </p:txBody>
      </p:sp>
      <p:sp>
        <p:nvSpPr>
          <p:cNvPr id="21" name="sn-to-pa">
            <a:extLst xmlns:a="http://schemas.openxmlformats.org/drawingml/2006/main">
              <a:ext uri="{FF2B5EF4-FFF2-40B4-BE49-F238E27FC236}">
                <a16:creationId xmlns:a16="http://schemas.microsoft.com/office/drawing/2014/main" id="{9A3311E5-6396-4155-9C20-A068E5F2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790700"/>
            <a:ext cx="381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2" name="sn-pa-label">
            <a:extLst xmlns:a="http://schemas.openxmlformats.org/drawingml/2006/main">
              <a:ext uri="{FF2B5EF4-FFF2-40B4-BE49-F238E27FC236}">
                <a16:creationId xmlns:a16="http://schemas.microsoft.com/office/drawing/2014/main" id="{3D3DEF33-8D86-4F3E-8591-4E53C558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MID 出口到 ServiceNow</a:t>
            </a:r>
          </a:p>
          <a:p xmlns:a="http://schemas.openxmlformats.org/drawingml/2006/main">
            <a:pPr algn="ctr">
              <a:defRPr sz="900" b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也可经由 Palo Alto 控制</a:t>
            </a:r>
          </a:p>
        </p:txBody>
      </p:sp>
      <p:sp>
        <p:nvSpPr>
          <p:cNvPr id="23" name="pa-trunk">
            <a:extLst xmlns:a="http://schemas.openxmlformats.org/drawingml/2006/main">
              <a:ext uri="{FF2B5EF4-FFF2-40B4-BE49-F238E27FC236}">
                <a16:creationId xmlns:a16="http://schemas.microsoft.com/office/drawing/2014/main" id="{20CA7708-189F-433F-981F-E7A42FEB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338" y="2324100"/>
            <a:ext cx="47625" cy="37909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24" name="trunk-label">
            <a:extLst xmlns:a="http://schemas.openxmlformats.org/drawingml/2006/main">
              <a:ext uri="{FF2B5EF4-FFF2-40B4-BE49-F238E27FC236}">
                <a16:creationId xmlns:a16="http://schemas.microsoft.com/office/drawing/2014/main" id="{13AB52D5-C7C3-495F-8571-3807AB90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2425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Palo Alto</a:t>
            </a:r>
          </a:p>
          <a:p xmlns:a="http://schemas.openxmlformats.org/drawingml/2006/main">
            <a:pPr algn="l">
              <a:defRPr sz="9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Sub-interface / VLAN Gateway</a:t>
            </a:r>
          </a:p>
        </p:txBody>
      </p:sp>
      <p:sp>
        <p:nvSpPr>
          <p:cNvPr id="25" name="vlan-01-line">
            <a:extLst xmlns:a="http://schemas.openxmlformats.org/drawingml/2006/main">
              <a:ext uri="{FF2B5EF4-FFF2-40B4-BE49-F238E27FC236}">
                <a16:creationId xmlns:a16="http://schemas.microsoft.com/office/drawing/2014/main" id="{CCBDFC5E-616A-46C3-A41F-C99EF267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19338"/>
            <a:ext cx="6877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6" name="vlan-01-label">
            <a:extLst xmlns:a="http://schemas.openxmlformats.org/drawingml/2006/main">
              <a:ext uri="{FF2B5EF4-FFF2-40B4-BE49-F238E27FC236}">
                <a16:creationId xmlns:a16="http://schemas.microsoft.com/office/drawing/2014/main" id="{2F7A37A0-6E6A-4E5A-9F02-AC5D9AD8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05000"/>
            <a:ext cx="10668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1F4E79"/>
            </a:solidFill>
            <a:prstDash val="solid"/>
          </a:ln>
        </p:spPr>
      </p:sp>
      <p:sp>
        <p:nvSpPr>
          <p:cNvPr id="27" name="vlan-01-label-text">
            <a:extLst xmlns:a="http://schemas.openxmlformats.org/drawingml/2006/main">
              <a:ext uri="{FF2B5EF4-FFF2-40B4-BE49-F238E27FC236}">
                <a16:creationId xmlns:a16="http://schemas.microsoft.com/office/drawing/2014/main" id="{0DAFDC1B-2905-4A79-BCBD-B566142E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431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VLAN01</a:t>
            </a:r>
          </a:p>
          <a:p xmlns:a="http://schemas.openxmlformats.org/drawingml/2006/main">
            <a:pPr algn="ctr">
              <a:defRPr sz="713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Mgmt</a:t>
            </a:r>
          </a:p>
        </p:txBody>
      </p:sp>
      <p:sp>
        <p:nvSpPr>
          <p:cNvPr id="28" name="vlan-02-line">
            <a:extLst xmlns:a="http://schemas.openxmlformats.org/drawingml/2006/main">
              <a:ext uri="{FF2B5EF4-FFF2-40B4-BE49-F238E27FC236}">
                <a16:creationId xmlns:a16="http://schemas.microsoft.com/office/drawing/2014/main" id="{62153B5C-9D02-42E4-B458-4F79C47F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52838"/>
            <a:ext cx="6877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65911"/>
          </a:solidFill>
          <a:ln xmlns:a="http://schemas.openxmlformats.org/drawingml/2006/main" w="0">
            <a:solidFill>
              <a:srgbClr val="C65911"/>
            </a:solidFill>
            <a:prstDash val="solid"/>
          </a:ln>
        </p:spPr>
      </p:sp>
      <p:sp>
        <p:nvSpPr>
          <p:cNvPr id="29" name="vlan-02-label">
            <a:extLst xmlns:a="http://schemas.openxmlformats.org/drawingml/2006/main">
              <a:ext uri="{FF2B5EF4-FFF2-40B4-BE49-F238E27FC236}">
                <a16:creationId xmlns:a16="http://schemas.microsoft.com/office/drawing/2014/main" id="{AFA68577-533D-4DE7-A9FE-561A768D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38500"/>
            <a:ext cx="10668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65911"/>
            </a:solidFill>
            <a:prstDash val="solid"/>
          </a:ln>
        </p:spPr>
      </p:sp>
      <p:sp>
        <p:nvSpPr>
          <p:cNvPr id="30" name="vlan-02-label-text">
            <a:extLst xmlns:a="http://schemas.openxmlformats.org/drawingml/2006/main">
              <a:ext uri="{FF2B5EF4-FFF2-40B4-BE49-F238E27FC236}">
                <a16:creationId xmlns:a16="http://schemas.microsoft.com/office/drawing/2014/main" id="{9C77E0DF-8A7E-4ED7-98ED-B5F6EC1C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766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C659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C65911"/>
                </a:solidFill>
                <a:latin typeface="Microsoft YaHei"/>
                <a:ea typeface="Microsoft YaHei"/>
                <a:cs typeface="Microsoft YaHei"/>
              </a:rPr>
              <a:t>VLAN02</a:t>
            </a:r>
          </a:p>
          <a:p xmlns:a="http://schemas.openxmlformats.org/drawingml/2006/main">
            <a:pPr algn="ctr">
              <a:defRPr sz="713" b="1">
                <a:solidFill>
                  <a:srgbClr val="C659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C65911"/>
                </a:solidFill>
                <a:latin typeface="Microsoft YaHei"/>
                <a:ea typeface="Microsoft YaHei"/>
                <a:cs typeface="Microsoft YaHei"/>
              </a:rPr>
              <a:t>Server/DMZ</a:t>
            </a:r>
          </a:p>
        </p:txBody>
      </p:sp>
      <p:sp>
        <p:nvSpPr>
          <p:cNvPr id="31" name="vlan-03-line">
            <a:extLst xmlns:a="http://schemas.openxmlformats.org/drawingml/2006/main">
              <a:ext uri="{FF2B5EF4-FFF2-40B4-BE49-F238E27FC236}">
                <a16:creationId xmlns:a16="http://schemas.microsoft.com/office/drawing/2014/main" id="{8FC7C8FB-9A20-43EF-B1EC-32146301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195888"/>
            <a:ext cx="6877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0">
            <a:solidFill>
              <a:srgbClr val="548235"/>
            </a:solidFill>
            <a:prstDash val="solid"/>
          </a:ln>
        </p:spPr>
      </p:sp>
      <p:sp>
        <p:nvSpPr>
          <p:cNvPr id="32" name="vlan-03-label">
            <a:extLst xmlns:a="http://schemas.openxmlformats.org/drawingml/2006/main">
              <a:ext uri="{FF2B5EF4-FFF2-40B4-BE49-F238E27FC236}">
                <a16:creationId xmlns:a16="http://schemas.microsoft.com/office/drawing/2014/main" id="{34726BD6-2785-4A19-9055-835A0765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781550"/>
            <a:ext cx="10668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33" name="vlan-03-label-text">
            <a:extLst xmlns:a="http://schemas.openxmlformats.org/drawingml/2006/main">
              <a:ext uri="{FF2B5EF4-FFF2-40B4-BE49-F238E27FC236}">
                <a16:creationId xmlns:a16="http://schemas.microsoft.com/office/drawing/2014/main" id="{2C666ED0-1ADF-4D00-91A6-1C60BD9E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196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VLAN03</a:t>
            </a:r>
          </a:p>
          <a:p xmlns:a="http://schemas.openxmlformats.org/drawingml/2006/main">
            <a:pPr algn="ctr">
              <a:defRPr sz="713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Client/OA</a:t>
            </a:r>
          </a:p>
        </p:txBody>
      </p:sp>
      <p:sp>
        <p:nvSpPr>
          <p:cNvPr id="34" name="vlan-04-line">
            <a:extLst xmlns:a="http://schemas.openxmlformats.org/drawingml/2006/main">
              <a:ext uri="{FF2B5EF4-FFF2-40B4-BE49-F238E27FC236}">
                <a16:creationId xmlns:a16="http://schemas.microsoft.com/office/drawing/2014/main" id="{4B46274B-F3E4-4ECB-B63E-3CCCB5C9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434138"/>
            <a:ext cx="6877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7030A0"/>
          </a:solidFill>
          <a:ln xmlns:a="http://schemas.openxmlformats.org/drawingml/2006/main" w="0">
            <a:solidFill>
              <a:srgbClr val="7030A0"/>
            </a:solidFill>
            <a:prstDash val="solid"/>
          </a:ln>
        </p:spPr>
      </p:sp>
      <p:sp>
        <p:nvSpPr>
          <p:cNvPr id="35" name="vlan-04-label">
            <a:extLst xmlns:a="http://schemas.openxmlformats.org/drawingml/2006/main">
              <a:ext uri="{FF2B5EF4-FFF2-40B4-BE49-F238E27FC236}">
                <a16:creationId xmlns:a16="http://schemas.microsoft.com/office/drawing/2014/main" id="{B9841B39-DE6E-47C6-8083-E62E7C78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019800"/>
            <a:ext cx="10668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7030A0"/>
            </a:solidFill>
            <a:prstDash val="solid"/>
          </a:ln>
        </p:spPr>
      </p:sp>
      <p:sp>
        <p:nvSpPr>
          <p:cNvPr id="36" name="vlan-04-label-text">
            <a:extLst xmlns:a="http://schemas.openxmlformats.org/drawingml/2006/main">
              <a:ext uri="{FF2B5EF4-FFF2-40B4-BE49-F238E27FC236}">
                <a16:creationId xmlns:a16="http://schemas.microsoft.com/office/drawing/2014/main" id="{BEEDA127-7D47-46EE-9380-E312B9EC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0579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rPr>
              <a:t>VLAN04</a:t>
            </a:r>
          </a:p>
          <a:p xmlns:a="http://schemas.openxmlformats.org/drawingml/2006/main">
            <a:pPr algn="ctr">
              <a:defRPr sz="713" b="1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rPr>
              <a:t>NW/Mgmt</a:t>
            </a:r>
          </a:p>
        </p:txBody>
      </p:sp>
      <p:sp>
        <p:nvSpPr>
          <p:cNvPr id="37" name="mid">
            <a:extLst xmlns:a="http://schemas.openxmlformats.org/drawingml/2006/main">
              <a:ext uri="{FF2B5EF4-FFF2-40B4-BE49-F238E27FC236}">
                <a16:creationId xmlns:a16="http://schemas.microsoft.com/office/drawing/2014/main" id="{60D8CFAD-A3F0-4027-8986-07EB184C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28800"/>
            <a:ext cx="22098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</p:sp>
      <p:sp>
        <p:nvSpPr>
          <p:cNvPr id="38" name="mid-title">
            <a:extLst xmlns:a="http://schemas.openxmlformats.org/drawingml/2006/main">
              <a:ext uri="{FF2B5EF4-FFF2-40B4-BE49-F238E27FC236}">
                <a16:creationId xmlns:a16="http://schemas.microsoft.com/office/drawing/2014/main" id="{FD213DAC-2C62-4C0E-9D86-780B5660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MID Server</a:t>
            </a:r>
          </a:p>
        </p:txBody>
      </p:sp>
      <p:sp>
        <p:nvSpPr>
          <p:cNvPr id="39" name="mid-body">
            <a:extLst xmlns:a="http://schemas.openxmlformats.org/drawingml/2006/main">
              <a:ext uri="{FF2B5EF4-FFF2-40B4-BE49-F238E27FC236}">
                <a16:creationId xmlns:a16="http://schemas.microsoft.com/office/drawing/2014/main" id="{EE874142-7864-496E-A5D7-5EBDB2F9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管理 VLAN 内</a:t>
            </a:r>
          </a:p>
          <a:p xmlns:a="http://schemas.openxmlformats.org/drawingml/2006/main">
            <a:pPr algn="ctr">
              <a:defRPr sz="84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Discovery 执行点</a:t>
            </a:r>
          </a:p>
          <a:p xmlns:a="http://schemas.openxmlformats.org/drawingml/2006/main">
            <a:pPr algn="ctr">
              <a:defRPr sz="84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Outbound HTTPS 443</a:t>
            </a:r>
          </a:p>
        </p:txBody>
      </p:sp>
      <p:sp>
        <p:nvSpPr>
          <p:cNvPr id="40" name="win-server">
            <a:extLst xmlns:a="http://schemas.openxmlformats.org/drawingml/2006/main">
              <a:ext uri="{FF2B5EF4-FFF2-40B4-BE49-F238E27FC236}">
                <a16:creationId xmlns:a16="http://schemas.microsoft.com/office/drawing/2014/main" id="{9641ADFD-9DCF-4254-A1AD-0BEC98A6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1809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14288">
            <a:solidFill>
              <a:srgbClr val="C65911"/>
            </a:solidFill>
            <a:prstDash val="solid"/>
          </a:ln>
        </p:spPr>
      </p:sp>
      <p:sp>
        <p:nvSpPr>
          <p:cNvPr id="41" name="win-server-title">
            <a:extLst xmlns:a="http://schemas.openxmlformats.org/drawingml/2006/main">
              <a:ext uri="{FF2B5EF4-FFF2-40B4-BE49-F238E27FC236}">
                <a16:creationId xmlns:a16="http://schemas.microsoft.com/office/drawing/2014/main" id="{1C821415-DD55-484F-897A-6E51B1A1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659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65911"/>
                </a:solidFill>
                <a:latin typeface="Microsoft YaHei"/>
                <a:ea typeface="Microsoft YaHei"/>
                <a:cs typeface="Microsoft YaHei"/>
              </a:rPr>
              <a:t>Windows Server</a:t>
            </a:r>
          </a:p>
        </p:txBody>
      </p:sp>
      <p:sp>
        <p:nvSpPr>
          <p:cNvPr id="42" name="win-server-body">
            <a:extLst xmlns:a="http://schemas.openxmlformats.org/drawingml/2006/main">
              <a:ext uri="{FF2B5EF4-FFF2-40B4-BE49-F238E27FC236}">
                <a16:creationId xmlns:a16="http://schemas.microsoft.com/office/drawing/2014/main" id="{59346873-516F-4C78-A50C-BF4671B9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0520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Mail Server</a:t>
            </a:r>
          </a:p>
          <a:p xmlns:a="http://schemas.openxmlformats.org/drawingml/2006/main">
            <a:pPr algn="ctr">
              <a:defRPr sz="81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Credential Discovery</a:t>
            </a:r>
          </a:p>
        </p:txBody>
      </p:sp>
      <p:sp>
        <p:nvSpPr>
          <p:cNvPr id="43" name="linux-server">
            <a:extLst xmlns:a="http://schemas.openxmlformats.org/drawingml/2006/main">
              <a:ext uri="{FF2B5EF4-FFF2-40B4-BE49-F238E27FC236}">
                <a16:creationId xmlns:a16="http://schemas.microsoft.com/office/drawing/2014/main" id="{024C8903-3AC8-436E-B119-B7D46F95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05150"/>
            <a:ext cx="20764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14288">
            <a:solidFill>
              <a:srgbClr val="C65911"/>
            </a:solidFill>
            <a:prstDash val="solid"/>
          </a:ln>
        </p:spPr>
      </p:sp>
      <p:sp>
        <p:nvSpPr>
          <p:cNvPr id="44" name="linux-server-title">
            <a:extLst xmlns:a="http://schemas.openxmlformats.org/drawingml/2006/main">
              <a:ext uri="{FF2B5EF4-FFF2-40B4-BE49-F238E27FC236}">
                <a16:creationId xmlns:a16="http://schemas.microsoft.com/office/drawing/2014/main" id="{5FCE3379-ECB6-405C-8EDE-5E7471DB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00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659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65911"/>
                </a:solidFill>
                <a:latin typeface="Microsoft YaHei"/>
                <a:ea typeface="Microsoft YaHei"/>
                <a:cs typeface="Microsoft YaHei"/>
              </a:rPr>
              <a:t>RedHat / Linux App</a:t>
            </a:r>
          </a:p>
        </p:txBody>
      </p:sp>
      <p:sp>
        <p:nvSpPr>
          <p:cNvPr id="45" name="linux-server-body">
            <a:extLst xmlns:a="http://schemas.openxmlformats.org/drawingml/2006/main">
              <a:ext uri="{FF2B5EF4-FFF2-40B4-BE49-F238E27FC236}">
                <a16:creationId xmlns:a16="http://schemas.microsoft.com/office/drawing/2014/main" id="{335CADE8-18E1-4669-B11C-D6C62B10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052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Apache / Tomcat</a:t>
            </a:r>
          </a:p>
          <a:p xmlns:a="http://schemas.openxmlformats.org/drawingml/2006/main">
            <a:pPr algn="ctr">
              <a:defRPr sz="81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Entry Point</a:t>
            </a:r>
          </a:p>
        </p:txBody>
      </p:sp>
      <p:sp>
        <p:nvSpPr>
          <p:cNvPr id="46" name="service-tag1">
            <a:extLst xmlns:a="http://schemas.openxmlformats.org/drawingml/2006/main">
              <a:ext uri="{FF2B5EF4-FFF2-40B4-BE49-F238E27FC236}">
                <a16:creationId xmlns:a16="http://schemas.microsoft.com/office/drawing/2014/main" id="{7AF9537F-0997-498A-B973-2AC19BC9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95750"/>
            <a:ext cx="742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FCE4D6"/>
            </a:solidFill>
            <a:prstDash val="solid"/>
          </a:ln>
        </p:spPr>
      </p:sp>
      <p:sp>
        <p:nvSpPr>
          <p:cNvPr id="47" name="service-tag1-text">
            <a:extLst xmlns:a="http://schemas.openxmlformats.org/drawingml/2006/main">
              <a:ext uri="{FF2B5EF4-FFF2-40B4-BE49-F238E27FC236}">
                <a16:creationId xmlns:a16="http://schemas.microsoft.com/office/drawing/2014/main" id="{4DAB004C-B1BE-490A-B581-E3E2A3C5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43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659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65911"/>
                </a:solidFill>
                <a:latin typeface="Microsoft YaHei"/>
                <a:ea typeface="Microsoft YaHei"/>
                <a:cs typeface="Microsoft YaHei"/>
              </a:rPr>
              <a:t>Tag: DMZ</a:t>
            </a:r>
          </a:p>
        </p:txBody>
      </p:sp>
      <p:sp>
        <p:nvSpPr>
          <p:cNvPr id="48" name="service-tag2">
            <a:extLst xmlns:a="http://schemas.openxmlformats.org/drawingml/2006/main">
              <a:ext uri="{FF2B5EF4-FFF2-40B4-BE49-F238E27FC236}">
                <a16:creationId xmlns:a16="http://schemas.microsoft.com/office/drawing/2014/main" id="{0A33EAF6-6741-4080-BAB7-586CB0A7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95750"/>
            <a:ext cx="1219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FCE4D6"/>
            </a:solidFill>
            <a:prstDash val="solid"/>
          </a:ln>
        </p:spPr>
      </p:sp>
      <p:sp>
        <p:nvSpPr>
          <p:cNvPr id="49" name="service-tag2-text">
            <a:extLst xmlns:a="http://schemas.openxmlformats.org/drawingml/2006/main">
              <a:ext uri="{FF2B5EF4-FFF2-40B4-BE49-F238E27FC236}">
                <a16:creationId xmlns:a16="http://schemas.microsoft.com/office/drawing/2014/main" id="{A52CE1CB-06AF-4A41-A067-6947B959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433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659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65911"/>
                </a:solidFill>
                <a:latin typeface="Microsoft YaHei"/>
                <a:ea typeface="Microsoft YaHei"/>
                <a:cs typeface="Microsoft YaHei"/>
              </a:rPr>
              <a:t>Tag: GAM_Service</a:t>
            </a:r>
          </a:p>
        </p:txBody>
      </p:sp>
      <p:sp>
        <p:nvSpPr>
          <p:cNvPr id="50" name="service-tag3">
            <a:extLst xmlns:a="http://schemas.openxmlformats.org/drawingml/2006/main">
              <a:ext uri="{FF2B5EF4-FFF2-40B4-BE49-F238E27FC236}">
                <a16:creationId xmlns:a16="http://schemas.microsoft.com/office/drawing/2014/main" id="{1FB83345-5CD2-4D18-988D-D8726156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2781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DCF8"/>
          </a:solidFill>
          <a:ln xmlns:a="http://schemas.openxmlformats.org/drawingml/2006/main" w="9525">
            <a:solidFill>
              <a:srgbClr val="EADCF8"/>
            </a:solidFill>
            <a:prstDash val="solid"/>
          </a:ln>
        </p:spPr>
      </p:sp>
      <p:sp>
        <p:nvSpPr>
          <p:cNvPr id="51" name="service-tag3-text">
            <a:extLst xmlns:a="http://schemas.openxmlformats.org/drawingml/2006/main">
              <a:ext uri="{FF2B5EF4-FFF2-40B4-BE49-F238E27FC236}">
                <a16:creationId xmlns:a16="http://schemas.microsoft.com/office/drawing/2014/main" id="{56C4150A-BDF2-4DFD-9B04-A15EF3C2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4337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rPr>
              <a:t>Service Mapping：URL/IP:80 or :8080</a:t>
            </a:r>
          </a:p>
        </p:txBody>
      </p:sp>
      <p:sp>
        <p:nvSpPr>
          <p:cNvPr id="52" name="win11">
            <a:extLst xmlns:a="http://schemas.openxmlformats.org/drawingml/2006/main">
              <a:ext uri="{FF2B5EF4-FFF2-40B4-BE49-F238E27FC236}">
                <a16:creationId xmlns:a16="http://schemas.microsoft.com/office/drawing/2014/main" id="{A45EF187-332C-4720-8543-0D9318DC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16954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4288">
            <a:solidFill>
              <a:srgbClr val="548235"/>
            </a:solidFill>
            <a:prstDash val="solid"/>
          </a:ln>
        </p:spPr>
      </p:sp>
      <p:sp>
        <p:nvSpPr>
          <p:cNvPr id="53" name="win11-title">
            <a:extLst xmlns:a="http://schemas.openxmlformats.org/drawingml/2006/main">
              <a:ext uri="{FF2B5EF4-FFF2-40B4-BE49-F238E27FC236}">
                <a16:creationId xmlns:a16="http://schemas.microsoft.com/office/drawing/2014/main" id="{D141A2F1-B98F-4162-8326-C739C173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Windows 11</a:t>
            </a:r>
          </a:p>
        </p:txBody>
      </p:sp>
      <p:sp>
        <p:nvSpPr>
          <p:cNvPr id="54" name="win11-body">
            <a:extLst xmlns:a="http://schemas.openxmlformats.org/drawingml/2006/main">
              <a:ext uri="{FF2B5EF4-FFF2-40B4-BE49-F238E27FC236}">
                <a16:creationId xmlns:a16="http://schemas.microsoft.com/office/drawing/2014/main" id="{19DDF957-6809-48E4-91AC-2387B7DF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673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Credential-less / ACC</a:t>
            </a:r>
          </a:p>
          <a:p xmlns:a="http://schemas.openxmlformats.org/drawingml/2006/main">
            <a:pPr algn="ctr">
              <a:defRPr sz="81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OA_group</a:t>
            </a:r>
          </a:p>
        </p:txBody>
      </p:sp>
      <p:sp>
        <p:nvSpPr>
          <p:cNvPr id="55" name="ubuntu">
            <a:extLst xmlns:a="http://schemas.openxmlformats.org/drawingml/2006/main">
              <a:ext uri="{FF2B5EF4-FFF2-40B4-BE49-F238E27FC236}">
                <a16:creationId xmlns:a16="http://schemas.microsoft.com/office/drawing/2014/main" id="{35F51612-F761-460E-BD2B-2203964F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67250"/>
            <a:ext cx="16954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4288">
            <a:solidFill>
              <a:srgbClr val="548235"/>
            </a:solidFill>
            <a:prstDash val="solid"/>
          </a:ln>
        </p:spPr>
      </p:sp>
      <p:sp>
        <p:nvSpPr>
          <p:cNvPr id="56" name="ubuntu-title">
            <a:extLst xmlns:a="http://schemas.openxmlformats.org/drawingml/2006/main">
              <a:ext uri="{FF2B5EF4-FFF2-40B4-BE49-F238E27FC236}">
                <a16:creationId xmlns:a16="http://schemas.microsoft.com/office/drawing/2014/main" id="{7D385C83-F2F9-4FE2-A484-86CC36EF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62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Ubuntu / Linux</a:t>
            </a:r>
          </a:p>
        </p:txBody>
      </p:sp>
      <p:sp>
        <p:nvSpPr>
          <p:cNvPr id="57" name="ubuntu-body">
            <a:extLst xmlns:a="http://schemas.openxmlformats.org/drawingml/2006/main">
              <a:ext uri="{FF2B5EF4-FFF2-40B4-BE49-F238E27FC236}">
                <a16:creationId xmlns:a16="http://schemas.microsoft.com/office/drawing/2014/main" id="{FB94F2CE-43F7-4AAA-815A-FF9344FD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0673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Credential-less / ACC</a:t>
            </a:r>
          </a:p>
          <a:p xmlns:a="http://schemas.openxmlformats.org/drawingml/2006/main">
            <a:pPr algn="ctr">
              <a:defRPr sz="81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OA_group</a:t>
            </a:r>
          </a:p>
        </p:txBody>
      </p:sp>
      <p:sp>
        <p:nvSpPr>
          <p:cNvPr id="58" name="acc-tag1">
            <a:extLst xmlns:a="http://schemas.openxmlformats.org/drawingml/2006/main">
              <a:ext uri="{FF2B5EF4-FFF2-40B4-BE49-F238E27FC236}">
                <a16:creationId xmlns:a16="http://schemas.microsoft.com/office/drawing/2014/main" id="{62A918DB-E7B1-4B76-9361-F435ECA4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6578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9525">
            <a:solidFill>
              <a:srgbClr val="E2F0D9"/>
            </a:solidFill>
            <a:prstDash val="solid"/>
          </a:ln>
        </p:spPr>
      </p:sp>
      <p:sp>
        <p:nvSpPr>
          <p:cNvPr id="59" name="acc-tag1-text">
            <a:extLst xmlns:a="http://schemas.openxmlformats.org/drawingml/2006/main">
              <a:ext uri="{FF2B5EF4-FFF2-40B4-BE49-F238E27FC236}">
                <a16:creationId xmlns:a16="http://schemas.microsoft.com/office/drawing/2014/main" id="{F5FBD5D5-26B3-4EE3-842E-E1371304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705475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Tag: OA_group</a:t>
            </a:r>
          </a:p>
        </p:txBody>
      </p:sp>
      <p:sp>
        <p:nvSpPr>
          <p:cNvPr id="60" name="acc-tag2">
            <a:extLst xmlns:a="http://schemas.openxmlformats.org/drawingml/2006/main">
              <a:ext uri="{FF2B5EF4-FFF2-40B4-BE49-F238E27FC236}">
                <a16:creationId xmlns:a16="http://schemas.microsoft.com/office/drawing/2014/main" id="{00D39FE7-1D6D-458D-BA16-7E9E5C12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657850"/>
            <a:ext cx="1485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9525">
            <a:solidFill>
              <a:srgbClr val="E2F0D9"/>
            </a:solidFill>
            <a:prstDash val="solid"/>
          </a:ln>
        </p:spPr>
      </p:sp>
      <p:sp>
        <p:nvSpPr>
          <p:cNvPr id="61" name="acc-tag2-text">
            <a:extLst xmlns:a="http://schemas.openxmlformats.org/drawingml/2006/main">
              <a:ext uri="{FF2B5EF4-FFF2-40B4-BE49-F238E27FC236}">
                <a16:creationId xmlns:a16="http://schemas.microsoft.com/office/drawing/2014/main" id="{82856555-0669-4B92-A33C-B547BDCA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0547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ACC Agent 有/无 对比</a:t>
            </a:r>
          </a:p>
        </p:txBody>
      </p:sp>
      <p:sp>
        <p:nvSpPr>
          <p:cNvPr id="62" name="fortigate">
            <a:extLst xmlns:a="http://schemas.openxmlformats.org/drawingml/2006/main">
              <a:ext uri="{FF2B5EF4-FFF2-40B4-BE49-F238E27FC236}">
                <a16:creationId xmlns:a16="http://schemas.microsoft.com/office/drawing/2014/main" id="{3EE060AC-A534-4191-8AE1-1C6ED1E9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62650"/>
            <a:ext cx="16954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3B8"/>
            </a:solidFill>
            <a:prstDash val="solid"/>
          </a:ln>
        </p:spPr>
      </p:sp>
      <p:sp>
        <p:nvSpPr>
          <p:cNvPr id="63" name="fortigate-title">
            <a:extLst xmlns:a="http://schemas.openxmlformats.org/drawingml/2006/main">
              <a:ext uri="{FF2B5EF4-FFF2-40B4-BE49-F238E27FC236}">
                <a16:creationId xmlns:a16="http://schemas.microsoft.com/office/drawing/2014/main" id="{AF33C5FA-5D4B-4DCF-9015-24F89CB4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057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FortiGate</a:t>
            </a:r>
          </a:p>
        </p:txBody>
      </p:sp>
      <p:sp>
        <p:nvSpPr>
          <p:cNvPr id="64" name="fortigate-body">
            <a:extLst xmlns:a="http://schemas.openxmlformats.org/drawingml/2006/main">
              <a:ext uri="{FF2B5EF4-FFF2-40B4-BE49-F238E27FC236}">
                <a16:creationId xmlns:a16="http://schemas.microsoft.com/office/drawing/2014/main" id="{447E0773-2869-4B7E-87A9-AD80595C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362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Optional NW target</a:t>
            </a:r>
          </a:p>
          <a:p xmlns:a="http://schemas.openxmlformats.org/drawingml/2006/main">
            <a:pPr algn="ctr">
              <a:defRPr sz="788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SNMPv2 / UDP 161</a:t>
            </a:r>
          </a:p>
        </p:txBody>
      </p:sp>
      <p:sp>
        <p:nvSpPr>
          <p:cNvPr id="65" name="pa-mgmt">
            <a:extLst xmlns:a="http://schemas.openxmlformats.org/drawingml/2006/main">
              <a:ext uri="{FF2B5EF4-FFF2-40B4-BE49-F238E27FC236}">
                <a16:creationId xmlns:a16="http://schemas.microsoft.com/office/drawing/2014/main" id="{AD88BC7C-D5E3-4400-BC33-DF8DA821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962650"/>
            <a:ext cx="20764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030A0"/>
            </a:solidFill>
            <a:prstDash val="solid"/>
          </a:ln>
        </p:spPr>
      </p:sp>
      <p:sp>
        <p:nvSpPr>
          <p:cNvPr id="66" name="pa-mgmt-title">
            <a:extLst xmlns:a="http://schemas.openxmlformats.org/drawingml/2006/main">
              <a:ext uri="{FF2B5EF4-FFF2-40B4-BE49-F238E27FC236}">
                <a16:creationId xmlns:a16="http://schemas.microsoft.com/office/drawing/2014/main" id="{3B4E4FEC-CA71-4C4E-A009-365C012D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057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rPr>
              <a:t>Palo Alto Mgmt</a:t>
            </a:r>
          </a:p>
        </p:txBody>
      </p:sp>
      <p:sp>
        <p:nvSpPr>
          <p:cNvPr id="67" name="pa-mgmt-body">
            <a:extLst xmlns:a="http://schemas.openxmlformats.org/drawingml/2006/main">
              <a:ext uri="{FF2B5EF4-FFF2-40B4-BE49-F238E27FC236}">
                <a16:creationId xmlns:a16="http://schemas.microsoft.com/office/drawing/2014/main" id="{CF53D1FB-DED5-4E8A-A7CB-B4D44B52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3627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管理接口 / 日志确认</a:t>
            </a:r>
          </a:p>
          <a:p xmlns:a="http://schemas.openxmlformats.org/drawingml/2006/main">
            <a:pPr algn="ctr">
              <a:defRPr sz="788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按客户标准调整</a:t>
            </a:r>
          </a:p>
        </p:txBody>
      </p:sp>
      <p:sp>
        <p:nvSpPr>
          <p:cNvPr id="68" name="traffic-note">
            <a:extLst xmlns:a="http://schemas.openxmlformats.org/drawingml/2006/main">
              <a:ext uri="{FF2B5EF4-FFF2-40B4-BE49-F238E27FC236}">
                <a16:creationId xmlns:a16="http://schemas.microsoft.com/office/drawing/2014/main" id="{8146D5A3-55F0-4AFC-BB90-2565482C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1162050"/>
            <a:ext cx="22669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14288">
            <a:solidFill>
              <a:srgbClr val="D6B656"/>
            </a:solidFill>
            <a:prstDash val="solid"/>
          </a:ln>
        </p:spPr>
      </p:sp>
      <p:sp>
        <p:nvSpPr>
          <p:cNvPr id="69" name="traffic-note-t">
            <a:extLst xmlns:a="http://schemas.openxmlformats.org/drawingml/2006/main">
              <a:ext uri="{FF2B5EF4-FFF2-40B4-BE49-F238E27FC236}">
                <a16:creationId xmlns:a16="http://schemas.microsoft.com/office/drawing/2014/main" id="{1F6160A0-6A82-4AFE-9934-A18A2075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12573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F6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F6000"/>
                </a:solidFill>
                <a:latin typeface="Microsoft YaHei"/>
                <a:ea typeface="Microsoft YaHei"/>
                <a:cs typeface="Microsoft YaHei"/>
              </a:rPr>
              <a:t>这张图的核心含义</a:t>
            </a:r>
          </a:p>
        </p:txBody>
      </p:sp>
      <p:sp>
        <p:nvSpPr>
          <p:cNvPr id="70" name="traffic-note-b">
            <a:extLst xmlns:a="http://schemas.openxmlformats.org/drawingml/2006/main">
              <a:ext uri="{FF2B5EF4-FFF2-40B4-BE49-F238E27FC236}">
                <a16:creationId xmlns:a16="http://schemas.microsoft.com/office/drawing/2014/main" id="{6A00FCAC-6959-4C15-A986-FCDB39F3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1524000"/>
            <a:ext cx="2038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Palo Alto 不是单纯被发现对象，而是放在网络前段，作为 VLAN 网关/防火墙。MID Server 位于 Mgmt VLAN，访问 Server / Client / NW VLAN 时，都需要通过 Palo Alto Policy。</a:t>
            </a:r>
          </a:p>
        </p:txBody>
      </p:sp>
      <p:sp>
        <p:nvSpPr>
          <p:cNvPr id="71" name="route-note">
            <a:extLst xmlns:a="http://schemas.openxmlformats.org/drawingml/2006/main">
              <a:ext uri="{FF2B5EF4-FFF2-40B4-BE49-F238E27FC236}">
                <a16:creationId xmlns:a16="http://schemas.microsoft.com/office/drawing/2014/main" id="{5AA80CA5-2FB6-492F-8037-62343992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800350"/>
            <a:ext cx="22669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14288">
            <a:solidFill>
              <a:srgbClr val="94A3B8"/>
            </a:solidFill>
            <a:prstDash val="solid"/>
          </a:ln>
        </p:spPr>
      </p:sp>
      <p:sp>
        <p:nvSpPr>
          <p:cNvPr id="72" name="route-note-t">
            <a:extLst xmlns:a="http://schemas.openxmlformats.org/drawingml/2006/main">
              <a:ext uri="{FF2B5EF4-FFF2-40B4-BE49-F238E27FC236}">
                <a16:creationId xmlns:a16="http://schemas.microsoft.com/office/drawing/2014/main" id="{0C131E07-E595-4925-8766-47B76FD0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28956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9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395B"/>
                </a:solidFill>
                <a:latin typeface="Microsoft YaHei"/>
                <a:ea typeface="Microsoft YaHei"/>
                <a:cs typeface="Microsoft YaHei"/>
              </a:rPr>
              <a:t>在 Azure 中如何实现</a:t>
            </a:r>
          </a:p>
        </p:txBody>
      </p:sp>
      <p:sp>
        <p:nvSpPr>
          <p:cNvPr id="73" name="route-note-b">
            <a:extLst xmlns:a="http://schemas.openxmlformats.org/drawingml/2006/main">
              <a:ext uri="{FF2B5EF4-FFF2-40B4-BE49-F238E27FC236}">
                <a16:creationId xmlns:a16="http://schemas.microsoft.com/office/drawing/2014/main" id="{097E006E-6096-4409-BDEA-818A5552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3162300"/>
            <a:ext cx="2038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通常需要 Azure Route Table / UDR、Palo Alto Trust/Data interface、IP forwarding、NSG、Palo Alto Security Policy 共同配合。线虽然画成 VLAN，但 Azure 中通常对应 VNet/Subnet。</a:t>
            </a:r>
          </a:p>
        </p:txBody>
      </p:sp>
      <p:sp>
        <p:nvSpPr>
          <p:cNvPr id="74" name="evidence-note">
            <a:extLst xmlns:a="http://schemas.openxmlformats.org/drawingml/2006/main">
              <a:ext uri="{FF2B5EF4-FFF2-40B4-BE49-F238E27FC236}">
                <a16:creationId xmlns:a16="http://schemas.microsoft.com/office/drawing/2014/main" id="{5F11479F-00F8-47F5-8AF1-844606C9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533900"/>
            <a:ext cx="2266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4288">
            <a:solidFill>
              <a:srgbClr val="FCA5A5"/>
            </a:solidFill>
            <a:prstDash val="solid"/>
          </a:ln>
        </p:spPr>
      </p:sp>
      <p:sp>
        <p:nvSpPr>
          <p:cNvPr id="75" name="evidence-note-t">
            <a:extLst xmlns:a="http://schemas.openxmlformats.org/drawingml/2006/main">
              <a:ext uri="{FF2B5EF4-FFF2-40B4-BE49-F238E27FC236}">
                <a16:creationId xmlns:a16="http://schemas.microsoft.com/office/drawing/2014/main" id="{E3BA42C8-3060-49EC-B4F4-470EB422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4629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客户真正要看的证据</a:t>
            </a:r>
          </a:p>
        </p:txBody>
      </p:sp>
      <p:sp>
        <p:nvSpPr>
          <p:cNvPr id="76" name="evidence-note-b">
            <a:extLst xmlns:a="http://schemas.openxmlformats.org/drawingml/2006/main">
              <a:ext uri="{FF2B5EF4-FFF2-40B4-BE49-F238E27FC236}">
                <a16:creationId xmlns:a16="http://schemas.microsoft.com/office/drawing/2014/main" id="{E378F137-17A1-413F-91DC-6AD03532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4895850"/>
            <a:ext cx="2038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1. ServiceNow 中 Discovery 成功并生成/更新 CI。</a:t>
            </a:r>
          </a:p>
          <a:p xmlns:a="http://schemas.openxmlformats.org/drawingml/2006/main">
            <a:pPr algn="l">
              <a:defRPr sz="863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2. Palo Alto Traffic Log 中能看到 MID 到目标 VLAN 的 allow 记录。</a:t>
            </a:r>
          </a:p>
          <a:p xmlns:a="http://schemas.openxmlformats.org/drawingml/2006/main">
            <a:pPr algn="l">
              <a:defRPr sz="863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3. 返回路径没有绕过 Palo Alto。</a:t>
            </a:r>
          </a:p>
        </p:txBody>
      </p:sp>
      <p:sp>
        <p:nvSpPr>
          <p:cNvPr id="77" name="legend">
            <a:extLst xmlns:a="http://schemas.openxmlformats.org/drawingml/2006/main">
              <a:ext uri="{FF2B5EF4-FFF2-40B4-BE49-F238E27FC236}">
                <a16:creationId xmlns:a16="http://schemas.microsoft.com/office/drawing/2014/main" id="{64BEF6F2-D1DD-411E-BBE6-B03BC038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6153150"/>
            <a:ext cx="2266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78" name="legend-title">
            <a:extLst xmlns:a="http://schemas.openxmlformats.org/drawingml/2006/main">
              <a:ext uri="{FF2B5EF4-FFF2-40B4-BE49-F238E27FC236}">
                <a16:creationId xmlns:a16="http://schemas.microsoft.com/office/drawing/2014/main" id="{D15BDB72-EA75-4811-B201-A7A86AB2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62865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9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395B"/>
                </a:solidFill>
                <a:latin typeface="Microsoft YaHei"/>
                <a:ea typeface="Microsoft YaHei"/>
                <a:cs typeface="Microsoft YaHei"/>
              </a:rPr>
              <a:t>线条说明</a:t>
            </a:r>
          </a:p>
        </p:txBody>
      </p:sp>
      <p:sp>
        <p:nvSpPr>
          <p:cNvPr id="79" name="legend-blue">
            <a:extLst xmlns:a="http://schemas.openxmlformats.org/drawingml/2006/main">
              <a:ext uri="{FF2B5EF4-FFF2-40B4-BE49-F238E27FC236}">
                <a16:creationId xmlns:a16="http://schemas.microsoft.com/office/drawing/2014/main" id="{D07CF620-CB64-4D6D-89A2-3E2D7EC5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6605588"/>
            <a:ext cx="5524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80" name="legend-blue-text">
            <a:extLst xmlns:a="http://schemas.openxmlformats.org/drawingml/2006/main">
              <a:ext uri="{FF2B5EF4-FFF2-40B4-BE49-F238E27FC236}">
                <a16:creationId xmlns:a16="http://schemas.microsoft.com/office/drawing/2014/main" id="{965EF88E-7DE6-4FFA-83B4-A49F021E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5341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VLAN01 管理网段</a:t>
            </a:r>
          </a:p>
        </p:txBody>
      </p:sp>
      <p:sp>
        <p:nvSpPr>
          <p:cNvPr id="81" name="legend-orange">
            <a:extLst xmlns:a="http://schemas.openxmlformats.org/drawingml/2006/main">
              <a:ext uri="{FF2B5EF4-FFF2-40B4-BE49-F238E27FC236}">
                <a16:creationId xmlns:a16="http://schemas.microsoft.com/office/drawing/2014/main" id="{820D45DD-D1CF-4CD0-8818-A24BB4A5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6910388"/>
            <a:ext cx="5524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65911"/>
          </a:solidFill>
          <a:ln xmlns:a="http://schemas.openxmlformats.org/drawingml/2006/main" w="0">
            <a:solidFill>
              <a:srgbClr val="C65911"/>
            </a:solidFill>
            <a:prstDash val="solid"/>
          </a:ln>
        </p:spPr>
      </p:sp>
      <p:sp>
        <p:nvSpPr>
          <p:cNvPr id="82" name="legend-orange-text">
            <a:extLst xmlns:a="http://schemas.openxmlformats.org/drawingml/2006/main">
              <a:ext uri="{FF2B5EF4-FFF2-40B4-BE49-F238E27FC236}">
                <a16:creationId xmlns:a16="http://schemas.microsoft.com/office/drawing/2014/main" id="{E9CF21A4-44D0-498D-B712-6B95196B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8389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VLAN02 服务器/DMZ</a:t>
            </a:r>
          </a:p>
        </p:txBody>
      </p:sp>
      <p:sp>
        <p:nvSpPr>
          <p:cNvPr id="83" name="legend-green">
            <a:extLst xmlns:a="http://schemas.openxmlformats.org/drawingml/2006/main">
              <a:ext uri="{FF2B5EF4-FFF2-40B4-BE49-F238E27FC236}">
                <a16:creationId xmlns:a16="http://schemas.microsoft.com/office/drawing/2014/main" id="{F652F52E-4864-4AAC-9B27-C5D64B27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7215188"/>
            <a:ext cx="5524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0">
            <a:solidFill>
              <a:srgbClr val="548235"/>
            </a:solidFill>
            <a:prstDash val="solid"/>
          </a:ln>
        </p:spPr>
      </p:sp>
      <p:sp>
        <p:nvSpPr>
          <p:cNvPr id="84" name="legend-green-text">
            <a:extLst xmlns:a="http://schemas.openxmlformats.org/drawingml/2006/main">
              <a:ext uri="{FF2B5EF4-FFF2-40B4-BE49-F238E27FC236}">
                <a16:creationId xmlns:a16="http://schemas.microsoft.com/office/drawing/2014/main" id="{3B6EAFFF-4D65-49BE-AB63-12A913AD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7143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VLAN03 客户端/OA</a:t>
            </a:r>
          </a:p>
        </p:txBody>
      </p:sp>
      <p:sp>
        <p:nvSpPr>
          <p:cNvPr id="8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04F62AA-C4B9-4C70-A62A-A2B9784B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829550"/>
            <a:ext cx="1451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86" name="footer">
            <a:extLst xmlns:a="http://schemas.openxmlformats.org/drawingml/2006/main">
              <a:ext uri="{FF2B5EF4-FFF2-40B4-BE49-F238E27FC236}">
                <a16:creationId xmlns:a16="http://schemas.microsoft.com/office/drawing/2014/main" id="{E762C42E-0E47-4C55-8077-36600134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981950"/>
            <a:ext cx="1219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说明：本图按客户反馈把 Palo Alto 放在最前面。线条表示 VLAN/Subnet 边界，不是简单的单向箭头。实际 Azure 上需要通过 Subnet + UDR + NSG + Palo Alto Policy 实现类似控制关系。</a:t>
            </a:r>
          </a:p>
        </p:txBody>
      </p:sp>
    </p:spTree>
    <p:extLst>
      <p:ext uri="{BB962C8B-B14F-4D97-AF65-F5344CB8AC3E}">
        <p14:creationId xmlns:p14="http://schemas.microsoft.com/office/powerpoint/2010/main" val="17771308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2026-06-18T05:42:58.7300000Z</dcterms:created>
  <dcterms:modified xsi:type="dcterms:W3CDTF">2026-06-18T05:42:58.7310000Z</dcterms:modified>
</coreProperties>
</file>