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f7d81cc5784e10" /><Relationship Type="http://schemas.openxmlformats.org/officeDocument/2006/relationships/extended-properties" Target="/docProps/app.xml" Id="Rffc60f16b2d643fa" /><Relationship Type="http://schemas.openxmlformats.org/officeDocument/2006/relationships/officeDocument" Target="/ppt/presentation.xml" Id="R6298ac9383fb4d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ca729fc78948d3"/>
  </p:sldMasterIdLst>
  <p:notesMasterIdLst>
    <p:notesMasterId xmlns:r="http://schemas.openxmlformats.org/officeDocument/2006/relationships" r:id="R739513eb82ed407e"/>
  </p:notesMasterIdLst>
  <p:sldIdLst>
    <p:sldId xmlns:r="http://schemas.openxmlformats.org/officeDocument/2006/relationships" id="256" r:id="R003f97cd82b74a9a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65f8b44dc84664" /><Relationship Type="http://schemas.openxmlformats.org/officeDocument/2006/relationships/slideMaster" Target="/ppt/slideMasters/slideMaster1.xml" Id="R95ca729fc78948d3" /><Relationship Type="http://schemas.openxmlformats.org/officeDocument/2006/relationships/notesMaster" Target="/ppt/notesMasters/notesMaster1.xml" Id="R739513eb82ed407e" /><Relationship Type="http://schemas.openxmlformats.org/officeDocument/2006/relationships/presProps" Target="/ppt/presProps.xml" Id="Rdbe727b95ba44ad9" /><Relationship Type="http://schemas.openxmlformats.org/officeDocument/2006/relationships/tableStyles" Target="/ppt/tableStyles.xml" Id="Rfefbd91d942e49cb" /><Relationship Type="http://schemas.openxmlformats.org/officeDocument/2006/relationships/slide" Target="/ppt/slides/slide1.xml" Id="R003f97cd82b74a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774726250b4a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f3575d798d46d0" /><Relationship Type="http://schemas.openxmlformats.org/officeDocument/2006/relationships/notesMaster" Target="/ppt/notesMasters/notesMaster1.xml" Id="R4166d30cb37244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621c723e143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1a0de58e7541a5" /><Relationship Type="http://schemas.openxmlformats.org/officeDocument/2006/relationships/slideLayout" Target="/ppt/slideLayouts/slideLayout1.xml" Id="Rb52d34ee0bf645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2d34ee0bf645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0ce8a0b454ef7" /><Relationship Type="http://schemas.openxmlformats.org/officeDocument/2006/relationships/notesSlide" Target="/ppt/notesSlides/notesSlide1.xml" Id="R99365fbe96154e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r">
            <a:extLst xmlns:a="http://schemas.openxmlformats.org/drawingml/2006/main">
              <a:ext uri="{FF2B5EF4-FFF2-40B4-BE49-F238E27FC236}">
                <a16:creationId xmlns:a16="http://schemas.microsoft.com/office/drawing/2014/main" id="{22431F7B-AEE9-4107-976E-52C9FD70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95B"/>
          </a:solidFill>
          <a:ln xmlns:a="http://schemas.openxmlformats.org/drawingml/2006/main" w="11906">
            <a:solidFill>
              <a:srgbClr val="12395B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209141E-4E71-4AF5-B8D1-ED1FE0C8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33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ServiceNow Discovery PoC 構成図（案A：検出対象ベース）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B88FDD6-6FB4-41A5-BE13-1F8C2B29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05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DDEBF7"/>
                </a:solidFill>
              </a:defRPr>
            </a:pPr>
            <a:r>
              <a:rPr sz="1200" b="0">
                <a:solidFill>
                  <a:srgbClr val="DDEBF7"/>
                </a:solidFill>
              </a:rPr>
              <a:t>第一张表橙色项对应：Windows / Linux / NW(PaloAlto, FortiGate) / Azure / ACC</a:t>
            </a:r>
          </a:p>
        </p:txBody>
      </p:sp>
      <p:sp>
        <p:nvSpPr>
          <p:cNvPr id="4" name="azure-boundary">
            <a:extLst xmlns:a="http://schemas.openxmlformats.org/drawingml/2006/main">
              <a:ext uri="{FF2B5EF4-FFF2-40B4-BE49-F238E27FC236}">
                <a16:creationId xmlns:a16="http://schemas.microsoft.com/office/drawing/2014/main" id="{BDA346FB-7D7A-462C-972F-DC7CEF79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66800"/>
            <a:ext cx="9620250" cy="6572250"/>
          </a:xfrm>
          <a:prstGeom xmlns:a="http://schemas.openxmlformats.org/drawingml/2006/main" prst="roundRect">
            <a:avLst>
              <a:gd name="adj" fmla="val 2319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5" name="azure-title">
            <a:extLst xmlns:a="http://schemas.openxmlformats.org/drawingml/2006/main">
              <a:ext uri="{FF2B5EF4-FFF2-40B4-BE49-F238E27FC236}">
                <a16:creationId xmlns:a16="http://schemas.microsoft.com/office/drawing/2014/main" id="{A3F48D3D-0779-4451-BB49-AF49590C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81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95B"/>
                </a:solidFill>
              </a:defRPr>
            </a:pPr>
            <a:r>
              <a:rPr sz="1575" b="1">
                <a:solidFill>
                  <a:srgbClr val="12395B"/>
                </a:solidFill>
              </a:rPr>
              <a:t>Azure PoC Resource Group / VNet</a:t>
            </a:r>
          </a:p>
        </p:txBody>
      </p:sp>
      <p:sp>
        <p:nvSpPr>
          <p:cNvPr id="6" name="azure-note">
            <a:extLst xmlns:a="http://schemas.openxmlformats.org/drawingml/2006/main">
              <a:ext uri="{FF2B5EF4-FFF2-40B4-BE49-F238E27FC236}">
                <a16:creationId xmlns:a16="http://schemas.microsoft.com/office/drawing/2014/main" id="{D1675AEF-6DD3-4740-B672-D3ACD66C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3827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</a:defRPr>
            </a:pPr>
            <a:r>
              <a:rPr sz="938" b="0">
                <a:solidFill>
                  <a:srgbClr val="475569"/>
                </a:solidFill>
              </a:rPr>
              <a:t>示例网段可替换为客户实际地址；这里用不同 Subnet/VLAN 避免 10.100.0.1/24 重复造成歧义。</a:t>
            </a:r>
          </a:p>
        </p:txBody>
      </p:sp>
      <p:sp>
        <p:nvSpPr>
          <p:cNvPr id="7" name="servicenow">
            <a:extLst xmlns:a="http://schemas.openxmlformats.org/drawingml/2006/main">
              <a:ext uri="{FF2B5EF4-FFF2-40B4-BE49-F238E27FC236}">
                <a16:creationId xmlns:a16="http://schemas.microsoft.com/office/drawing/2014/main" id="{646656C6-ED05-4E23-8F81-A96BCE22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04900"/>
            <a:ext cx="195262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EBF7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8" name="servicenow-title">
            <a:extLst xmlns:a="http://schemas.openxmlformats.org/drawingml/2006/main">
              <a:ext uri="{FF2B5EF4-FFF2-40B4-BE49-F238E27FC236}">
                <a16:creationId xmlns:a16="http://schemas.microsoft.com/office/drawing/2014/main" id="{7AF3970F-CE35-44CF-8AAB-63BFD480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0150"/>
            <a:ext cx="1685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95B"/>
                </a:solidFill>
              </a:defRPr>
            </a:pPr>
            <a:r>
              <a:rPr sz="1350" b="1">
                <a:solidFill>
                  <a:srgbClr val="12395B"/>
                </a:solidFill>
              </a:rPr>
              <a:t>ServiceNow Instance</a:t>
            </a:r>
          </a:p>
        </p:txBody>
      </p:sp>
      <p:sp>
        <p:nvSpPr>
          <p:cNvPr id="9" name="servicenow-body">
            <a:extLst xmlns:a="http://schemas.openxmlformats.org/drawingml/2006/main">
              <a:ext uri="{FF2B5EF4-FFF2-40B4-BE49-F238E27FC236}">
                <a16:creationId xmlns:a16="http://schemas.microsoft.com/office/drawing/2014/main" id="{C6F7184D-423F-4FF0-A2F4-910FF2B62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6850"/>
            <a:ext cx="16859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Discovery / Service Mapping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CMDB / ACC / Cloud Discovery</a:t>
            </a:r>
          </a:p>
        </p:txBody>
      </p:sp>
      <p:sp>
        <p:nvSpPr>
          <p:cNvPr id="10" name="mid">
            <a:extLst xmlns:a="http://schemas.openxmlformats.org/drawingml/2006/main">
              <a:ext uri="{FF2B5EF4-FFF2-40B4-BE49-F238E27FC236}">
                <a16:creationId xmlns:a16="http://schemas.microsoft.com/office/drawing/2014/main" id="{DEB919AB-40C7-4801-8ECF-88E4CF06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28800"/>
            <a:ext cx="2047875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11" name="mid-title">
            <a:extLst xmlns:a="http://schemas.openxmlformats.org/drawingml/2006/main">
              <a:ext uri="{FF2B5EF4-FFF2-40B4-BE49-F238E27FC236}">
                <a16:creationId xmlns:a16="http://schemas.microsoft.com/office/drawing/2014/main" id="{7CE0B92B-DAC0-4E8B-AC5D-A1DFEAC2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24050"/>
            <a:ext cx="1781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95B"/>
                </a:solidFill>
              </a:defRPr>
            </a:pPr>
            <a:r>
              <a:rPr sz="1350" b="1">
                <a:solidFill>
                  <a:srgbClr val="12395B"/>
                </a:solidFill>
              </a:rPr>
              <a:t>MID Server</a:t>
            </a:r>
          </a:p>
        </p:txBody>
      </p:sp>
      <p:sp>
        <p:nvSpPr>
          <p:cNvPr id="12" name="mid-body">
            <a:extLst xmlns:a="http://schemas.openxmlformats.org/drawingml/2006/main">
              <a:ext uri="{FF2B5EF4-FFF2-40B4-BE49-F238E27FC236}">
                <a16:creationId xmlns:a16="http://schemas.microsoft.com/office/drawing/2014/main" id="{8D3916E6-8E57-404A-8EE2-85C9EE8E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190750"/>
            <a:ext cx="1781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VLAN01 / Mgmt Subnet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10.100.10.0/24</a:t>
            </a:r>
          </a:p>
          <a:p xmlns:a="http://schemas.openxmlformats.org/drawingml/2006/main">
            <a:pPr algn="l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Outbound HTTPS 443</a:t>
            </a:r>
          </a:p>
        </p:txBody>
      </p:sp>
      <p:sp>
        <p:nvSpPr>
          <p:cNvPr id="13" name="sn-mid-0">
            <a:extLst xmlns:a="http://schemas.openxmlformats.org/drawingml/2006/main">
              <a:ext uri="{FF2B5EF4-FFF2-40B4-BE49-F238E27FC236}">
                <a16:creationId xmlns:a16="http://schemas.microsoft.com/office/drawing/2014/main" id="{D6AE2BE6-AC2A-42D4-A900-6D4817DD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604963"/>
            <a:ext cx="4095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14" name="sn-mid-1">
            <a:extLst xmlns:a="http://schemas.openxmlformats.org/drawingml/2006/main">
              <a:ext uri="{FF2B5EF4-FFF2-40B4-BE49-F238E27FC236}">
                <a16:creationId xmlns:a16="http://schemas.microsoft.com/office/drawing/2014/main" id="{A1E68AF2-A644-48EC-BD1D-67A4CF71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2713" y="1619250"/>
            <a:ext cx="28575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15" name="sn-mid-2">
            <a:extLst xmlns:a="http://schemas.openxmlformats.org/drawingml/2006/main">
              <a:ext uri="{FF2B5EF4-FFF2-40B4-BE49-F238E27FC236}">
                <a16:creationId xmlns:a16="http://schemas.microsoft.com/office/drawing/2014/main" id="{5242D88A-3533-4892-9049-5F7A9906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66963"/>
            <a:ext cx="4000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16" name="sn-mid-label">
            <a:extLst xmlns:a="http://schemas.openxmlformats.org/drawingml/2006/main">
              <a:ext uri="{FF2B5EF4-FFF2-40B4-BE49-F238E27FC236}">
                <a16:creationId xmlns:a16="http://schemas.microsoft.com/office/drawing/2014/main" id="{D0FC70D2-0344-4015-B4E2-B0E75F5B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77165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2395B"/>
                </a:solidFill>
              </a:defRPr>
            </a:pPr>
            <a:r>
              <a:rPr sz="863" b="0">
                <a:solidFill>
                  <a:srgbClr val="12395B"/>
                </a:solidFill>
              </a:rPr>
              <a:t>① ServiceNow ↔ MID</a:t>
            </a:r>
          </a:p>
          <a:p xmlns:a="http://schemas.openxmlformats.org/drawingml/2006/main">
            <a:pPr algn="l">
              <a:defRPr sz="863" b="0">
                <a:solidFill>
                  <a:srgbClr val="12395B"/>
                </a:solidFill>
              </a:defRPr>
            </a:pPr>
            <a:r>
              <a:rPr sz="863" b="0">
                <a:solidFill>
                  <a:srgbClr val="12395B"/>
                </a:solidFill>
              </a:rPr>
              <a:t>HTTPS 443</a:t>
            </a:r>
          </a:p>
        </p:txBody>
      </p:sp>
      <p:sp>
        <p:nvSpPr>
          <p:cNvPr id="17" name="azure-api">
            <a:extLst xmlns:a="http://schemas.openxmlformats.org/drawingml/2006/main">
              <a:ext uri="{FF2B5EF4-FFF2-40B4-BE49-F238E27FC236}">
                <a16:creationId xmlns:a16="http://schemas.microsoft.com/office/drawing/2014/main" id="{EDD2329B-BE42-4C7D-B38C-F8FF7E14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314450"/>
            <a:ext cx="22098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7F3FE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18" name="azure-api-title">
            <a:extLst xmlns:a="http://schemas.openxmlformats.org/drawingml/2006/main">
              <a:ext uri="{FF2B5EF4-FFF2-40B4-BE49-F238E27FC236}">
                <a16:creationId xmlns:a16="http://schemas.microsoft.com/office/drawing/2014/main" id="{A0A6F2C0-B6E2-4E24-A915-1F4435F1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09700"/>
            <a:ext cx="1943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95B"/>
                </a:solidFill>
              </a:defRPr>
            </a:pPr>
            <a:r>
              <a:rPr sz="1200" b="1">
                <a:solidFill>
                  <a:srgbClr val="12395B"/>
                </a:solidFill>
              </a:rPr>
              <a:t>Azure Cloud Discovery</a:t>
            </a:r>
          </a:p>
        </p:txBody>
      </p:sp>
      <p:sp>
        <p:nvSpPr>
          <p:cNvPr id="19" name="azure-api-body">
            <a:extLst xmlns:a="http://schemas.openxmlformats.org/drawingml/2006/main">
              <a:ext uri="{FF2B5EF4-FFF2-40B4-BE49-F238E27FC236}">
                <a16:creationId xmlns:a16="http://schemas.microsoft.com/office/drawing/2014/main" id="{A51C0837-D22E-46B3-AEA4-AC9F1FFA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76400"/>
            <a:ext cx="19431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F2933"/>
                </a:solidFill>
              </a:defRPr>
            </a:pPr>
            <a:r>
              <a:rPr sz="863" b="0">
                <a:solidFill>
                  <a:srgbClr val="1F2933"/>
                </a:solidFill>
              </a:rPr>
              <a:t>Azure API / Credential</a:t>
            </a:r>
          </a:p>
          <a:p xmlns:a="http://schemas.openxmlformats.org/drawingml/2006/main">
            <a:pPr algn="l">
              <a:defRPr sz="863" b="0">
                <a:solidFill>
                  <a:srgbClr val="1F2933"/>
                </a:solidFill>
              </a:defRPr>
            </a:pPr>
            <a:r>
              <a:rPr sz="863" b="0">
                <a:solidFill>
                  <a:srgbClr val="1F2933"/>
                </a:solidFill>
              </a:rPr>
              <a:t>Subscription / Resource Group</a:t>
            </a:r>
          </a:p>
          <a:p xmlns:a="http://schemas.openxmlformats.org/drawingml/2006/main">
            <a:pPr algn="l">
              <a:defRPr sz="863" b="0">
                <a:solidFill>
                  <a:srgbClr val="1F2933"/>
                </a:solidFill>
              </a:defRPr>
            </a:pPr>
            <a:r>
              <a:rPr sz="863" b="0">
                <a:solidFill>
                  <a:srgbClr val="1F2933"/>
                </a:solidFill>
              </a:rPr>
              <a:t>VNet / Subnet / VM / Disk / NIC</a:t>
            </a:r>
          </a:p>
        </p:txBody>
      </p:sp>
      <p:sp>
        <p:nvSpPr>
          <p:cNvPr id="20" name="mid-azure-api-0">
            <a:extLst xmlns:a="http://schemas.openxmlformats.org/drawingml/2006/main">
              <a:ext uri="{FF2B5EF4-FFF2-40B4-BE49-F238E27FC236}">
                <a16:creationId xmlns:a16="http://schemas.microsoft.com/office/drawing/2014/main" id="{8A171B6C-EA4F-4952-A4C4-B0FF90C6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064544"/>
            <a:ext cx="232410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21" name="mid-azure-api-1">
            <a:extLst xmlns:a="http://schemas.openxmlformats.org/drawingml/2006/main">
              <a:ext uri="{FF2B5EF4-FFF2-40B4-BE49-F238E27FC236}">
                <a16:creationId xmlns:a16="http://schemas.microsoft.com/office/drawing/2014/main" id="{7AC6EB85-DEEE-49D7-9349-831C4C3D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7594" y="1657350"/>
            <a:ext cx="23813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22" name="mid-azure-api-2">
            <a:extLst xmlns:a="http://schemas.openxmlformats.org/drawingml/2006/main">
              <a:ext uri="{FF2B5EF4-FFF2-40B4-BE49-F238E27FC236}">
                <a16:creationId xmlns:a16="http://schemas.microsoft.com/office/drawing/2014/main" id="{7FDBDA7B-A9C6-4CC3-ABDD-A420E3C2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45444"/>
            <a:ext cx="224790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9BD5"/>
          </a:solidFill>
          <a:ln xmlns:a="http://schemas.openxmlformats.org/drawingml/2006/main" w="11906">
            <a:solidFill>
              <a:srgbClr val="5B9BD5"/>
            </a:solidFill>
            <a:prstDash val="solid"/>
          </a:ln>
        </p:spPr>
      </p:sp>
      <p:sp>
        <p:nvSpPr>
          <p:cNvPr id="23" name="mid-azure-api-label">
            <a:extLst xmlns:a="http://schemas.openxmlformats.org/drawingml/2006/main">
              <a:ext uri="{FF2B5EF4-FFF2-40B4-BE49-F238E27FC236}">
                <a16:creationId xmlns:a16="http://schemas.microsoft.com/office/drawing/2014/main" id="{696C82FD-5064-404D-85D4-530D5EF6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57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2395B"/>
                </a:solidFill>
              </a:defRPr>
            </a:pPr>
            <a:r>
              <a:rPr sz="900" b="0">
                <a:solidFill>
                  <a:srgbClr val="12395B"/>
                </a:solidFill>
              </a:rPr>
              <a:t>② Cloud Discovery</a:t>
            </a:r>
          </a:p>
          <a:p xmlns:a="http://schemas.openxmlformats.org/drawingml/2006/main">
            <a:pPr algn="ctr">
              <a:defRPr sz="900" b="0">
                <a:solidFill>
                  <a:srgbClr val="12395B"/>
                </a:solidFill>
              </a:defRPr>
            </a:pPr>
            <a:r>
              <a:rPr sz="900" b="0">
                <a:solidFill>
                  <a:srgbClr val="12395B"/>
                </a:solidFill>
              </a:rPr>
              <a:t>云侧资源信息</a:t>
            </a:r>
          </a:p>
        </p:txBody>
      </p:sp>
      <p:sp>
        <p:nvSpPr>
          <p:cNvPr id="24" name="nw-header">
            <a:extLst xmlns:a="http://schemas.openxmlformats.org/drawingml/2006/main">
              <a:ext uri="{FF2B5EF4-FFF2-40B4-BE49-F238E27FC236}">
                <a16:creationId xmlns:a16="http://schemas.microsoft.com/office/drawing/2014/main" id="{1330774F-C65B-40B8-866B-7938ED7F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28800"/>
            <a:ext cx="3429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11906">
            <a:solidFill>
              <a:srgbClr val="1F4E79"/>
            </a:solidFill>
            <a:prstDash val="solid"/>
          </a:ln>
        </p:spPr>
      </p:sp>
      <p:sp>
        <p:nvSpPr>
          <p:cNvPr id="25" name="nw-header-text">
            <a:extLst xmlns:a="http://schemas.openxmlformats.org/drawingml/2006/main">
              <a:ext uri="{FF2B5EF4-FFF2-40B4-BE49-F238E27FC236}">
                <a16:creationId xmlns:a16="http://schemas.microsoft.com/office/drawing/2014/main" id="{F37BB283-3B5C-4CC2-9B0E-1258870B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0500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NW Discovery Targets / VLAN04  10.100.40.0/24</a:t>
            </a:r>
          </a:p>
        </p:txBody>
      </p:sp>
      <p:sp>
        <p:nvSpPr>
          <p:cNvPr id="26" name="paloalto">
            <a:extLst xmlns:a="http://schemas.openxmlformats.org/drawingml/2006/main">
              <a:ext uri="{FF2B5EF4-FFF2-40B4-BE49-F238E27FC236}">
                <a16:creationId xmlns:a16="http://schemas.microsoft.com/office/drawing/2014/main" id="{29B4EA5A-7E45-4368-84DD-FBB86D82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24100"/>
            <a:ext cx="138112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27" name="paloalto-title">
            <a:extLst xmlns:a="http://schemas.openxmlformats.org/drawingml/2006/main">
              <a:ext uri="{FF2B5EF4-FFF2-40B4-BE49-F238E27FC236}">
                <a16:creationId xmlns:a16="http://schemas.microsoft.com/office/drawing/2014/main" id="{0863954A-7347-4849-812A-311BF95E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111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5911"/>
                </a:solidFill>
              </a:defRPr>
            </a:pPr>
            <a:r>
              <a:rPr sz="1350" b="1">
                <a:solidFill>
                  <a:srgbClr val="C65911"/>
                </a:solidFill>
              </a:rPr>
              <a:t>Palo Alto</a:t>
            </a:r>
          </a:p>
        </p:txBody>
      </p:sp>
      <p:sp>
        <p:nvSpPr>
          <p:cNvPr id="28" name="paloalto-body">
            <a:extLst xmlns:a="http://schemas.openxmlformats.org/drawingml/2006/main">
              <a:ext uri="{FF2B5EF4-FFF2-40B4-BE49-F238E27FC236}">
                <a16:creationId xmlns:a16="http://schemas.microsoft.com/office/drawing/2014/main" id="{17176295-05C5-4247-8C88-E1040598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SNMPv2 / UDP 161</a:t>
            </a:r>
          </a:p>
          <a:p xmlns:a="http://schemas.openxmlformats.org/drawingml/2006/main">
            <a:pPr algn="ctr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NW(PaloAlto)</a:t>
            </a:r>
          </a:p>
        </p:txBody>
      </p:sp>
      <p:sp>
        <p:nvSpPr>
          <p:cNvPr id="29" name="fortigate">
            <a:extLst xmlns:a="http://schemas.openxmlformats.org/drawingml/2006/main">
              <a:ext uri="{FF2B5EF4-FFF2-40B4-BE49-F238E27FC236}">
                <a16:creationId xmlns:a16="http://schemas.microsoft.com/office/drawing/2014/main" id="{BFE5C144-3F19-4B09-AA5E-0596DDA5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24100"/>
            <a:ext cx="1381125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30" name="fortigate-title">
            <a:extLst xmlns:a="http://schemas.openxmlformats.org/drawingml/2006/main">
              <a:ext uri="{FF2B5EF4-FFF2-40B4-BE49-F238E27FC236}">
                <a16:creationId xmlns:a16="http://schemas.microsoft.com/office/drawing/2014/main" id="{C9F7E56D-F041-403B-AE9E-8D2A219E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19350"/>
            <a:ext cx="1114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5911"/>
                </a:solidFill>
              </a:defRPr>
            </a:pPr>
            <a:r>
              <a:rPr sz="1350" b="1">
                <a:solidFill>
                  <a:srgbClr val="C65911"/>
                </a:solidFill>
              </a:rPr>
              <a:t>FortiGate</a:t>
            </a:r>
          </a:p>
        </p:txBody>
      </p:sp>
      <p:sp>
        <p:nvSpPr>
          <p:cNvPr id="31" name="fortigate-body">
            <a:extLst xmlns:a="http://schemas.openxmlformats.org/drawingml/2006/main">
              <a:ext uri="{FF2B5EF4-FFF2-40B4-BE49-F238E27FC236}">
                <a16:creationId xmlns:a16="http://schemas.microsoft.com/office/drawing/2014/main" id="{84F6BEDF-62C5-49FE-8F5B-9328B39F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86050"/>
            <a:ext cx="1114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SNMPv2 / UDP 161</a:t>
            </a:r>
          </a:p>
          <a:p xmlns:a="http://schemas.openxmlformats.org/drawingml/2006/main">
            <a:pPr algn="ctr">
              <a:defRPr sz="975" b="0">
                <a:solidFill>
                  <a:srgbClr val="1F2933"/>
                </a:solidFill>
              </a:defRPr>
            </a:pPr>
            <a:r>
              <a:rPr sz="975" b="0">
                <a:solidFill>
                  <a:srgbClr val="1F2933"/>
                </a:solidFill>
              </a:rPr>
              <a:t>NW(FortiGate)</a:t>
            </a:r>
          </a:p>
        </p:txBody>
      </p:sp>
      <p:sp>
        <p:nvSpPr>
          <p:cNvPr id="32" name="pa-note">
            <a:extLst xmlns:a="http://schemas.openxmlformats.org/drawingml/2006/main">
              <a:ext uri="{FF2B5EF4-FFF2-40B4-BE49-F238E27FC236}">
                <a16:creationId xmlns:a16="http://schemas.microsoft.com/office/drawing/2014/main" id="{365426F9-9288-40FA-A6B1-9B691B56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76600"/>
            <a:ext cx="3619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CCC"/>
          </a:solidFill>
          <a:ln xmlns:a="http://schemas.openxmlformats.org/drawingml/2006/main" w="11906">
            <a:solidFill>
              <a:srgbClr val="F4CCCC"/>
            </a:solidFill>
            <a:prstDash val="solid"/>
          </a:ln>
        </p:spPr>
      </p:sp>
      <p:sp>
        <p:nvSpPr>
          <p:cNvPr id="33" name="pa-note-text">
            <a:extLst xmlns:a="http://schemas.openxmlformats.org/drawingml/2006/main">
              <a:ext uri="{FF2B5EF4-FFF2-40B4-BE49-F238E27FC236}">
                <a16:creationId xmlns:a16="http://schemas.microsoft.com/office/drawing/2014/main" id="{F3CB5EE6-2ECE-4719-99DF-ED14AB9D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33750"/>
            <a:ext cx="3505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A3412"/>
                </a:solidFill>
              </a:defRPr>
            </a:pPr>
            <a:r>
              <a:rPr sz="825" b="1">
                <a:solidFill>
                  <a:srgbClr val="9A3412"/>
                </a:solidFill>
              </a:rPr>
              <a:t>案A：被发现对象，不证明流量穿越防火墙</a:t>
            </a:r>
          </a:p>
        </p:txBody>
      </p:sp>
      <p:sp>
        <p:nvSpPr>
          <p:cNvPr id="34" name="mid-snmp-0">
            <a:extLst xmlns:a="http://schemas.openxmlformats.org/drawingml/2006/main">
              <a:ext uri="{FF2B5EF4-FFF2-40B4-BE49-F238E27FC236}">
                <a16:creationId xmlns:a16="http://schemas.microsoft.com/office/drawing/2014/main" id="{4CD71E6C-D12A-48C3-A4FC-1F5FED1C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8394"/>
            <a:ext cx="60960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35" name="mid-snmp-1">
            <a:extLst xmlns:a="http://schemas.openxmlformats.org/drawingml/2006/main">
              <a:ext uri="{FF2B5EF4-FFF2-40B4-BE49-F238E27FC236}">
                <a16:creationId xmlns:a16="http://schemas.microsoft.com/office/drawing/2014/main" id="{A4EB60AC-6A4D-4E83-BF76-3E9DA893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094" y="2400300"/>
            <a:ext cx="23813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36" name="mid-snmp-2">
            <a:extLst xmlns:a="http://schemas.openxmlformats.org/drawingml/2006/main">
              <a:ext uri="{FF2B5EF4-FFF2-40B4-BE49-F238E27FC236}">
                <a16:creationId xmlns:a16="http://schemas.microsoft.com/office/drawing/2014/main" id="{405D65E9-4F9F-42F8-9128-66B19ABC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31294"/>
            <a:ext cx="30480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37" name="mid-snmp2-0">
            <a:extLst xmlns:a="http://schemas.openxmlformats.org/drawingml/2006/main">
              <a:ext uri="{FF2B5EF4-FFF2-40B4-BE49-F238E27FC236}">
                <a16:creationId xmlns:a16="http://schemas.microsoft.com/office/drawing/2014/main" id="{E3A0B918-D9D6-4BC1-8D13-104CE73D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731294"/>
            <a:ext cx="201930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38" name="snmp-label">
            <a:extLst xmlns:a="http://schemas.openxmlformats.org/drawingml/2006/main">
              <a:ext uri="{FF2B5EF4-FFF2-40B4-BE49-F238E27FC236}">
                <a16:creationId xmlns:a16="http://schemas.microsoft.com/office/drawing/2014/main" id="{CB684DB3-EE2B-42B4-A1CC-48B52D66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65911"/>
                </a:solidFill>
              </a:defRPr>
            </a:pPr>
            <a:r>
              <a:rPr sz="863" b="0">
                <a:solidFill>
                  <a:srgbClr val="C65911"/>
                </a:solidFill>
              </a:rPr>
              <a:t>③ SNMPv2</a:t>
            </a:r>
          </a:p>
          <a:p xmlns:a="http://schemas.openxmlformats.org/drawingml/2006/main">
            <a:pPr algn="ctr">
              <a:defRPr sz="863" b="0">
                <a:solidFill>
                  <a:srgbClr val="C65911"/>
                </a:solidFill>
              </a:defRPr>
            </a:pPr>
            <a:r>
              <a:rPr sz="863" b="0">
                <a:solidFill>
                  <a:srgbClr val="C65911"/>
                </a:solidFill>
              </a:rPr>
              <a:t>网络设备发现</a:t>
            </a:r>
          </a:p>
        </p:txBody>
      </p:sp>
      <p:sp>
        <p:nvSpPr>
          <p:cNvPr id="39" name="server-subnet">
            <a:extLst xmlns:a="http://schemas.openxmlformats.org/drawingml/2006/main">
              <a:ext uri="{FF2B5EF4-FFF2-40B4-BE49-F238E27FC236}">
                <a16:creationId xmlns:a16="http://schemas.microsoft.com/office/drawing/2014/main" id="{D138C969-4091-4576-A2DF-09B5C3DB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58483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9E2F3"/>
            </a:solidFill>
            <a:prstDash val="solid"/>
          </a:ln>
        </p:spPr>
      </p:sp>
      <p:sp>
        <p:nvSpPr>
          <p:cNvPr id="40" name="server-head">
            <a:extLst xmlns:a="http://schemas.openxmlformats.org/drawingml/2006/main">
              <a:ext uri="{FF2B5EF4-FFF2-40B4-BE49-F238E27FC236}">
                <a16:creationId xmlns:a16="http://schemas.microsoft.com/office/drawing/2014/main" id="{F2581BC6-B830-4FDF-B086-F58ADC75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90950"/>
            <a:ext cx="4000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11906">
            <a:solidFill>
              <a:srgbClr val="1F4E79"/>
            </a:solidFill>
            <a:prstDash val="solid"/>
          </a:ln>
        </p:spPr>
      </p:sp>
      <p:sp>
        <p:nvSpPr>
          <p:cNvPr id="41" name="server-head-text">
            <a:extLst xmlns:a="http://schemas.openxmlformats.org/drawingml/2006/main">
              <a:ext uri="{FF2B5EF4-FFF2-40B4-BE49-F238E27FC236}">
                <a16:creationId xmlns:a16="http://schemas.microsoft.com/office/drawing/2014/main" id="{27523206-4E43-4356-82F0-78D724B8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67150"/>
            <a:ext cx="3771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VLAN02 / Server・DMZ Subnet  10.100.20.0/24</a:t>
            </a:r>
          </a:p>
        </p:txBody>
      </p:sp>
      <p:sp>
        <p:nvSpPr>
          <p:cNvPr id="42" name="win-server">
            <a:extLst xmlns:a="http://schemas.openxmlformats.org/drawingml/2006/main">
              <a:ext uri="{FF2B5EF4-FFF2-40B4-BE49-F238E27FC236}">
                <a16:creationId xmlns:a16="http://schemas.microsoft.com/office/drawing/2014/main" id="{842AADF3-5051-4676-A6F2-0FFE10F6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05300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43" name="win-server-title">
            <a:extLst xmlns:a="http://schemas.openxmlformats.org/drawingml/2006/main">
              <a:ext uri="{FF2B5EF4-FFF2-40B4-BE49-F238E27FC236}">
                <a16:creationId xmlns:a16="http://schemas.microsoft.com/office/drawing/2014/main" id="{6A18AD0A-BD49-40BE-B6B2-A72F572A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5911"/>
                </a:solidFill>
              </a:defRPr>
            </a:pPr>
            <a:r>
              <a:rPr sz="1350" b="1">
                <a:solidFill>
                  <a:srgbClr val="C65911"/>
                </a:solidFill>
              </a:rPr>
              <a:t>Windows Server</a:t>
            </a:r>
          </a:p>
        </p:txBody>
      </p:sp>
      <p:sp>
        <p:nvSpPr>
          <p:cNvPr id="44" name="win-server-body">
            <a:extLst xmlns:a="http://schemas.openxmlformats.org/drawingml/2006/main">
              <a:ext uri="{FF2B5EF4-FFF2-40B4-BE49-F238E27FC236}">
                <a16:creationId xmlns:a16="http://schemas.microsoft.com/office/drawing/2014/main" id="{659BE9F8-4C49-4DD2-B4CB-15D2EA96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</a:defRPr>
            </a:pPr>
            <a:r>
              <a:rPr sz="900" b="0">
                <a:solidFill>
                  <a:srgbClr val="1F2933"/>
                </a:solidFill>
              </a:rPr>
              <a:t>Mail Server</a:t>
            </a:r>
          </a:p>
          <a:p xmlns:a="http://schemas.openxmlformats.org/drawingml/2006/main">
            <a:pPr algn="ctr">
              <a:defRPr sz="900" b="0">
                <a:solidFill>
                  <a:srgbClr val="1F2933"/>
                </a:solidFill>
              </a:defRPr>
            </a:pPr>
            <a:r>
              <a:rPr sz="900" b="0">
                <a:solidFill>
                  <a:srgbClr val="1F2933"/>
                </a:solidFill>
              </a:rPr>
              <a:t>Credentialed Discovery</a:t>
            </a:r>
          </a:p>
        </p:txBody>
      </p:sp>
      <p:sp>
        <p:nvSpPr>
          <p:cNvPr id="45" name="tag-Tag: DMZ-642-526">
            <a:extLst xmlns:a="http://schemas.openxmlformats.org/drawingml/2006/main">
              <a:ext uri="{FF2B5EF4-FFF2-40B4-BE49-F238E27FC236}">
                <a16:creationId xmlns:a16="http://schemas.microsoft.com/office/drawing/2014/main" id="{F3E72696-A3B1-4C8E-9922-CABF072E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10150"/>
            <a:ext cx="7239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46" name="tag-text-Tag: DMZ-642-526">
            <a:extLst xmlns:a="http://schemas.openxmlformats.org/drawingml/2006/main">
              <a:ext uri="{FF2B5EF4-FFF2-40B4-BE49-F238E27FC236}">
                <a16:creationId xmlns:a16="http://schemas.microsoft.com/office/drawing/2014/main" id="{8983D0F8-8398-4FAC-8E72-52A0C709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48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DMZ</a:t>
            </a:r>
          </a:p>
        </p:txBody>
      </p:sp>
      <p:sp>
        <p:nvSpPr>
          <p:cNvPr id="47" name="tag-Tag: GAM_Service-724-526">
            <a:extLst xmlns:a="http://schemas.openxmlformats.org/drawingml/2006/main">
              <a:ext uri="{FF2B5EF4-FFF2-40B4-BE49-F238E27FC236}">
                <a16:creationId xmlns:a16="http://schemas.microsoft.com/office/drawing/2014/main" id="{4E8421B1-AC28-48AA-9D1C-B4302EE0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010150"/>
            <a:ext cx="12001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48" name="tag-text-Tag: GAM_Service-724-526">
            <a:extLst xmlns:a="http://schemas.openxmlformats.org/drawingml/2006/main">
              <a:ext uri="{FF2B5EF4-FFF2-40B4-BE49-F238E27FC236}">
                <a16:creationId xmlns:a16="http://schemas.microsoft.com/office/drawing/2014/main" id="{EF690A8E-4845-40EF-97EF-8CE416277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GAM_Service</a:t>
            </a:r>
          </a:p>
        </p:txBody>
      </p:sp>
      <p:sp>
        <p:nvSpPr>
          <p:cNvPr id="49" name="rhel-app">
            <a:extLst xmlns:a="http://schemas.openxmlformats.org/drawingml/2006/main">
              <a:ext uri="{FF2B5EF4-FFF2-40B4-BE49-F238E27FC236}">
                <a16:creationId xmlns:a16="http://schemas.microsoft.com/office/drawing/2014/main" id="{952A43E3-357A-4F3A-BE40-6C4BAF70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05300"/>
            <a:ext cx="17526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50" name="rhel-app-title">
            <a:extLst xmlns:a="http://schemas.openxmlformats.org/drawingml/2006/main">
              <a:ext uri="{FF2B5EF4-FFF2-40B4-BE49-F238E27FC236}">
                <a16:creationId xmlns:a16="http://schemas.microsoft.com/office/drawing/2014/main" id="{B0B0115B-1AA5-492A-A944-6562B710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005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5911"/>
                </a:solidFill>
              </a:defRPr>
            </a:pPr>
            <a:r>
              <a:rPr sz="1350" b="1">
                <a:solidFill>
                  <a:srgbClr val="C65911"/>
                </a:solidFill>
              </a:rPr>
              <a:t>RedHat / Linux</a:t>
            </a:r>
          </a:p>
        </p:txBody>
      </p:sp>
      <p:sp>
        <p:nvSpPr>
          <p:cNvPr id="51" name="rhel-app-body">
            <a:extLst xmlns:a="http://schemas.openxmlformats.org/drawingml/2006/main">
              <a:ext uri="{FF2B5EF4-FFF2-40B4-BE49-F238E27FC236}">
                <a16:creationId xmlns:a16="http://schemas.microsoft.com/office/drawing/2014/main" id="{597036AE-4CAE-423E-B8EC-11CB620F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672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</a:defRPr>
            </a:pPr>
            <a:r>
              <a:rPr sz="900" b="0">
                <a:solidFill>
                  <a:srgbClr val="1F2933"/>
                </a:solidFill>
              </a:rPr>
              <a:t>App: Apache or Tomcat</a:t>
            </a:r>
          </a:p>
          <a:p xmlns:a="http://schemas.openxmlformats.org/drawingml/2006/main">
            <a:pPr algn="ctr">
              <a:defRPr sz="900" b="0">
                <a:solidFill>
                  <a:srgbClr val="1F2933"/>
                </a:solidFill>
              </a:defRPr>
            </a:pPr>
            <a:r>
              <a:rPr sz="900" b="0">
                <a:solidFill>
                  <a:srgbClr val="1F2933"/>
                </a:solidFill>
              </a:rPr>
              <a:t>Top-down Entry Point</a:t>
            </a:r>
          </a:p>
        </p:txBody>
      </p:sp>
      <p:sp>
        <p:nvSpPr>
          <p:cNvPr id="52" name="tag-Tag: DMZ-905-526">
            <a:extLst xmlns:a="http://schemas.openxmlformats.org/drawingml/2006/main">
              <a:ext uri="{FF2B5EF4-FFF2-40B4-BE49-F238E27FC236}">
                <a16:creationId xmlns:a16="http://schemas.microsoft.com/office/drawing/2014/main" id="{40BA159B-B078-4846-9296-AC38DC3A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10150"/>
            <a:ext cx="72390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53" name="tag-text-Tag: DMZ-905-526">
            <a:extLst xmlns:a="http://schemas.openxmlformats.org/drawingml/2006/main">
              <a:ext uri="{FF2B5EF4-FFF2-40B4-BE49-F238E27FC236}">
                <a16:creationId xmlns:a16="http://schemas.microsoft.com/office/drawing/2014/main" id="{C70406C1-EB17-4845-B5D6-532A1A82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50482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DMZ</a:t>
            </a:r>
          </a:p>
        </p:txBody>
      </p:sp>
      <p:sp>
        <p:nvSpPr>
          <p:cNvPr id="54" name="tag-Tag: GAM_Service-988-526">
            <a:extLst xmlns:a="http://schemas.openxmlformats.org/drawingml/2006/main">
              <a:ext uri="{FF2B5EF4-FFF2-40B4-BE49-F238E27FC236}">
                <a16:creationId xmlns:a16="http://schemas.microsoft.com/office/drawing/2014/main" id="{2C9EDB86-244B-4437-BFEB-204734F2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010150"/>
            <a:ext cx="12001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55" name="tag-text-Tag: GAM_Service-988-526">
            <a:extLst xmlns:a="http://schemas.openxmlformats.org/drawingml/2006/main">
              <a:ext uri="{FF2B5EF4-FFF2-40B4-BE49-F238E27FC236}">
                <a16:creationId xmlns:a16="http://schemas.microsoft.com/office/drawing/2014/main" id="{0756CBFB-EF56-4CE1-92AA-8031D2BC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0482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GAM_Service</a:t>
            </a:r>
          </a:p>
        </p:txBody>
      </p:sp>
      <p:sp>
        <p:nvSpPr>
          <p:cNvPr id="56" name="service-map-pill">
            <a:extLst xmlns:a="http://schemas.openxmlformats.org/drawingml/2006/main">
              <a:ext uri="{FF2B5EF4-FFF2-40B4-BE49-F238E27FC236}">
                <a16:creationId xmlns:a16="http://schemas.microsoft.com/office/drawing/2014/main" id="{1BA98870-2B28-455E-A874-3D4AF16C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14800"/>
            <a:ext cx="3333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DCF8"/>
          </a:solidFill>
          <a:ln xmlns:a="http://schemas.openxmlformats.org/drawingml/2006/main" w="11906">
            <a:solidFill>
              <a:srgbClr val="EADCF8"/>
            </a:solidFill>
            <a:prstDash val="solid"/>
          </a:ln>
        </p:spPr>
      </p:sp>
      <p:sp>
        <p:nvSpPr>
          <p:cNvPr id="57" name="service-map-pill-text">
            <a:extLst xmlns:a="http://schemas.openxmlformats.org/drawingml/2006/main">
              <a:ext uri="{FF2B5EF4-FFF2-40B4-BE49-F238E27FC236}">
                <a16:creationId xmlns:a16="http://schemas.microsoft.com/office/drawing/2014/main" id="{6992AA16-7683-4EDA-A33A-49D3E3DB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1719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030A0"/>
                </a:solidFill>
              </a:defRPr>
            </a:pPr>
            <a:r>
              <a:rPr sz="825" b="1">
                <a:solidFill>
                  <a:srgbClr val="7030A0"/>
                </a:solidFill>
              </a:rPr>
              <a:t>Service Mapping 最小验证：URL/IP:80 or :8080</a:t>
            </a:r>
          </a:p>
        </p:txBody>
      </p:sp>
      <p:sp>
        <p:nvSpPr>
          <p:cNvPr id="58" name="client-subnet">
            <a:extLst xmlns:a="http://schemas.openxmlformats.org/drawingml/2006/main">
              <a:ext uri="{FF2B5EF4-FFF2-40B4-BE49-F238E27FC236}">
                <a16:creationId xmlns:a16="http://schemas.microsoft.com/office/drawing/2014/main" id="{A0249405-EA3E-4DBD-BF8F-23D5FC7F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505450"/>
            <a:ext cx="584835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9E2F3"/>
            </a:solidFill>
            <a:prstDash val="solid"/>
          </a:ln>
        </p:spPr>
      </p:sp>
      <p:sp>
        <p:nvSpPr>
          <p:cNvPr id="59" name="client-head">
            <a:extLst xmlns:a="http://schemas.openxmlformats.org/drawingml/2006/main">
              <a:ext uri="{FF2B5EF4-FFF2-40B4-BE49-F238E27FC236}">
                <a16:creationId xmlns:a16="http://schemas.microsoft.com/office/drawing/2014/main" id="{5FE994F4-EA89-47FC-9FAE-987C42C1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57850"/>
            <a:ext cx="3238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F4E79"/>
          </a:solidFill>
          <a:ln xmlns:a="http://schemas.openxmlformats.org/drawingml/2006/main" w="11906">
            <a:solidFill>
              <a:srgbClr val="1F4E79"/>
            </a:solidFill>
            <a:prstDash val="solid"/>
          </a:ln>
        </p:spPr>
      </p:sp>
      <p:sp>
        <p:nvSpPr>
          <p:cNvPr id="60" name="client-head-text">
            <a:extLst xmlns:a="http://schemas.openxmlformats.org/drawingml/2006/main">
              <a:ext uri="{FF2B5EF4-FFF2-40B4-BE49-F238E27FC236}">
                <a16:creationId xmlns:a16="http://schemas.microsoft.com/office/drawing/2014/main" id="{6B524CDE-0C35-47FF-9A94-70CA2F65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34050"/>
            <a:ext cx="3009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VLAN03 / Client・OA Subnet  10.100.30.0/24</a:t>
            </a:r>
          </a:p>
        </p:txBody>
      </p:sp>
      <p:sp>
        <p:nvSpPr>
          <p:cNvPr id="61" name="win11">
            <a:extLst xmlns:a="http://schemas.openxmlformats.org/drawingml/2006/main">
              <a:ext uri="{FF2B5EF4-FFF2-40B4-BE49-F238E27FC236}">
                <a16:creationId xmlns:a16="http://schemas.microsoft.com/office/drawing/2014/main" id="{F2101E9A-F8D8-45D6-B634-AE775E65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6153150"/>
            <a:ext cx="152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62" name="win11-title">
            <a:extLst xmlns:a="http://schemas.openxmlformats.org/drawingml/2006/main">
              <a:ext uri="{FF2B5EF4-FFF2-40B4-BE49-F238E27FC236}">
                <a16:creationId xmlns:a16="http://schemas.microsoft.com/office/drawing/2014/main" id="{09D357ED-B69C-44D4-946F-C17B2F9E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2484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5911"/>
                </a:solidFill>
              </a:defRPr>
            </a:pPr>
            <a:r>
              <a:rPr sz="1350" b="1">
                <a:solidFill>
                  <a:srgbClr val="C65911"/>
                </a:solidFill>
              </a:rPr>
              <a:t>Windows 11</a:t>
            </a:r>
          </a:p>
        </p:txBody>
      </p:sp>
      <p:sp>
        <p:nvSpPr>
          <p:cNvPr id="63" name="win11-body">
            <a:extLst xmlns:a="http://schemas.openxmlformats.org/drawingml/2006/main">
              <a:ext uri="{FF2B5EF4-FFF2-40B4-BE49-F238E27FC236}">
                <a16:creationId xmlns:a16="http://schemas.microsoft.com/office/drawing/2014/main" id="{0A42A447-145A-402B-8A88-E3E3BC268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5151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</a:defRPr>
            </a:pPr>
            <a:r>
              <a:rPr sz="900" b="0">
                <a:solidFill>
                  <a:srgbClr val="1F2933"/>
                </a:solidFill>
              </a:rPr>
              <a:t>Credential-less / ACC</a:t>
            </a:r>
          </a:p>
          <a:p xmlns:a="http://schemas.openxmlformats.org/drawingml/2006/main">
            <a:pPr algn="ctr">
              <a:defRPr sz="900" b="0">
                <a:solidFill>
                  <a:srgbClr val="1F2933"/>
                </a:solidFill>
              </a:defRPr>
            </a:pPr>
            <a:r>
              <a:rPr sz="900" b="0">
                <a:solidFill>
                  <a:srgbClr val="1F2933"/>
                </a:solidFill>
              </a:rPr>
              <a:t>OA_group</a:t>
            </a:r>
          </a:p>
        </p:txBody>
      </p:sp>
      <p:sp>
        <p:nvSpPr>
          <p:cNvPr id="64" name="tag-Tag: OA_group-386-718">
            <a:extLst xmlns:a="http://schemas.openxmlformats.org/drawingml/2006/main">
              <a:ext uri="{FF2B5EF4-FFF2-40B4-BE49-F238E27FC236}">
                <a16:creationId xmlns:a16="http://schemas.microsoft.com/office/drawing/2014/main" id="{70DD4961-6F5E-4826-BEAA-FBFD8CED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838950"/>
            <a:ext cx="1000125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65" name="tag-text-Tag: OA_group-386-718">
            <a:extLst xmlns:a="http://schemas.openxmlformats.org/drawingml/2006/main">
              <a:ext uri="{FF2B5EF4-FFF2-40B4-BE49-F238E27FC236}">
                <a16:creationId xmlns:a16="http://schemas.microsoft.com/office/drawing/2014/main" id="{0A529705-4D0A-4F8A-99D2-104E1B179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877050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OA_group</a:t>
            </a:r>
          </a:p>
        </p:txBody>
      </p:sp>
      <p:sp>
        <p:nvSpPr>
          <p:cNvPr id="66" name="tag-Tag: GAM_Service-496-718">
            <a:extLst xmlns:a="http://schemas.openxmlformats.org/drawingml/2006/main">
              <a:ext uri="{FF2B5EF4-FFF2-40B4-BE49-F238E27FC236}">
                <a16:creationId xmlns:a16="http://schemas.microsoft.com/office/drawing/2014/main" id="{2B4C9260-59DB-43E5-968D-6594E64B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6838950"/>
            <a:ext cx="12001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67" name="tag-text-Tag: GAM_Service-496-718">
            <a:extLst xmlns:a="http://schemas.openxmlformats.org/drawingml/2006/main">
              <a:ext uri="{FF2B5EF4-FFF2-40B4-BE49-F238E27FC236}">
                <a16:creationId xmlns:a16="http://schemas.microsoft.com/office/drawing/2014/main" id="{67B9F854-7B8B-4576-A7B9-74BEA3C3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8770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GAM_Service</a:t>
            </a:r>
          </a:p>
        </p:txBody>
      </p:sp>
      <p:sp>
        <p:nvSpPr>
          <p:cNvPr id="68" name="ubuntu">
            <a:extLst xmlns:a="http://schemas.openxmlformats.org/drawingml/2006/main">
              <a:ext uri="{FF2B5EF4-FFF2-40B4-BE49-F238E27FC236}">
                <a16:creationId xmlns:a16="http://schemas.microsoft.com/office/drawing/2014/main" id="{435D059A-7917-4C92-928A-0DE08A91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53150"/>
            <a:ext cx="15240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69" name="ubuntu-title">
            <a:extLst xmlns:a="http://schemas.openxmlformats.org/drawingml/2006/main">
              <a:ext uri="{FF2B5EF4-FFF2-40B4-BE49-F238E27FC236}">
                <a16:creationId xmlns:a16="http://schemas.microsoft.com/office/drawing/2014/main" id="{4D0C6DB3-2199-40C3-808E-B54CB880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24840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65911"/>
                </a:solidFill>
              </a:defRPr>
            </a:pPr>
            <a:r>
              <a:rPr sz="1350" b="1">
                <a:solidFill>
                  <a:srgbClr val="C65911"/>
                </a:solidFill>
              </a:rPr>
              <a:t>Ubuntu / Linux</a:t>
            </a:r>
          </a:p>
        </p:txBody>
      </p:sp>
      <p:sp>
        <p:nvSpPr>
          <p:cNvPr id="70" name="ubuntu-body">
            <a:extLst xmlns:a="http://schemas.openxmlformats.org/drawingml/2006/main">
              <a:ext uri="{FF2B5EF4-FFF2-40B4-BE49-F238E27FC236}">
                <a16:creationId xmlns:a16="http://schemas.microsoft.com/office/drawing/2014/main" id="{67CEACA1-4BA6-4767-988A-8BBDFC3D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5151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F2933"/>
                </a:solidFill>
              </a:defRPr>
            </a:pPr>
            <a:r>
              <a:rPr sz="900" b="0">
                <a:solidFill>
                  <a:srgbClr val="1F2933"/>
                </a:solidFill>
              </a:rPr>
              <a:t>Credential-less / ACC</a:t>
            </a:r>
          </a:p>
          <a:p xmlns:a="http://schemas.openxmlformats.org/drawingml/2006/main">
            <a:pPr algn="ctr">
              <a:defRPr sz="900" b="0">
                <a:solidFill>
                  <a:srgbClr val="1F2933"/>
                </a:solidFill>
              </a:defRPr>
            </a:pPr>
            <a:r>
              <a:rPr sz="900" b="0">
                <a:solidFill>
                  <a:srgbClr val="1F2933"/>
                </a:solidFill>
              </a:rPr>
              <a:t>OA_group</a:t>
            </a:r>
          </a:p>
        </p:txBody>
      </p:sp>
      <p:sp>
        <p:nvSpPr>
          <p:cNvPr id="71" name="tag-Tag: OA_group-652-718">
            <a:extLst xmlns:a="http://schemas.openxmlformats.org/drawingml/2006/main">
              <a:ext uri="{FF2B5EF4-FFF2-40B4-BE49-F238E27FC236}">
                <a16:creationId xmlns:a16="http://schemas.microsoft.com/office/drawing/2014/main" id="{59C296BB-7EAF-47F6-8D81-41755B01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838950"/>
            <a:ext cx="1000125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72" name="tag-text-Tag: OA_group-652-718">
            <a:extLst xmlns:a="http://schemas.openxmlformats.org/drawingml/2006/main">
              <a:ext uri="{FF2B5EF4-FFF2-40B4-BE49-F238E27FC236}">
                <a16:creationId xmlns:a16="http://schemas.microsoft.com/office/drawing/2014/main" id="{66466F13-90FD-41DE-A2E7-1961CE7B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877050"/>
            <a:ext cx="8858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OA_group</a:t>
            </a:r>
          </a:p>
        </p:txBody>
      </p:sp>
      <p:sp>
        <p:nvSpPr>
          <p:cNvPr id="73" name="tag-Tag: GAM_Service-762-718">
            <a:extLst xmlns:a="http://schemas.openxmlformats.org/drawingml/2006/main">
              <a:ext uri="{FF2B5EF4-FFF2-40B4-BE49-F238E27FC236}">
                <a16:creationId xmlns:a16="http://schemas.microsoft.com/office/drawing/2014/main" id="{ED96B0EB-C5C3-4A88-ADE6-B1DCF95A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838950"/>
            <a:ext cx="1200150" cy="228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74" name="tag-text-Tag: GAM_Service-762-718">
            <a:extLst xmlns:a="http://schemas.openxmlformats.org/drawingml/2006/main">
              <a:ext uri="{FF2B5EF4-FFF2-40B4-BE49-F238E27FC236}">
                <a16:creationId xmlns:a16="http://schemas.microsoft.com/office/drawing/2014/main" id="{BFBCC4CC-AD92-4214-BB76-3A3D7FC2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6877050"/>
            <a:ext cx="1085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548235"/>
                </a:solidFill>
              </a:defRPr>
            </a:pPr>
            <a:r>
              <a:rPr sz="788" b="1">
                <a:solidFill>
                  <a:srgbClr val="548235"/>
                </a:solidFill>
              </a:rPr>
              <a:t>Tag: GAM_Service</a:t>
            </a:r>
          </a:p>
        </p:txBody>
      </p:sp>
      <p:sp>
        <p:nvSpPr>
          <p:cNvPr id="75" name="acc-pill">
            <a:extLst xmlns:a="http://schemas.openxmlformats.org/drawingml/2006/main">
              <a:ext uri="{FF2B5EF4-FFF2-40B4-BE49-F238E27FC236}">
                <a16:creationId xmlns:a16="http://schemas.microsoft.com/office/drawing/2014/main" id="{181D24E7-E3F7-46E6-8870-D1EEEC54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695950"/>
            <a:ext cx="2238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F0D9"/>
          </a:solidFill>
          <a:ln xmlns:a="http://schemas.openxmlformats.org/drawingml/2006/main" w="11906">
            <a:solidFill>
              <a:srgbClr val="E2F0D9"/>
            </a:solidFill>
            <a:prstDash val="solid"/>
          </a:ln>
        </p:spPr>
      </p:sp>
      <p:sp>
        <p:nvSpPr>
          <p:cNvPr id="76" name="acc-pill-text">
            <a:extLst xmlns:a="http://schemas.openxmlformats.org/drawingml/2006/main">
              <a:ext uri="{FF2B5EF4-FFF2-40B4-BE49-F238E27FC236}">
                <a16:creationId xmlns:a16="http://schemas.microsoft.com/office/drawing/2014/main" id="{568D69D6-B21D-430E-85FD-5526EE39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53100"/>
            <a:ext cx="21240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48235"/>
                </a:solidFill>
              </a:defRPr>
            </a:pPr>
            <a:r>
              <a:rPr sz="825" b="1">
                <a:solidFill>
                  <a:srgbClr val="548235"/>
                </a:solidFill>
              </a:rPr>
              <a:t>ACC 有/无对比：Windows / Linux</a:t>
            </a:r>
          </a:p>
        </p:txBody>
      </p:sp>
      <p:sp>
        <p:nvSpPr>
          <p:cNvPr id="77" name="mid-server-disc-0">
            <a:extLst xmlns:a="http://schemas.openxmlformats.org/drawingml/2006/main">
              <a:ext uri="{FF2B5EF4-FFF2-40B4-BE49-F238E27FC236}">
                <a16:creationId xmlns:a16="http://schemas.microsoft.com/office/drawing/2014/main" id="{3E08CE7E-7D76-409F-9CF3-23739127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3844" y="2952750"/>
            <a:ext cx="23813" cy="1485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78" name="mid-server-disc-1">
            <a:extLst xmlns:a="http://schemas.openxmlformats.org/drawingml/2006/main">
              <a:ext uri="{FF2B5EF4-FFF2-40B4-BE49-F238E27FC236}">
                <a16:creationId xmlns:a16="http://schemas.microsoft.com/office/drawing/2014/main" id="{1F0BC6D9-3E8D-4E1E-B747-EBC4F3B3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26744"/>
            <a:ext cx="161925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79" name="cred-label">
            <a:extLst xmlns:a="http://schemas.openxmlformats.org/drawingml/2006/main">
              <a:ext uri="{FF2B5EF4-FFF2-40B4-BE49-F238E27FC236}">
                <a16:creationId xmlns:a16="http://schemas.microsoft.com/office/drawing/2014/main" id="{0B455A10-7A19-4ED1-A2D8-DCC984E3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290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48235"/>
                </a:solidFill>
              </a:defRPr>
            </a:pPr>
            <a:r>
              <a:rPr sz="863" b="0">
                <a:solidFill>
                  <a:srgbClr val="548235"/>
                </a:solidFill>
              </a:rPr>
              <a:t>④ Credentialed / Horizontal</a:t>
            </a:r>
          </a:p>
          <a:p xmlns:a="http://schemas.openxmlformats.org/drawingml/2006/main">
            <a:pPr algn="ctr">
              <a:defRPr sz="863" b="0">
                <a:solidFill>
                  <a:srgbClr val="548235"/>
                </a:solidFill>
              </a:defRPr>
            </a:pPr>
            <a:r>
              <a:rPr sz="863" b="0">
                <a:solidFill>
                  <a:srgbClr val="548235"/>
                </a:solidFill>
              </a:rPr>
              <a:t>Windows・Linux</a:t>
            </a:r>
          </a:p>
        </p:txBody>
      </p:sp>
      <p:sp>
        <p:nvSpPr>
          <p:cNvPr id="80" name="mid-client-disc-0">
            <a:extLst xmlns:a="http://schemas.openxmlformats.org/drawingml/2006/main">
              <a:ext uri="{FF2B5EF4-FFF2-40B4-BE49-F238E27FC236}">
                <a16:creationId xmlns:a16="http://schemas.microsoft.com/office/drawing/2014/main" id="{0CFBB681-D2B1-40C1-9C48-AEEF8028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40844"/>
            <a:ext cx="49530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81" name="mid-client-disc-1">
            <a:extLst xmlns:a="http://schemas.openxmlformats.org/drawingml/2006/main">
              <a:ext uri="{FF2B5EF4-FFF2-40B4-BE49-F238E27FC236}">
                <a16:creationId xmlns:a16="http://schemas.microsoft.com/office/drawing/2014/main" id="{167829DC-5EB9-4508-9457-59DA7122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344" y="2952750"/>
            <a:ext cx="23813" cy="3409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82" name="mid-client-disc-2">
            <a:extLst xmlns:a="http://schemas.openxmlformats.org/drawingml/2006/main">
              <a:ext uri="{FF2B5EF4-FFF2-40B4-BE49-F238E27FC236}">
                <a16:creationId xmlns:a16="http://schemas.microsoft.com/office/drawing/2014/main" id="{0200135E-01F5-4E89-AA91-9C1DA403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350794"/>
            <a:ext cx="17145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5911"/>
          </a:solidFill>
          <a:ln xmlns:a="http://schemas.openxmlformats.org/drawingml/2006/main" w="11906">
            <a:solidFill>
              <a:srgbClr val="C65911"/>
            </a:solidFill>
            <a:prstDash val="solid"/>
          </a:ln>
        </p:spPr>
      </p:sp>
      <p:sp>
        <p:nvSpPr>
          <p:cNvPr id="83" name="credless-label">
            <a:extLst xmlns:a="http://schemas.openxmlformats.org/drawingml/2006/main">
              <a:ext uri="{FF2B5EF4-FFF2-40B4-BE49-F238E27FC236}">
                <a16:creationId xmlns:a16="http://schemas.microsoft.com/office/drawing/2014/main" id="{71A0EAD8-763B-4462-8324-4FCC5E23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5300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C65911"/>
                </a:solidFill>
              </a:defRPr>
            </a:pPr>
            <a:r>
              <a:rPr sz="863" b="0">
                <a:solidFill>
                  <a:srgbClr val="C65911"/>
                </a:solidFill>
              </a:rPr>
              <a:t>⑤ Credential-less</a:t>
            </a:r>
          </a:p>
          <a:p xmlns:a="http://schemas.openxmlformats.org/drawingml/2006/main">
            <a:pPr algn="ctr">
              <a:defRPr sz="863" b="0">
                <a:solidFill>
                  <a:srgbClr val="C65911"/>
                </a:solidFill>
              </a:defRPr>
            </a:pPr>
            <a:r>
              <a:rPr sz="863" b="0">
                <a:solidFill>
                  <a:srgbClr val="C65911"/>
                </a:solidFill>
              </a:rPr>
              <a:t>IP Range / Nmap</a:t>
            </a:r>
          </a:p>
        </p:txBody>
      </p:sp>
      <p:sp>
        <p:nvSpPr>
          <p:cNvPr id="84" name="sm-line-0">
            <a:extLst xmlns:a="http://schemas.openxmlformats.org/drawingml/2006/main">
              <a:ext uri="{FF2B5EF4-FFF2-40B4-BE49-F238E27FC236}">
                <a16:creationId xmlns:a16="http://schemas.microsoft.com/office/drawing/2014/main" id="{B06460C1-6DB6-43A6-860D-E722C160F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44" y="4095750"/>
            <a:ext cx="23813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30A0"/>
          </a:solidFill>
          <a:ln xmlns:a="http://schemas.openxmlformats.org/drawingml/2006/main" w="11906">
            <a:solidFill>
              <a:srgbClr val="7030A0"/>
            </a:solidFill>
            <a:prstDash val="solid"/>
          </a:ln>
        </p:spPr>
      </p:sp>
      <p:sp>
        <p:nvSpPr>
          <p:cNvPr id="85" name="sm-line-1">
            <a:extLst xmlns:a="http://schemas.openxmlformats.org/drawingml/2006/main">
              <a:ext uri="{FF2B5EF4-FFF2-40B4-BE49-F238E27FC236}">
                <a16:creationId xmlns:a16="http://schemas.microsoft.com/office/drawing/2014/main" id="{00D8CC8B-D35E-454A-BD7C-FC3DA90D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83844"/>
            <a:ext cx="742950" cy="238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30A0"/>
          </a:solidFill>
          <a:ln xmlns:a="http://schemas.openxmlformats.org/drawingml/2006/main" w="11906">
            <a:solidFill>
              <a:srgbClr val="7030A0"/>
            </a:solidFill>
            <a:prstDash val="solid"/>
          </a:ln>
        </p:spPr>
      </p:sp>
      <p:sp>
        <p:nvSpPr>
          <p:cNvPr id="86" name="sm-line-2">
            <a:extLst xmlns:a="http://schemas.openxmlformats.org/drawingml/2006/main">
              <a:ext uri="{FF2B5EF4-FFF2-40B4-BE49-F238E27FC236}">
                <a16:creationId xmlns:a16="http://schemas.microsoft.com/office/drawing/2014/main" id="{AF116C67-9880-4F97-A732-B7D42F305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794" y="4095750"/>
            <a:ext cx="23813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30A0"/>
          </a:solidFill>
          <a:ln xmlns:a="http://schemas.openxmlformats.org/drawingml/2006/main" w="11906">
            <a:solidFill>
              <a:srgbClr val="7030A0"/>
            </a:solidFill>
            <a:prstDash val="solid"/>
          </a:ln>
        </p:spPr>
      </p:sp>
      <p:sp>
        <p:nvSpPr>
          <p:cNvPr id="87" name="sm-label">
            <a:extLst xmlns:a="http://schemas.openxmlformats.org/drawingml/2006/main">
              <a:ext uri="{FF2B5EF4-FFF2-40B4-BE49-F238E27FC236}">
                <a16:creationId xmlns:a16="http://schemas.microsoft.com/office/drawing/2014/main" id="{CDA2CE37-7F5D-4012-8444-9AAB64A7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324350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7030A0"/>
                </a:solidFill>
              </a:defRPr>
            </a:pPr>
            <a:r>
              <a:rPr sz="863" b="0">
                <a:solidFill>
                  <a:srgbClr val="7030A0"/>
                </a:solidFill>
              </a:rPr>
              <a:t>⑥ Top-down</a:t>
            </a:r>
          </a:p>
          <a:p xmlns:a="http://schemas.openxmlformats.org/drawingml/2006/main">
            <a:pPr algn="ctr">
              <a:defRPr sz="863" b="0">
                <a:solidFill>
                  <a:srgbClr val="7030A0"/>
                </a:solidFill>
              </a:defRPr>
            </a:pPr>
            <a:r>
              <a:rPr sz="863" b="0">
                <a:solidFill>
                  <a:srgbClr val="7030A0"/>
                </a:solidFill>
              </a:rPr>
              <a:t>Entry Point</a:t>
            </a:r>
          </a:p>
        </p:txBody>
      </p:sp>
      <p:sp>
        <p:nvSpPr>
          <p:cNvPr id="88" name="acc-line-0">
            <a:extLst xmlns:a="http://schemas.openxmlformats.org/drawingml/2006/main">
              <a:ext uri="{FF2B5EF4-FFF2-40B4-BE49-F238E27FC236}">
                <a16:creationId xmlns:a16="http://schemas.microsoft.com/office/drawing/2014/main" id="{0F9B6005-54C1-4757-AD79-B3A0E14E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6477000"/>
            <a:ext cx="4381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89" name="acc-line-1">
            <a:extLst xmlns:a="http://schemas.openxmlformats.org/drawingml/2006/main">
              <a:ext uri="{FF2B5EF4-FFF2-40B4-BE49-F238E27FC236}">
                <a16:creationId xmlns:a16="http://schemas.microsoft.com/office/drawing/2014/main" id="{6A900AE2-B395-4341-94AB-F35DB9A0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486525"/>
            <a:ext cx="19050" cy="695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90" name="acc-line-2">
            <a:extLst xmlns:a="http://schemas.openxmlformats.org/drawingml/2006/main">
              <a:ext uri="{FF2B5EF4-FFF2-40B4-BE49-F238E27FC236}">
                <a16:creationId xmlns:a16="http://schemas.microsoft.com/office/drawing/2014/main" id="{020C2033-A4E2-4080-8AA5-1010A940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7172325"/>
            <a:ext cx="255270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91" name="acc-line-3">
            <a:extLst xmlns:a="http://schemas.openxmlformats.org/drawingml/2006/main">
              <a:ext uri="{FF2B5EF4-FFF2-40B4-BE49-F238E27FC236}">
                <a16:creationId xmlns:a16="http://schemas.microsoft.com/office/drawing/2014/main" id="{25962452-EDC8-4E3E-9A1E-173A6BC8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952750"/>
            <a:ext cx="19050" cy="422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8235"/>
          </a:solidFill>
          <a:ln xmlns:a="http://schemas.openxmlformats.org/drawingml/2006/main" w="11906">
            <a:solidFill>
              <a:srgbClr val="548235"/>
            </a:solidFill>
            <a:prstDash val="solid"/>
          </a:ln>
        </p:spPr>
      </p:sp>
      <p:sp>
        <p:nvSpPr>
          <p:cNvPr id="92" name="acc-label">
            <a:extLst xmlns:a="http://schemas.openxmlformats.org/drawingml/2006/main">
              <a:ext uri="{FF2B5EF4-FFF2-40B4-BE49-F238E27FC236}">
                <a16:creationId xmlns:a16="http://schemas.microsoft.com/office/drawing/2014/main" id="{D4A42827-A9D9-4E1A-9E1B-6292A7B2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7086600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548235"/>
                </a:solidFill>
              </a:defRPr>
            </a:pPr>
            <a:r>
              <a:rPr sz="863" b="0">
                <a:solidFill>
                  <a:srgbClr val="548235"/>
                </a:solidFill>
              </a:rPr>
              <a:t>⑦ ACC Agent</a:t>
            </a:r>
          </a:p>
          <a:p xmlns:a="http://schemas.openxmlformats.org/drawingml/2006/main">
            <a:pPr algn="ctr">
              <a:defRPr sz="863" b="0">
                <a:solidFill>
                  <a:srgbClr val="548235"/>
                </a:solidFill>
              </a:defRPr>
            </a:pPr>
            <a:r>
              <a:rPr sz="863" b="0">
                <a:solidFill>
                  <a:srgbClr val="548235"/>
                </a:solidFill>
              </a:rPr>
              <a:t>主机主动上报</a:t>
            </a:r>
          </a:p>
        </p:txBody>
      </p:sp>
      <p:sp>
        <p:nvSpPr>
          <p:cNvPr id="93" name="legend-panel">
            <a:extLst xmlns:a="http://schemas.openxmlformats.org/drawingml/2006/main">
              <a:ext uri="{FF2B5EF4-FFF2-40B4-BE49-F238E27FC236}">
                <a16:creationId xmlns:a16="http://schemas.microsoft.com/office/drawing/2014/main" id="{22E44996-42C9-4466-B120-906553A1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8700" y="1066800"/>
            <a:ext cx="2476500" cy="6572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9E2F3"/>
            </a:solidFill>
            <a:prstDash val="solid"/>
          </a:ln>
        </p:spPr>
      </p:sp>
      <p:sp>
        <p:nvSpPr>
          <p:cNvPr id="94" name="legend-title">
            <a:extLst xmlns:a="http://schemas.openxmlformats.org/drawingml/2006/main">
              <a:ext uri="{FF2B5EF4-FFF2-40B4-BE49-F238E27FC236}">
                <a16:creationId xmlns:a16="http://schemas.microsoft.com/office/drawing/2014/main" id="{D7C95EFA-A2B2-4DC3-8008-0E2A04BF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21920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395B"/>
                </a:solidFill>
              </a:defRPr>
            </a:pPr>
            <a:r>
              <a:rPr sz="1350" b="1">
                <a:solidFill>
                  <a:srgbClr val="12395B"/>
                </a:solidFill>
              </a:rPr>
              <a:t>客户橙色项 → 本图对应</a:t>
            </a:r>
          </a:p>
        </p:txBody>
      </p:sp>
      <p:sp>
        <p:nvSpPr>
          <p:cNvPr id="95" name="legend-Windows">
            <a:extLst xmlns:a="http://schemas.openxmlformats.org/drawingml/2006/main">
              <a:ext uri="{FF2B5EF4-FFF2-40B4-BE49-F238E27FC236}">
                <a16:creationId xmlns:a16="http://schemas.microsoft.com/office/drawing/2014/main" id="{488B43AD-1133-41E2-B828-66898E8D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6764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FCE4D6"/>
            </a:solidFill>
            <a:prstDash val="solid"/>
          </a:ln>
        </p:spPr>
      </p:sp>
      <p:sp>
        <p:nvSpPr>
          <p:cNvPr id="96" name="legend-Windows-text">
            <a:extLst xmlns:a="http://schemas.openxmlformats.org/drawingml/2006/main">
              <a:ext uri="{FF2B5EF4-FFF2-40B4-BE49-F238E27FC236}">
                <a16:creationId xmlns:a16="http://schemas.microsoft.com/office/drawing/2014/main" id="{A1ECCD4A-E362-4368-9BDD-D84CA1BB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17335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Windows</a:t>
            </a:r>
          </a:p>
        </p:txBody>
      </p:sp>
      <p:sp>
        <p:nvSpPr>
          <p:cNvPr id="97" name="legend-Windows-v">
            <a:extLst xmlns:a="http://schemas.openxmlformats.org/drawingml/2006/main">
              <a:ext uri="{FF2B5EF4-FFF2-40B4-BE49-F238E27FC236}">
                <a16:creationId xmlns:a16="http://schemas.microsoft.com/office/drawing/2014/main" id="{CDFEB024-1F12-4937-B094-8063BF4B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17145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</a:defRPr>
            </a:pPr>
            <a:r>
              <a:rPr sz="840" b="0">
                <a:solidFill>
                  <a:srgbClr val="1F2933"/>
                </a:solidFill>
              </a:rPr>
              <a:t>Windows Server / Windows 11</a:t>
            </a:r>
          </a:p>
        </p:txBody>
      </p:sp>
      <p:sp>
        <p:nvSpPr>
          <p:cNvPr id="98" name="legend-Linux">
            <a:extLst xmlns:a="http://schemas.openxmlformats.org/drawingml/2006/main">
              <a:ext uri="{FF2B5EF4-FFF2-40B4-BE49-F238E27FC236}">
                <a16:creationId xmlns:a16="http://schemas.microsoft.com/office/drawing/2014/main" id="{6158A6FA-0DB2-4669-8E45-B92F6EF0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1717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FCE4D6"/>
            </a:solidFill>
            <a:prstDash val="solid"/>
          </a:ln>
        </p:spPr>
      </p:sp>
      <p:sp>
        <p:nvSpPr>
          <p:cNvPr id="99" name="legend-Linux-text">
            <a:extLst xmlns:a="http://schemas.openxmlformats.org/drawingml/2006/main">
              <a:ext uri="{FF2B5EF4-FFF2-40B4-BE49-F238E27FC236}">
                <a16:creationId xmlns:a16="http://schemas.microsoft.com/office/drawing/2014/main" id="{9E878053-6ADF-4414-A362-614F02DC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22288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Linux</a:t>
            </a:r>
          </a:p>
        </p:txBody>
      </p:sp>
      <p:sp>
        <p:nvSpPr>
          <p:cNvPr id="100" name="legend-Linux-v">
            <a:extLst xmlns:a="http://schemas.openxmlformats.org/drawingml/2006/main">
              <a:ext uri="{FF2B5EF4-FFF2-40B4-BE49-F238E27FC236}">
                <a16:creationId xmlns:a16="http://schemas.microsoft.com/office/drawing/2014/main" id="{3E84EF73-8EEF-4226-8765-E7B9996D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209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</a:defRPr>
            </a:pPr>
            <a:r>
              <a:rPr sz="840" b="0">
                <a:solidFill>
                  <a:srgbClr val="1F2933"/>
                </a:solidFill>
              </a:rPr>
              <a:t>RedHat / Ubuntu</a:t>
            </a:r>
          </a:p>
        </p:txBody>
      </p:sp>
      <p:sp>
        <p:nvSpPr>
          <p:cNvPr id="101" name="legend-NW(PaloAlto)">
            <a:extLst xmlns:a="http://schemas.openxmlformats.org/drawingml/2006/main">
              <a:ext uri="{FF2B5EF4-FFF2-40B4-BE49-F238E27FC236}">
                <a16:creationId xmlns:a16="http://schemas.microsoft.com/office/drawing/2014/main" id="{A3C83B8F-A421-4A8C-A209-87C62267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26670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FCE4D6"/>
            </a:solidFill>
            <a:prstDash val="solid"/>
          </a:ln>
        </p:spPr>
      </p:sp>
      <p:sp>
        <p:nvSpPr>
          <p:cNvPr id="102" name="legend-NW(PaloAlto)-text">
            <a:extLst xmlns:a="http://schemas.openxmlformats.org/drawingml/2006/main">
              <a:ext uri="{FF2B5EF4-FFF2-40B4-BE49-F238E27FC236}">
                <a16:creationId xmlns:a16="http://schemas.microsoft.com/office/drawing/2014/main" id="{5035B743-0E65-4CF8-85FD-4B6D8EF2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27241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NW(PaloAlto)</a:t>
            </a:r>
          </a:p>
        </p:txBody>
      </p:sp>
      <p:sp>
        <p:nvSpPr>
          <p:cNvPr id="103" name="legend-NW(PaloAlto)-v">
            <a:extLst xmlns:a="http://schemas.openxmlformats.org/drawingml/2006/main">
              <a:ext uri="{FF2B5EF4-FFF2-40B4-BE49-F238E27FC236}">
                <a16:creationId xmlns:a16="http://schemas.microsoft.com/office/drawing/2014/main" id="{30117F11-61AB-4A58-8BB6-D27FA1D8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27051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</a:defRPr>
            </a:pPr>
            <a:r>
              <a:rPr sz="840" b="0">
                <a:solidFill>
                  <a:srgbClr val="1F2933"/>
                </a:solidFill>
              </a:rPr>
              <a:t>Palo Alto SNMPv2</a:t>
            </a:r>
          </a:p>
        </p:txBody>
      </p:sp>
      <p:sp>
        <p:nvSpPr>
          <p:cNvPr id="104" name="legend-NW(FortiGate)">
            <a:extLst xmlns:a="http://schemas.openxmlformats.org/drawingml/2006/main">
              <a:ext uri="{FF2B5EF4-FFF2-40B4-BE49-F238E27FC236}">
                <a16:creationId xmlns:a16="http://schemas.microsoft.com/office/drawing/2014/main" id="{FAA01EC4-2996-40A1-B6EB-95CC2CE6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1623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FCE4D6"/>
            </a:solidFill>
            <a:prstDash val="solid"/>
          </a:ln>
        </p:spPr>
      </p:sp>
      <p:sp>
        <p:nvSpPr>
          <p:cNvPr id="105" name="legend-NW(FortiGate)-text">
            <a:extLst xmlns:a="http://schemas.openxmlformats.org/drawingml/2006/main">
              <a:ext uri="{FF2B5EF4-FFF2-40B4-BE49-F238E27FC236}">
                <a16:creationId xmlns:a16="http://schemas.microsoft.com/office/drawing/2014/main" id="{7E25ED23-1B1F-47AE-99C2-256340F1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2194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NW(FortiGate)</a:t>
            </a:r>
          </a:p>
        </p:txBody>
      </p:sp>
      <p:sp>
        <p:nvSpPr>
          <p:cNvPr id="106" name="legend-NW(FortiGate)-v">
            <a:extLst xmlns:a="http://schemas.openxmlformats.org/drawingml/2006/main">
              <a:ext uri="{FF2B5EF4-FFF2-40B4-BE49-F238E27FC236}">
                <a16:creationId xmlns:a16="http://schemas.microsoft.com/office/drawing/2014/main" id="{0C92EA8E-8DA0-4BCA-A3FE-7AF00F0F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2004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</a:defRPr>
            </a:pPr>
            <a:r>
              <a:rPr sz="840" b="0">
                <a:solidFill>
                  <a:srgbClr val="1F2933"/>
                </a:solidFill>
              </a:rPr>
              <a:t>FortiGate SNMPv2</a:t>
            </a:r>
          </a:p>
        </p:txBody>
      </p:sp>
      <p:sp>
        <p:nvSpPr>
          <p:cNvPr id="107" name="legend-Azure">
            <a:extLst xmlns:a="http://schemas.openxmlformats.org/drawingml/2006/main">
              <a:ext uri="{FF2B5EF4-FFF2-40B4-BE49-F238E27FC236}">
                <a16:creationId xmlns:a16="http://schemas.microsoft.com/office/drawing/2014/main" id="{153EDBC1-5116-45E0-9E23-7A7742E3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36576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FCE4D6"/>
            </a:solidFill>
            <a:prstDash val="solid"/>
          </a:ln>
        </p:spPr>
      </p:sp>
      <p:sp>
        <p:nvSpPr>
          <p:cNvPr id="108" name="legend-Azure-text">
            <a:extLst xmlns:a="http://schemas.openxmlformats.org/drawingml/2006/main">
              <a:ext uri="{FF2B5EF4-FFF2-40B4-BE49-F238E27FC236}">
                <a16:creationId xmlns:a16="http://schemas.microsoft.com/office/drawing/2014/main" id="{EC579FE7-4D99-4FC4-B143-4B249D9B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37147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Azure</a:t>
            </a:r>
          </a:p>
        </p:txBody>
      </p:sp>
      <p:sp>
        <p:nvSpPr>
          <p:cNvPr id="109" name="legend-Azure-v">
            <a:extLst xmlns:a="http://schemas.openxmlformats.org/drawingml/2006/main">
              <a:ext uri="{FF2B5EF4-FFF2-40B4-BE49-F238E27FC236}">
                <a16:creationId xmlns:a16="http://schemas.microsoft.com/office/drawing/2014/main" id="{8FBA1D40-64E4-4BE1-A2F0-7DDE8945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36957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</a:defRPr>
            </a:pPr>
            <a:r>
              <a:rPr sz="840" b="0">
                <a:solidFill>
                  <a:srgbClr val="1F2933"/>
                </a:solidFill>
              </a:rPr>
              <a:t>Azure Cloud Discovery</a:t>
            </a:r>
          </a:p>
        </p:txBody>
      </p:sp>
      <p:sp>
        <p:nvSpPr>
          <p:cNvPr id="110" name="legend-ACC">
            <a:extLst xmlns:a="http://schemas.openxmlformats.org/drawingml/2006/main">
              <a:ext uri="{FF2B5EF4-FFF2-40B4-BE49-F238E27FC236}">
                <a16:creationId xmlns:a16="http://schemas.microsoft.com/office/drawing/2014/main" id="{9FEEB419-766A-449E-B931-B0CC20D2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1529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4D6"/>
          </a:solidFill>
          <a:ln xmlns:a="http://schemas.openxmlformats.org/drawingml/2006/main" w="11906">
            <a:solidFill>
              <a:srgbClr val="FCE4D6"/>
            </a:solidFill>
            <a:prstDash val="solid"/>
          </a:ln>
        </p:spPr>
      </p:sp>
      <p:sp>
        <p:nvSpPr>
          <p:cNvPr id="111" name="legend-ACC-text">
            <a:extLst xmlns:a="http://schemas.openxmlformats.org/drawingml/2006/main">
              <a:ext uri="{FF2B5EF4-FFF2-40B4-BE49-F238E27FC236}">
                <a16:creationId xmlns:a16="http://schemas.microsoft.com/office/drawing/2014/main" id="{E0304BA0-B5C7-4B01-8325-2CC99F4F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42100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65911"/>
                </a:solidFill>
              </a:defRPr>
            </a:pPr>
            <a:r>
              <a:rPr sz="825" b="1">
                <a:solidFill>
                  <a:srgbClr val="C65911"/>
                </a:solidFill>
              </a:rPr>
              <a:t>ACC</a:t>
            </a:r>
          </a:p>
        </p:txBody>
      </p:sp>
      <p:sp>
        <p:nvSpPr>
          <p:cNvPr id="112" name="legend-ACC-v">
            <a:extLst xmlns:a="http://schemas.openxmlformats.org/drawingml/2006/main">
              <a:ext uri="{FF2B5EF4-FFF2-40B4-BE49-F238E27FC236}">
                <a16:creationId xmlns:a16="http://schemas.microsoft.com/office/drawing/2014/main" id="{3FB0B21F-C348-4866-8291-A5782529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191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F2933"/>
                </a:solidFill>
              </a:defRPr>
            </a:pPr>
            <a:r>
              <a:rPr sz="840" b="0">
                <a:solidFill>
                  <a:srgbClr val="1F2933"/>
                </a:solidFill>
              </a:rPr>
              <a:t>Windows / Linux Agent</a:t>
            </a:r>
          </a:p>
        </p:txBody>
      </p:sp>
      <p:sp>
        <p:nvSpPr>
          <p:cNvPr id="113" name="optional-title">
            <a:extLst xmlns:a="http://schemas.openxmlformats.org/drawingml/2006/main">
              <a:ext uri="{FF2B5EF4-FFF2-40B4-BE49-F238E27FC236}">
                <a16:creationId xmlns:a16="http://schemas.microsoft.com/office/drawing/2014/main" id="{9258C52D-2306-40DC-A807-3E0BBC50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49149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4748B"/>
                </a:solidFill>
              </a:defRPr>
            </a:pPr>
            <a:r>
              <a:rPr sz="1125" b="1">
                <a:solidFill>
                  <a:srgbClr val="64748B"/>
                </a:solidFill>
              </a:rPr>
              <a:t>今回は白/灰色扱い</a:t>
            </a:r>
          </a:p>
        </p:txBody>
      </p:sp>
      <p:sp>
        <p:nvSpPr>
          <p:cNvPr id="114" name="aws-pill">
            <a:extLst xmlns:a="http://schemas.openxmlformats.org/drawingml/2006/main">
              <a:ext uri="{FF2B5EF4-FFF2-40B4-BE49-F238E27FC236}">
                <a16:creationId xmlns:a16="http://schemas.microsoft.com/office/drawing/2014/main" id="{52B67C8B-1178-4A27-914F-795227BD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23875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906">
            <a:solidFill>
              <a:srgbClr val="F1F5F9"/>
            </a:solidFill>
            <a:prstDash val="solid"/>
          </a:ln>
        </p:spPr>
      </p:sp>
      <p:sp>
        <p:nvSpPr>
          <p:cNvPr id="115" name="aws-pill-text">
            <a:extLst xmlns:a="http://schemas.openxmlformats.org/drawingml/2006/main">
              <a:ext uri="{FF2B5EF4-FFF2-40B4-BE49-F238E27FC236}">
                <a16:creationId xmlns:a16="http://schemas.microsoft.com/office/drawing/2014/main" id="{352BCDF7-2E31-40EC-8417-327DFE92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29590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AWS</a:t>
            </a:r>
          </a:p>
        </p:txBody>
      </p:sp>
      <p:sp>
        <p:nvSpPr>
          <p:cNvPr id="116" name="aws-note">
            <a:extLst xmlns:a="http://schemas.openxmlformats.org/drawingml/2006/main">
              <a:ext uri="{FF2B5EF4-FFF2-40B4-BE49-F238E27FC236}">
                <a16:creationId xmlns:a16="http://schemas.microsoft.com/office/drawing/2014/main" id="{0019E55D-A12C-4292-9E28-0F601132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200650"/>
            <a:ext cx="1123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案Aでは Azure を優先。</a:t>
            </a:r>
          </a:p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AWS は追加要件時に拡張。</a:t>
            </a:r>
          </a:p>
        </p:txBody>
      </p:sp>
      <p:sp>
        <p:nvSpPr>
          <p:cNvPr id="117" name="nw-other-pill">
            <a:extLst xmlns:a="http://schemas.openxmlformats.org/drawingml/2006/main">
              <a:ext uri="{FF2B5EF4-FFF2-40B4-BE49-F238E27FC236}">
                <a16:creationId xmlns:a16="http://schemas.microsoft.com/office/drawing/2014/main" id="{0BC9D7AF-CF2A-4569-B3A8-25CCBF4A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5791200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11906">
            <a:solidFill>
              <a:srgbClr val="F1F5F9"/>
            </a:solidFill>
            <a:prstDash val="solid"/>
          </a:ln>
        </p:spPr>
      </p:sp>
      <p:sp>
        <p:nvSpPr>
          <p:cNvPr id="118" name="nw-other-pill-text">
            <a:extLst xmlns:a="http://schemas.openxmlformats.org/drawingml/2006/main">
              <a:ext uri="{FF2B5EF4-FFF2-40B4-BE49-F238E27FC236}">
                <a16:creationId xmlns:a16="http://schemas.microsoft.com/office/drawing/2014/main" id="{96B3E37B-C126-4F16-B348-3DBD264A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25400" y="5848350"/>
            <a:ext cx="876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NW(Others)</a:t>
            </a:r>
          </a:p>
        </p:txBody>
      </p:sp>
      <p:sp>
        <p:nvSpPr>
          <p:cNvPr id="119" name="nw-other-note">
            <a:extLst xmlns:a="http://schemas.openxmlformats.org/drawingml/2006/main">
              <a:ext uri="{FF2B5EF4-FFF2-40B4-BE49-F238E27FC236}">
                <a16:creationId xmlns:a16="http://schemas.microsoft.com/office/drawing/2014/main" id="{6FCB8CA8-C026-4ACE-A25A-64FE9E48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5734050"/>
            <a:ext cx="1123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Palo Alto / FortiGate 以外は</a:t>
            </a:r>
          </a:p>
          <a:p xmlns:a="http://schemas.openxmlformats.org/drawingml/2006/main">
            <a:pPr algn="l">
              <a:defRPr sz="825" b="0">
                <a:solidFill>
                  <a:srgbClr val="475569"/>
                </a:solidFill>
              </a:defRPr>
            </a:pPr>
            <a:r>
              <a:rPr sz="825" b="0">
                <a:solidFill>
                  <a:srgbClr val="475569"/>
                </a:solidFill>
              </a:rPr>
              <a:t>顧客要件があれば追加。</a:t>
            </a:r>
          </a:p>
        </p:txBody>
      </p:sp>
      <p:sp>
        <p:nvSpPr>
          <p:cNvPr id="120" name="scope-note-box">
            <a:extLst xmlns:a="http://schemas.openxmlformats.org/drawingml/2006/main">
              <a:ext uri="{FF2B5EF4-FFF2-40B4-BE49-F238E27FC236}">
                <a16:creationId xmlns:a16="http://schemas.microsoft.com/office/drawing/2014/main" id="{D3BEBC0A-7BCD-4ED9-A5DE-64819D3B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6629400"/>
            <a:ext cx="2095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2CC"/>
          </a:solidFill>
          <a:ln xmlns:a="http://schemas.openxmlformats.org/drawingml/2006/main" w="11906">
            <a:solidFill>
              <a:srgbClr val="D6B656"/>
            </a:solidFill>
            <a:prstDash val="solid"/>
          </a:ln>
        </p:spPr>
      </p:sp>
      <p:sp>
        <p:nvSpPr>
          <p:cNvPr id="121" name="scope-note">
            <a:extLst xmlns:a="http://schemas.openxmlformats.org/drawingml/2006/main">
              <a:ext uri="{FF2B5EF4-FFF2-40B4-BE49-F238E27FC236}">
                <a16:creationId xmlns:a16="http://schemas.microsoft.com/office/drawing/2014/main" id="{A88E4ABD-0238-448B-8F47-F32A0393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0" y="67437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F6000"/>
                </a:solidFill>
              </a:defRPr>
            </a:pPr>
            <a:r>
              <a:rPr sz="863" b="0">
                <a:solidFill>
                  <a:srgbClr val="7F6000"/>
                </a:solidFill>
              </a:rPr>
              <a:t>注意：案Aは「発見対象の検証」。</a:t>
            </a:r>
          </a:p>
          <a:p xmlns:a="http://schemas.openxmlformats.org/drawingml/2006/main">
            <a:pPr algn="l">
              <a:defRPr sz="863" b="0">
                <a:solidFill>
                  <a:srgbClr val="7F6000"/>
                </a:solidFill>
              </a:defRPr>
            </a:pPr>
            <a:r>
              <a:rPr sz="863" b="0">
                <a:solidFill>
                  <a:srgbClr val="7F6000"/>
                </a:solidFill>
              </a:rPr>
              <a:t>Discovery 流量を Palo Alto 経由にする検証は案B。</a:t>
            </a:r>
          </a:p>
        </p:txBody>
      </p:sp>
      <p:sp>
        <p:nvSpPr>
          <p:cNvPr id="122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0DBD9D9-9E6A-483A-932F-18D09486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8001000"/>
            <a:ext cx="1463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3"/>
          </a:solidFill>
          <a:ln xmlns:a="http://schemas.openxmlformats.org/drawingml/2006/main" w="11906">
            <a:solidFill>
              <a:srgbClr val="D9E2F3"/>
            </a:solidFill>
            <a:prstDash val="solid"/>
          </a:ln>
        </p:spPr>
      </p:sp>
      <p:sp>
        <p:nvSpPr>
          <p:cNvPr id="123" name="footer">
            <a:extLst xmlns:a="http://schemas.openxmlformats.org/drawingml/2006/main">
              <a:ext uri="{FF2B5EF4-FFF2-40B4-BE49-F238E27FC236}">
                <a16:creationId xmlns:a16="http://schemas.microsoft.com/office/drawing/2014/main" id="{693CB4FE-B818-4B84-A030-4B826E07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8115300"/>
            <a:ext cx="1143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475569"/>
                </a:solidFill>
              </a:defRPr>
            </a:pPr>
            <a:r>
              <a:rPr sz="938" b="0">
                <a:solidFill>
                  <a:srgbClr val="475569"/>
                </a:solidFill>
              </a:rPr>
              <a:t>読み方：左から ServiceNow/MID、中央が Azure PoC 構成、右が客户表の橙色項目との対応。すべて案A内の検証対象として整理。</a:t>
            </a:r>
          </a:p>
        </p:txBody>
      </p:sp>
    </p:spTree>
    <p:extLst>
      <p:ext uri="{BB962C8B-B14F-4D97-AF65-F5344CB8AC3E}">
        <p14:creationId xmlns:p14="http://schemas.microsoft.com/office/powerpoint/2010/main" val="75840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2026-06-18T02:57:49.4950000Z</dcterms:created>
  <dcterms:modified xsi:type="dcterms:W3CDTF">2026-06-18T02:57:49.4950000Z</dcterms:modified>
</coreProperties>
</file>