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64e6cc4144de0" /><Relationship Type="http://schemas.openxmlformats.org/officeDocument/2006/relationships/extended-properties" Target="/docProps/app.xml" Id="R83dbf610e11b47f2" /><Relationship Type="http://schemas.openxmlformats.org/officeDocument/2006/relationships/officeDocument" Target="/ppt/presentation.xml" Id="R6913e5a1107c42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0d042904f648b1"/>
  </p:sldMasterIdLst>
  <p:notesMasterIdLst>
    <p:notesMasterId xmlns:r="http://schemas.openxmlformats.org/officeDocument/2006/relationships" r:id="Rffdd1a35d894484d"/>
  </p:notesMasterIdLst>
  <p:sldIdLst>
    <p:sldId xmlns:r="http://schemas.openxmlformats.org/officeDocument/2006/relationships" id="256" r:id="R71c54c084b294cf4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1e3763a2184bcf" /><Relationship Type="http://schemas.openxmlformats.org/officeDocument/2006/relationships/slideMaster" Target="/ppt/slideMasters/slideMaster1.xml" Id="Rf60d042904f648b1" /><Relationship Type="http://schemas.openxmlformats.org/officeDocument/2006/relationships/notesMaster" Target="/ppt/notesMasters/notesMaster1.xml" Id="Rffdd1a35d894484d" /><Relationship Type="http://schemas.openxmlformats.org/officeDocument/2006/relationships/presProps" Target="/ppt/presProps.xml" Id="R355bbaef2a064563" /><Relationship Type="http://schemas.openxmlformats.org/officeDocument/2006/relationships/tableStyles" Target="/ppt/tableStyles.xml" Id="R37a9a6c51c88462e" /><Relationship Type="http://schemas.openxmlformats.org/officeDocument/2006/relationships/slide" Target="/ppt/slides/slide1.xml" Id="R71c54c084b29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933422609f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de746ae2fe4496" /><Relationship Type="http://schemas.openxmlformats.org/officeDocument/2006/relationships/notesMaster" Target="/ppt/notesMasters/notesMaster1.xml" Id="R62fc6dbaf7dc42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5aaa1332749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28b30cbd74a27" /><Relationship Type="http://schemas.openxmlformats.org/officeDocument/2006/relationships/slideLayout" Target="/ppt/slideLayouts/slideLayout1.xml" Id="Rc6a001f9932845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001f9932845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7b6fca060445a" /><Relationship Type="http://schemas.openxmlformats.org/officeDocument/2006/relationships/notesSlide" Target="/ppt/notesSlides/notesSlide1.xml" Id="Ra96030edadf647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047D914A-8186-45BB-A888-93717DE3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F3D136-E1A1-4D7E-9A56-3EA9FDE4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ServiceNow Discovery / Service Mapping PoC 検証範囲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98D6BFF-6DFE-4EF1-BE7B-2581347F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DDEBF7"/>
                </a:solidFill>
              </a:defRPr>
            </a:pPr>
            <a:r>
              <a:rPr sz="1125" b="0">
                <a:solidFill>
                  <a:srgbClr val="DDEBF7"/>
                </a:solidFill>
              </a:rPr>
              <a:t>客户提供表格の结构を維持し、最后列の橙色対象を見やすく整理</a:t>
            </a:r>
          </a:p>
        </p:txBody>
      </p:sp>
      <p:sp>
        <p:nvSpPr>
          <p:cNvPr id="4" name="legend">
            <a:extLst xmlns:a="http://schemas.openxmlformats.org/drawingml/2006/main">
              <a:ext uri="{FF2B5EF4-FFF2-40B4-BE49-F238E27FC236}">
                <a16:creationId xmlns:a16="http://schemas.microsoft.com/office/drawing/2014/main" id="{65A7B0B9-C2C8-48E8-9200-E19CC864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3668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BBD7F0"/>
            </a:solidFill>
            <a:prstDash val="solid"/>
          </a:ln>
        </p:spPr>
      </p:sp>
      <p:sp>
        <p:nvSpPr>
          <p:cNvPr id="5" name="legend-text">
            <a:extLst xmlns:a="http://schemas.openxmlformats.org/drawingml/2006/main">
              <a:ext uri="{FF2B5EF4-FFF2-40B4-BE49-F238E27FC236}">
                <a16:creationId xmlns:a16="http://schemas.microsoft.com/office/drawing/2014/main" id="{04D69210-21F4-451B-B12B-401AE54D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395B"/>
                </a:solidFill>
              </a:defRPr>
            </a:pPr>
            <a:r>
              <a:rPr sz="975" b="0">
                <a:solidFill>
                  <a:srgbClr val="12395B"/>
                </a:solidFill>
              </a:rPr>
              <a:t>読み方 / 读法：橙色 = 本次重点/客户关注对象；灰色 = 结构中保留，但本次不优先或按追加要求处理。</a:t>
            </a:r>
          </a:p>
        </p:txBody>
      </p:sp>
      <p:sp>
        <p:nvSpPr>
          <p:cNvPr id="6" name="legend-orange">
            <a:extLst xmlns:a="http://schemas.openxmlformats.org/drawingml/2006/main">
              <a:ext uri="{FF2B5EF4-FFF2-40B4-BE49-F238E27FC236}">
                <a16:creationId xmlns:a16="http://schemas.microsoft.com/office/drawing/2014/main" id="{3FE838C8-9EDB-4FEC-9F3F-70A7D311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85725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" name="legend-orange-text">
            <a:extLst xmlns:a="http://schemas.openxmlformats.org/drawingml/2006/main">
              <a:ext uri="{FF2B5EF4-FFF2-40B4-BE49-F238E27FC236}">
                <a16:creationId xmlns:a16="http://schemas.microsoft.com/office/drawing/2014/main" id="{11CCCC0D-3BD8-4184-A35E-D4E31B04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914400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重点対象</a:t>
            </a:r>
          </a:p>
        </p:txBody>
      </p:sp>
      <p:sp>
        <p:nvSpPr>
          <p:cNvPr id="8" name="legend-gray">
            <a:extLst xmlns:a="http://schemas.openxmlformats.org/drawingml/2006/main">
              <a:ext uri="{FF2B5EF4-FFF2-40B4-BE49-F238E27FC236}">
                <a16:creationId xmlns:a16="http://schemas.microsoft.com/office/drawing/2014/main" id="{D0B037ED-73ED-4940-8605-EEB9D29A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85725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legend-gray-text">
            <a:extLst xmlns:a="http://schemas.openxmlformats.org/drawingml/2006/main">
              <a:ext uri="{FF2B5EF4-FFF2-40B4-BE49-F238E27FC236}">
                <a16:creationId xmlns:a16="http://schemas.microsoft.com/office/drawing/2014/main" id="{7C78AE88-951B-4826-A62E-4F5C9E2D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14400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保留対象</a:t>
            </a:r>
          </a:p>
        </p:txBody>
      </p:sp>
      <p:sp>
        <p:nvSpPr>
          <p:cNvPr id="10" name="header-大分類">
            <a:extLst xmlns:a="http://schemas.openxmlformats.org/drawingml/2006/main">
              <a:ext uri="{FF2B5EF4-FFF2-40B4-BE49-F238E27FC236}">
                <a16:creationId xmlns:a16="http://schemas.microsoft.com/office/drawing/2014/main" id="{1EB0C978-B5A2-490E-B830-B400A2E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18097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1" name="header-大分類-text">
            <a:extLst xmlns:a="http://schemas.openxmlformats.org/drawingml/2006/main">
              <a:ext uri="{FF2B5EF4-FFF2-40B4-BE49-F238E27FC236}">
                <a16:creationId xmlns:a16="http://schemas.microsoft.com/office/drawing/2014/main" id="{011C4231-6435-4F18-B007-617A6D4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大分類</a:t>
            </a:r>
          </a:p>
        </p:txBody>
      </p:sp>
      <p:sp>
        <p:nvSpPr>
          <p:cNvPr id="12" name="header-中分類">
            <a:extLst xmlns:a="http://schemas.openxmlformats.org/drawingml/2006/main">
              <a:ext uri="{FF2B5EF4-FFF2-40B4-BE49-F238E27FC236}">
                <a16:creationId xmlns:a16="http://schemas.microsoft.com/office/drawing/2014/main" id="{44526BD2-8E65-494A-A6DE-62B57F61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76350"/>
            <a:ext cx="25717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3" name="header-中分類-text">
            <a:extLst xmlns:a="http://schemas.openxmlformats.org/drawingml/2006/main">
              <a:ext uri="{FF2B5EF4-FFF2-40B4-BE49-F238E27FC236}">
                <a16:creationId xmlns:a16="http://schemas.microsoft.com/office/drawing/2014/main" id="{1F5AF580-F9E1-497F-B614-280146FD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620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中分類</a:t>
            </a:r>
          </a:p>
        </p:txBody>
      </p:sp>
      <p:sp>
        <p:nvSpPr>
          <p:cNvPr id="14" name="header-小分類">
            <a:extLst xmlns:a="http://schemas.openxmlformats.org/drawingml/2006/main">
              <a:ext uri="{FF2B5EF4-FFF2-40B4-BE49-F238E27FC236}">
                <a16:creationId xmlns:a16="http://schemas.microsoft.com/office/drawing/2014/main" id="{3B85DB86-BE28-41C6-AE78-66B71C36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76350"/>
            <a:ext cx="22860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5" name="header-小分類-text">
            <a:extLst xmlns:a="http://schemas.openxmlformats.org/drawingml/2006/main">
              <a:ext uri="{FF2B5EF4-FFF2-40B4-BE49-F238E27FC236}">
                <a16:creationId xmlns:a16="http://schemas.microsoft.com/office/drawing/2014/main" id="{2407F1FA-C57A-4BC6-A6FA-6154FC5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620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小分類</a:t>
            </a:r>
          </a:p>
        </p:txBody>
      </p:sp>
      <p:sp>
        <p:nvSpPr>
          <p:cNvPr id="16" name="header-検証対象 / Target">
            <a:extLst xmlns:a="http://schemas.openxmlformats.org/drawingml/2006/main">
              <a:ext uri="{FF2B5EF4-FFF2-40B4-BE49-F238E27FC236}">
                <a16:creationId xmlns:a16="http://schemas.microsoft.com/office/drawing/2014/main" id="{90E1A945-0765-4D31-A7EA-7C465C7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76350"/>
            <a:ext cx="7000875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9525">
            <a:solidFill>
              <a:srgbClr val="12395B"/>
            </a:solidFill>
            <a:prstDash val="solid"/>
          </a:ln>
        </p:spPr>
      </p:sp>
      <p:sp>
        <p:nvSpPr>
          <p:cNvPr id="17" name="header-検証対象 / Target-text">
            <a:extLst xmlns:a="http://schemas.openxmlformats.org/drawingml/2006/main">
              <a:ext uri="{FF2B5EF4-FFF2-40B4-BE49-F238E27FC236}">
                <a16:creationId xmlns:a16="http://schemas.microsoft.com/office/drawing/2014/main" id="{A37FDFD6-74B0-42D1-9EBF-021443C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62075"/>
            <a:ext cx="677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検証対象 / Target</a:t>
            </a:r>
          </a:p>
        </p:txBody>
      </p:sp>
      <p:sp>
        <p:nvSpPr>
          <p:cNvPr id="18" name="table-shadow">
            <a:extLst xmlns:a="http://schemas.openxmlformats.org/drawingml/2006/main">
              <a:ext uri="{FF2B5EF4-FFF2-40B4-BE49-F238E27FC236}">
                <a16:creationId xmlns:a16="http://schemas.microsoft.com/office/drawing/2014/main" id="{2967CBD0-6FC8-46C8-980A-0FDF0F4E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66825"/>
            <a:ext cx="13687425" cy="5353050"/>
          </a:xfrm>
          <a:prstGeom xmlns:a="http://schemas.openxmlformats.org/drawingml/2006/main" prst="roundRect">
            <a:avLst>
              <a:gd name="adj" fmla="val 142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D4E2"/>
            </a:solidFill>
            <a:prstDash val="solid"/>
          </a:ln>
        </p:spPr>
      </p:sp>
      <p:sp>
        <p:nvSpPr>
          <p:cNvPr id="19" name="cell-70-172">
            <a:extLst xmlns:a="http://schemas.openxmlformats.org/drawingml/2006/main">
              <a:ext uri="{FF2B5EF4-FFF2-40B4-BE49-F238E27FC236}">
                <a16:creationId xmlns:a16="http://schemas.microsoft.com/office/drawing/2014/main" id="{1773E74E-DA7A-4A43-885B-9BF1A547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809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D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cell-text-70-172">
            <a:extLst xmlns:a="http://schemas.openxmlformats.org/drawingml/2006/main">
              <a:ext uri="{FF2B5EF4-FFF2-40B4-BE49-F238E27FC236}">
                <a16:creationId xmlns:a16="http://schemas.microsoft.com/office/drawing/2014/main" id="{FCFF7EDC-5030-4B01-B457-C003C2AE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5811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395B"/>
                </a:solidFill>
              </a:defRPr>
            </a:pPr>
            <a:r>
              <a:rPr sz="1050" b="1">
                <a:solidFill>
                  <a:srgbClr val="12395B"/>
                </a:solidFill>
              </a:rPr>
              <a:t>Horizontal</a:t>
            </a:r>
          </a:p>
        </p:txBody>
      </p:sp>
      <p:sp>
        <p:nvSpPr>
          <p:cNvPr id="21" name="cell-70-346">
            <a:extLst xmlns:a="http://schemas.openxmlformats.org/drawingml/2006/main">
              <a:ext uri="{FF2B5EF4-FFF2-40B4-BE49-F238E27FC236}">
                <a16:creationId xmlns:a16="http://schemas.microsoft.com/office/drawing/2014/main" id="{9128DD3D-3B34-41FE-AA86-FD0F3DC9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809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cell-text-70-346">
            <a:extLst xmlns:a="http://schemas.openxmlformats.org/drawingml/2006/main">
              <a:ext uri="{FF2B5EF4-FFF2-40B4-BE49-F238E27FC236}">
                <a16:creationId xmlns:a16="http://schemas.microsoft.com/office/drawing/2014/main" id="{77ABD325-524D-4C04-9FF2-6C1293E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5811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30A3"/>
                </a:solidFill>
              </a:defRPr>
            </a:pPr>
            <a:r>
              <a:rPr sz="975" b="1">
                <a:solidFill>
                  <a:srgbClr val="3730A3"/>
                </a:solidFill>
              </a:rPr>
              <a:t>Horizontal + ServiceMapping</a:t>
            </a:r>
          </a:p>
        </p:txBody>
      </p:sp>
      <p:sp>
        <p:nvSpPr>
          <p:cNvPr id="23" name="cell-70-636">
            <a:extLst xmlns:a="http://schemas.openxmlformats.org/drawingml/2006/main">
              <a:ext uri="{FF2B5EF4-FFF2-40B4-BE49-F238E27FC236}">
                <a16:creationId xmlns:a16="http://schemas.microsoft.com/office/drawing/2014/main" id="{BBBCC736-F9CF-4E05-8588-CCC02439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cell-text-70-636">
            <a:extLst xmlns:a="http://schemas.openxmlformats.org/drawingml/2006/main">
              <a:ext uri="{FF2B5EF4-FFF2-40B4-BE49-F238E27FC236}">
                <a16:creationId xmlns:a16="http://schemas.microsoft.com/office/drawing/2014/main" id="{D4570BB8-501D-4A9C-AA3B-F8A4E846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8235"/>
                </a:solidFill>
              </a:defRPr>
            </a:pPr>
            <a:r>
              <a:rPr sz="1050" b="1">
                <a:solidFill>
                  <a:srgbClr val="548235"/>
                </a:solidFill>
              </a:rPr>
              <a:t>ACC</a:t>
            </a:r>
          </a:p>
        </p:txBody>
      </p:sp>
      <p:sp>
        <p:nvSpPr>
          <p:cNvPr id="25" name="cell-260-172">
            <a:extLst xmlns:a="http://schemas.openxmlformats.org/drawingml/2006/main">
              <a:ext uri="{FF2B5EF4-FFF2-40B4-BE49-F238E27FC236}">
                <a16:creationId xmlns:a16="http://schemas.microsoft.com/office/drawing/2014/main" id="{C9151800-EFDD-479C-B8B0-79DA6F6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38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cell-text-260-172">
            <a:extLst xmlns:a="http://schemas.openxmlformats.org/drawingml/2006/main">
              <a:ext uri="{FF2B5EF4-FFF2-40B4-BE49-F238E27FC236}">
                <a16:creationId xmlns:a16="http://schemas.microsoft.com/office/drawing/2014/main" id="{603BBE2C-DF78-4E1A-BC8E-39E6280B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335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</a:t>
            </a:r>
          </a:p>
        </p:txBody>
      </p:sp>
      <p:sp>
        <p:nvSpPr>
          <p:cNvPr id="27" name="cell-530-172">
            <a:extLst xmlns:a="http://schemas.openxmlformats.org/drawingml/2006/main">
              <a:ext uri="{FF2B5EF4-FFF2-40B4-BE49-F238E27FC236}">
                <a16:creationId xmlns:a16="http://schemas.microsoft.com/office/drawing/2014/main" id="{6003849D-743D-40BD-82C6-FEC0A23F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383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cell-text-530-172">
            <a:extLst xmlns:a="http://schemas.openxmlformats.org/drawingml/2006/main">
              <a:ext uri="{FF2B5EF4-FFF2-40B4-BE49-F238E27FC236}">
                <a16:creationId xmlns:a16="http://schemas.microsoft.com/office/drawing/2014/main" id="{BF120D26-F7FF-44FC-9D6D-CD7785BB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335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C65911"/>
                </a:solidFill>
              </a:defRPr>
            </a:pPr>
            <a:r>
              <a:rPr sz="1013" b="1">
                <a:solidFill>
                  <a:srgbClr val="C65911"/>
                </a:solidFill>
              </a:rPr>
              <a:t>Credential-less</a:t>
            </a:r>
          </a:p>
        </p:txBody>
      </p:sp>
      <p:sp>
        <p:nvSpPr>
          <p:cNvPr id="29" name="target-bg-770-172">
            <a:extLst xmlns:a="http://schemas.openxmlformats.org/drawingml/2006/main">
              <a:ext uri="{FF2B5EF4-FFF2-40B4-BE49-F238E27FC236}">
                <a16:creationId xmlns:a16="http://schemas.microsoft.com/office/drawing/2014/main" id="{A00E213F-462C-4D25-8408-011A2CF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3830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cell-260-230">
            <a:extLst xmlns:a="http://schemas.openxmlformats.org/drawingml/2006/main">
              <a:ext uri="{FF2B5EF4-FFF2-40B4-BE49-F238E27FC236}">
                <a16:creationId xmlns:a16="http://schemas.microsoft.com/office/drawing/2014/main" id="{03B6465E-0EA8-4CB6-9881-B2E3EF5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cell-text-260-230">
            <a:extLst xmlns:a="http://schemas.openxmlformats.org/drawingml/2006/main">
              <a:ext uri="{FF2B5EF4-FFF2-40B4-BE49-F238E27FC236}">
                <a16:creationId xmlns:a16="http://schemas.microsoft.com/office/drawing/2014/main" id="{5CBD0E87-288D-4582-AE93-C54721CA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86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</a:t>
            </a:r>
          </a:p>
        </p:txBody>
      </p:sp>
      <p:sp>
        <p:nvSpPr>
          <p:cNvPr id="32" name="cell-530-230">
            <a:extLst xmlns:a="http://schemas.openxmlformats.org/drawingml/2006/main">
              <a:ext uri="{FF2B5EF4-FFF2-40B4-BE49-F238E27FC236}">
                <a16:creationId xmlns:a16="http://schemas.microsoft.com/office/drawing/2014/main" id="{6703A89D-3FA7-40B1-86FC-82665E59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cell-text-530-230">
            <a:extLst xmlns:a="http://schemas.openxmlformats.org/drawingml/2006/main">
              <a:ext uri="{FF2B5EF4-FFF2-40B4-BE49-F238E27FC236}">
                <a16:creationId xmlns:a16="http://schemas.microsoft.com/office/drawing/2014/main" id="{A85FD7A8-D6BC-438C-8B0F-27DA99E6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34" name="target-bg-770-230">
            <a:extLst xmlns:a="http://schemas.openxmlformats.org/drawingml/2006/main">
              <a:ext uri="{FF2B5EF4-FFF2-40B4-BE49-F238E27FC236}">
                <a16:creationId xmlns:a16="http://schemas.microsoft.com/office/drawing/2014/main" id="{098F3DA3-E649-4115-BD66-CDC90234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pill-Windows-770-230-784">
            <a:extLst xmlns:a="http://schemas.openxmlformats.org/drawingml/2006/main">
              <a:ext uri="{FF2B5EF4-FFF2-40B4-BE49-F238E27FC236}">
                <a16:creationId xmlns:a16="http://schemas.microsoft.com/office/drawing/2014/main" id="{01F79D3A-1298-4737-B978-97809F4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36" name="pill-Windows-770-230-784-text">
            <a:extLst xmlns:a="http://schemas.openxmlformats.org/drawingml/2006/main">
              <a:ext uri="{FF2B5EF4-FFF2-40B4-BE49-F238E27FC236}">
                <a16:creationId xmlns:a16="http://schemas.microsoft.com/office/drawing/2014/main" id="{C8C11D64-EE5E-4740-8E3C-1725F71A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37" name="pill-Linux-770-230-926">
            <a:extLst xmlns:a="http://schemas.openxmlformats.org/drawingml/2006/main">
              <a:ext uri="{FF2B5EF4-FFF2-40B4-BE49-F238E27FC236}">
                <a16:creationId xmlns:a16="http://schemas.microsoft.com/office/drawing/2014/main" id="{10FDF48C-A2AD-4AE2-89AA-D7E88495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38" name="pill-Linux-770-230-926-text">
            <a:extLst xmlns:a="http://schemas.openxmlformats.org/drawingml/2006/main">
              <a:ext uri="{FF2B5EF4-FFF2-40B4-BE49-F238E27FC236}">
                <a16:creationId xmlns:a16="http://schemas.microsoft.com/office/drawing/2014/main" id="{2407115D-7A3A-43F4-ADA1-CE9E5BE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39" name="pill-NW(PaloAlto)-770-230-1068">
            <a:extLst xmlns:a="http://schemas.openxmlformats.org/drawingml/2006/main">
              <a:ext uri="{FF2B5EF4-FFF2-40B4-BE49-F238E27FC236}">
                <a16:creationId xmlns:a16="http://schemas.microsoft.com/office/drawing/2014/main" id="{BA0FAB6B-9AC8-41FA-B85B-E3F9110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241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40" name="pill-NW(PaloAlto)-770-230-1068-text">
            <a:extLst xmlns:a="http://schemas.openxmlformats.org/drawingml/2006/main">
              <a:ext uri="{FF2B5EF4-FFF2-40B4-BE49-F238E27FC236}">
                <a16:creationId xmlns:a16="http://schemas.microsoft.com/office/drawing/2014/main" id="{0EF614B2-B87A-4F66-B58F-A61CC3B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812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41" name="pill-NW(FortiGate)-770-230-1210">
            <a:extLst xmlns:a="http://schemas.openxmlformats.org/drawingml/2006/main">
              <a:ext uri="{FF2B5EF4-FFF2-40B4-BE49-F238E27FC236}">
                <a16:creationId xmlns:a16="http://schemas.microsoft.com/office/drawing/2014/main" id="{B2B59B14-4475-4A1E-BA03-3BE707B0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241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42" name="pill-NW(FortiGate)-770-230-1210-text">
            <a:extLst xmlns:a="http://schemas.openxmlformats.org/drawingml/2006/main">
              <a:ext uri="{FF2B5EF4-FFF2-40B4-BE49-F238E27FC236}">
                <a16:creationId xmlns:a16="http://schemas.microsoft.com/office/drawing/2014/main" id="{548858E9-5198-4DBA-BAAB-F25290D3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3812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43" name="pill-NW(Others)-770-230-1352">
            <a:extLst xmlns:a="http://schemas.openxmlformats.org/drawingml/2006/main">
              <a:ext uri="{FF2B5EF4-FFF2-40B4-BE49-F238E27FC236}">
                <a16:creationId xmlns:a16="http://schemas.microsoft.com/office/drawing/2014/main" id="{416882B6-4BA7-449A-B5E0-B626591E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3241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pill-NW(Others)-770-230-1352-text">
            <a:extLst xmlns:a="http://schemas.openxmlformats.org/drawingml/2006/main">
              <a:ext uri="{FF2B5EF4-FFF2-40B4-BE49-F238E27FC236}">
                <a16:creationId xmlns:a16="http://schemas.microsoft.com/office/drawing/2014/main" id="{D7D1CA59-6141-43E3-BDCD-A1EAB0A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3812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NW(Others)</a:t>
            </a:r>
          </a:p>
        </p:txBody>
      </p:sp>
      <p:sp>
        <p:nvSpPr>
          <p:cNvPr id="45" name="cell-260-288">
            <a:extLst xmlns:a="http://schemas.openxmlformats.org/drawingml/2006/main">
              <a:ext uri="{FF2B5EF4-FFF2-40B4-BE49-F238E27FC236}">
                <a16:creationId xmlns:a16="http://schemas.microsoft.com/office/drawing/2014/main" id="{0D430427-0091-4D4A-98BE-4B6EE30B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cell-text-260-288">
            <a:extLst xmlns:a="http://schemas.openxmlformats.org/drawingml/2006/main">
              <a:ext uri="{FF2B5EF4-FFF2-40B4-BE49-F238E27FC236}">
                <a16:creationId xmlns:a16="http://schemas.microsoft.com/office/drawing/2014/main" id="{BFBEBA9A-209A-4DB9-B415-5D6253F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384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</a:t>
            </a:r>
          </a:p>
        </p:txBody>
      </p:sp>
      <p:sp>
        <p:nvSpPr>
          <p:cNvPr id="47" name="cell-530-288">
            <a:extLst xmlns:a="http://schemas.openxmlformats.org/drawingml/2006/main">
              <a:ext uri="{FF2B5EF4-FFF2-40B4-BE49-F238E27FC236}">
                <a16:creationId xmlns:a16="http://schemas.microsoft.com/office/drawing/2014/main" id="{AC9A788A-0CB0-4D37-869A-DE1AACDA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432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cell-text-530-288">
            <a:extLst xmlns:a="http://schemas.openxmlformats.org/drawingml/2006/main">
              <a:ext uri="{FF2B5EF4-FFF2-40B4-BE49-F238E27FC236}">
                <a16:creationId xmlns:a16="http://schemas.microsoft.com/office/drawing/2014/main" id="{2509D466-5507-4541-B4F7-BC2FDF58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384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49" name="target-bg-770-288">
            <a:extLst xmlns:a="http://schemas.openxmlformats.org/drawingml/2006/main">
              <a:ext uri="{FF2B5EF4-FFF2-40B4-BE49-F238E27FC236}">
                <a16:creationId xmlns:a16="http://schemas.microsoft.com/office/drawing/2014/main" id="{D7A29B7D-216F-45E2-9EF8-A42278A3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pill-Azure-770-288-784">
            <a:extLst xmlns:a="http://schemas.openxmlformats.org/drawingml/2006/main">
              <a:ext uri="{FF2B5EF4-FFF2-40B4-BE49-F238E27FC236}">
                <a16:creationId xmlns:a16="http://schemas.microsoft.com/office/drawing/2014/main" id="{2F85F1B3-A00E-46B6-ADFA-89F38DB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51" name="pill-Azure-770-288-784-text">
            <a:extLst xmlns:a="http://schemas.openxmlformats.org/drawingml/2006/main">
              <a:ext uri="{FF2B5EF4-FFF2-40B4-BE49-F238E27FC236}">
                <a16:creationId xmlns:a16="http://schemas.microsoft.com/office/drawing/2014/main" id="{4B20D54D-F9D2-483F-80BF-95693E76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337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52" name="pill-AWS-770-288-926">
            <a:extLst xmlns:a="http://schemas.openxmlformats.org/drawingml/2006/main">
              <a:ext uri="{FF2B5EF4-FFF2-40B4-BE49-F238E27FC236}">
                <a16:creationId xmlns:a16="http://schemas.microsoft.com/office/drawing/2014/main" id="{FCAC8EF4-8103-49D5-B143-E7E3DCD8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pill-AWS-770-288-926-text">
            <a:extLst xmlns:a="http://schemas.openxmlformats.org/drawingml/2006/main">
              <a:ext uri="{FF2B5EF4-FFF2-40B4-BE49-F238E27FC236}">
                <a16:creationId xmlns:a16="http://schemas.microsoft.com/office/drawing/2014/main" id="{25A89E64-42CC-4528-BD41-165D9533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337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54" name="cell-260-346">
            <a:extLst xmlns:a="http://schemas.openxmlformats.org/drawingml/2006/main">
              <a:ext uri="{FF2B5EF4-FFF2-40B4-BE49-F238E27FC236}">
                <a16:creationId xmlns:a16="http://schemas.microsoft.com/office/drawing/2014/main" id="{95998387-29D7-4136-8710-9B2FD18D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956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5" name="cell-text-260-346">
            <a:extLst xmlns:a="http://schemas.openxmlformats.org/drawingml/2006/main">
              <a:ext uri="{FF2B5EF4-FFF2-40B4-BE49-F238E27FC236}">
                <a16:creationId xmlns:a16="http://schemas.microsoft.com/office/drawing/2014/main" id="{2EDABF21-F1B4-4129-92AF-F1E01BBF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909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</a:t>
            </a:r>
          </a:p>
        </p:txBody>
      </p:sp>
      <p:sp>
        <p:nvSpPr>
          <p:cNvPr id="56" name="cell-530-346">
            <a:extLst xmlns:a="http://schemas.openxmlformats.org/drawingml/2006/main">
              <a:ext uri="{FF2B5EF4-FFF2-40B4-BE49-F238E27FC236}">
                <a16:creationId xmlns:a16="http://schemas.microsoft.com/office/drawing/2014/main" id="{1D48F184-EDEB-4326-8378-16836A1F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956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7" name="cell-text-530-346">
            <a:extLst xmlns:a="http://schemas.openxmlformats.org/drawingml/2006/main">
              <a:ext uri="{FF2B5EF4-FFF2-40B4-BE49-F238E27FC236}">
                <a16:creationId xmlns:a16="http://schemas.microsoft.com/office/drawing/2014/main" id="{8FA34604-6657-48C0-9589-D24E97D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58" name="target-bg-770-346">
            <a:extLst xmlns:a="http://schemas.openxmlformats.org/drawingml/2006/main">
              <a:ext uri="{FF2B5EF4-FFF2-40B4-BE49-F238E27FC236}">
                <a16:creationId xmlns:a16="http://schemas.microsoft.com/office/drawing/2014/main" id="{23F2FD54-8BB0-490B-BCBC-E387377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9" name="pill-Windows-770-346-784">
            <a:extLst xmlns:a="http://schemas.openxmlformats.org/drawingml/2006/main">
              <a:ext uri="{FF2B5EF4-FFF2-40B4-BE49-F238E27FC236}">
                <a16:creationId xmlns:a16="http://schemas.microsoft.com/office/drawing/2014/main" id="{45C8543D-0399-488D-9C4E-BDF49098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0" name="pill-Windows-770-346-784-text">
            <a:extLst xmlns:a="http://schemas.openxmlformats.org/drawingml/2006/main">
              <a:ext uri="{FF2B5EF4-FFF2-40B4-BE49-F238E27FC236}">
                <a16:creationId xmlns:a16="http://schemas.microsoft.com/office/drawing/2014/main" id="{1938351E-750A-4373-9124-9919330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61" name="pill-Linux-770-346-926">
            <a:extLst xmlns:a="http://schemas.openxmlformats.org/drawingml/2006/main">
              <a:ext uri="{FF2B5EF4-FFF2-40B4-BE49-F238E27FC236}">
                <a16:creationId xmlns:a16="http://schemas.microsoft.com/office/drawing/2014/main" id="{8CBCBC7B-AC08-420D-B940-F88FB72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2" name="pill-Linux-770-346-926-text">
            <a:extLst xmlns:a="http://schemas.openxmlformats.org/drawingml/2006/main">
              <a:ext uri="{FF2B5EF4-FFF2-40B4-BE49-F238E27FC236}">
                <a16:creationId xmlns:a16="http://schemas.microsoft.com/office/drawing/2014/main" id="{4B5B3A95-40C8-4610-B59A-15722182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861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63" name="pill-NW(PaloAlto)-770-346-1068">
            <a:extLst xmlns:a="http://schemas.openxmlformats.org/drawingml/2006/main">
              <a:ext uri="{FF2B5EF4-FFF2-40B4-BE49-F238E27FC236}">
                <a16:creationId xmlns:a16="http://schemas.microsoft.com/office/drawing/2014/main" id="{B775958D-9783-43CE-9427-B9BCA63A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290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4" name="pill-NW(PaloAlto)-770-346-1068-text">
            <a:extLst xmlns:a="http://schemas.openxmlformats.org/drawingml/2006/main">
              <a:ext uri="{FF2B5EF4-FFF2-40B4-BE49-F238E27FC236}">
                <a16:creationId xmlns:a16="http://schemas.microsoft.com/office/drawing/2014/main" id="{670AC4C9-E15A-4D8D-841C-0A749E0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861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65" name="pill-NW(FortiGate)-770-346-1210">
            <a:extLst xmlns:a="http://schemas.openxmlformats.org/drawingml/2006/main">
              <a:ext uri="{FF2B5EF4-FFF2-40B4-BE49-F238E27FC236}">
                <a16:creationId xmlns:a16="http://schemas.microsoft.com/office/drawing/2014/main" id="{32F3D7ED-A311-44DB-AD3C-7E7B3F9A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290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66" name="pill-NW(FortiGate)-770-346-1210-text">
            <a:extLst xmlns:a="http://schemas.openxmlformats.org/drawingml/2006/main">
              <a:ext uri="{FF2B5EF4-FFF2-40B4-BE49-F238E27FC236}">
                <a16:creationId xmlns:a16="http://schemas.microsoft.com/office/drawing/2014/main" id="{49CD0424-80BB-4FC4-AF3C-1F597AC2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4861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67" name="pill-NW(Others)-770-346-1352">
            <a:extLst xmlns:a="http://schemas.openxmlformats.org/drawingml/2006/main">
              <a:ext uri="{FF2B5EF4-FFF2-40B4-BE49-F238E27FC236}">
                <a16:creationId xmlns:a16="http://schemas.microsoft.com/office/drawing/2014/main" id="{BEDE1BC5-5F2F-43A0-913F-F5191FB7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4290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8" name="pill-NW(Others)-770-346-1352-text">
            <a:extLst xmlns:a="http://schemas.openxmlformats.org/drawingml/2006/main">
              <a:ext uri="{FF2B5EF4-FFF2-40B4-BE49-F238E27FC236}">
                <a16:creationId xmlns:a16="http://schemas.microsoft.com/office/drawing/2014/main" id="{45211029-8683-4E35-93E6-B193613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861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NW(Others)</a:t>
            </a:r>
          </a:p>
        </p:txBody>
      </p:sp>
      <p:sp>
        <p:nvSpPr>
          <p:cNvPr id="69" name="cell-260-404">
            <a:extLst xmlns:a="http://schemas.openxmlformats.org/drawingml/2006/main">
              <a:ext uri="{FF2B5EF4-FFF2-40B4-BE49-F238E27FC236}">
                <a16:creationId xmlns:a16="http://schemas.microsoft.com/office/drawing/2014/main" id="{C1392230-E687-4CAB-84D8-5A30EBC6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0" name="cell-text-260-404">
            <a:extLst xmlns:a="http://schemas.openxmlformats.org/drawingml/2006/main">
              <a:ext uri="{FF2B5EF4-FFF2-40B4-BE49-F238E27FC236}">
                <a16:creationId xmlns:a16="http://schemas.microsoft.com/office/drawing/2014/main" id="{40D57972-E0BE-4CF2-B603-5CCAD7E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433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IP Range +</a:t>
            </a:r>
          </a:p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Top-down Entry Point</a:t>
            </a:r>
          </a:p>
        </p:txBody>
      </p:sp>
      <p:sp>
        <p:nvSpPr>
          <p:cNvPr id="71" name="cell-530-404">
            <a:extLst xmlns:a="http://schemas.openxmlformats.org/drawingml/2006/main">
              <a:ext uri="{FF2B5EF4-FFF2-40B4-BE49-F238E27FC236}">
                <a16:creationId xmlns:a16="http://schemas.microsoft.com/office/drawing/2014/main" id="{60370626-3587-41D4-9447-40B24C1F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2" name="cell-text-530-404">
            <a:extLst xmlns:a="http://schemas.openxmlformats.org/drawingml/2006/main">
              <a:ext uri="{FF2B5EF4-FFF2-40B4-BE49-F238E27FC236}">
                <a16:creationId xmlns:a16="http://schemas.microsoft.com/office/drawing/2014/main" id="{0B973FAA-20EC-46EF-AEF9-2F5A0EAD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73" name="target-bg-770-404">
            <a:extLst xmlns:a="http://schemas.openxmlformats.org/drawingml/2006/main">
              <a:ext uri="{FF2B5EF4-FFF2-40B4-BE49-F238E27FC236}">
                <a16:creationId xmlns:a16="http://schemas.microsoft.com/office/drawing/2014/main" id="{3599F95E-3348-4DB1-A439-B5E1536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4" name="pill-Windows-770-404-784">
            <a:extLst xmlns:a="http://schemas.openxmlformats.org/drawingml/2006/main">
              <a:ext uri="{FF2B5EF4-FFF2-40B4-BE49-F238E27FC236}">
                <a16:creationId xmlns:a16="http://schemas.microsoft.com/office/drawing/2014/main" id="{394D037E-3767-414C-BFD4-A40BCDA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5" name="pill-Windows-770-404-784-text">
            <a:extLst xmlns:a="http://schemas.openxmlformats.org/drawingml/2006/main">
              <a:ext uri="{FF2B5EF4-FFF2-40B4-BE49-F238E27FC236}">
                <a16:creationId xmlns:a16="http://schemas.microsoft.com/office/drawing/2014/main" id="{3D755636-B22B-4E74-BAE1-2CCB48A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76" name="pill-Linux-770-404-926">
            <a:extLst xmlns:a="http://schemas.openxmlformats.org/drawingml/2006/main">
              <a:ext uri="{FF2B5EF4-FFF2-40B4-BE49-F238E27FC236}">
                <a16:creationId xmlns:a16="http://schemas.microsoft.com/office/drawing/2014/main" id="{199FB0C0-E1FE-4722-AF7B-ABF170BA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814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7" name="pill-Linux-770-404-926-text">
            <a:extLst xmlns:a="http://schemas.openxmlformats.org/drawingml/2006/main">
              <a:ext uri="{FF2B5EF4-FFF2-40B4-BE49-F238E27FC236}">
                <a16:creationId xmlns:a16="http://schemas.microsoft.com/office/drawing/2014/main" id="{4A16DC58-9609-4763-A456-B6B9071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78" name="pill-NW(PaloAlto)-770-404-1068">
            <a:extLst xmlns:a="http://schemas.openxmlformats.org/drawingml/2006/main">
              <a:ext uri="{FF2B5EF4-FFF2-40B4-BE49-F238E27FC236}">
                <a16:creationId xmlns:a16="http://schemas.microsoft.com/office/drawing/2014/main" id="{D0856CCF-E3F7-490D-827C-49C31CA1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814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9" name="pill-NW(PaloAlto)-770-404-1068-text">
            <a:extLst xmlns:a="http://schemas.openxmlformats.org/drawingml/2006/main">
              <a:ext uri="{FF2B5EF4-FFF2-40B4-BE49-F238E27FC236}">
                <a16:creationId xmlns:a16="http://schemas.microsoft.com/office/drawing/2014/main" id="{8EE069C4-732C-4A33-B55E-DFFE17B8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0386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80" name="pill-NW(FortiGate)-770-404-1210">
            <a:extLst xmlns:a="http://schemas.openxmlformats.org/drawingml/2006/main">
              <a:ext uri="{FF2B5EF4-FFF2-40B4-BE49-F238E27FC236}">
                <a16:creationId xmlns:a16="http://schemas.microsoft.com/office/drawing/2014/main" id="{B371F4AB-90AF-4E1B-80FD-EF325786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9814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81" name="pill-NW(FortiGate)-770-404-1210-text">
            <a:extLst xmlns:a="http://schemas.openxmlformats.org/drawingml/2006/main">
              <a:ext uri="{FF2B5EF4-FFF2-40B4-BE49-F238E27FC236}">
                <a16:creationId xmlns:a16="http://schemas.microsoft.com/office/drawing/2014/main" id="{1DFAD788-3A7F-49D1-A8CF-37075AD9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386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82" name="pill-NW(Others)-770-404-1352">
            <a:extLst xmlns:a="http://schemas.openxmlformats.org/drawingml/2006/main">
              <a:ext uri="{FF2B5EF4-FFF2-40B4-BE49-F238E27FC236}">
                <a16:creationId xmlns:a16="http://schemas.microsoft.com/office/drawing/2014/main" id="{09019CFD-008F-441F-A5CE-9026874C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9814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3" name="pill-NW(Others)-770-404-1352-text">
            <a:extLst xmlns:a="http://schemas.openxmlformats.org/drawingml/2006/main">
              <a:ext uri="{FF2B5EF4-FFF2-40B4-BE49-F238E27FC236}">
                <a16:creationId xmlns:a16="http://schemas.microsoft.com/office/drawing/2014/main" id="{4E05B1F9-6902-47D4-9489-A7DE6DCC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386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NW(Others)</a:t>
            </a:r>
          </a:p>
        </p:txBody>
      </p:sp>
      <p:sp>
        <p:nvSpPr>
          <p:cNvPr id="84" name="cell-260-462">
            <a:extLst xmlns:a="http://schemas.openxmlformats.org/drawingml/2006/main">
              <a:ext uri="{FF2B5EF4-FFF2-40B4-BE49-F238E27FC236}">
                <a16:creationId xmlns:a16="http://schemas.microsoft.com/office/drawing/2014/main" id="{3F63AC3E-3F41-47C6-B416-CFADACB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5" name="cell-text-260-462">
            <a:extLst xmlns:a="http://schemas.openxmlformats.org/drawingml/2006/main">
              <a:ext uri="{FF2B5EF4-FFF2-40B4-BE49-F238E27FC236}">
                <a16:creationId xmlns:a16="http://schemas.microsoft.com/office/drawing/2014/main" id="{17872797-9FB2-42E3-8196-72802C8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958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</a:t>
            </a:r>
          </a:p>
        </p:txBody>
      </p:sp>
      <p:sp>
        <p:nvSpPr>
          <p:cNvPr id="86" name="cell-530-462">
            <a:extLst xmlns:a="http://schemas.openxmlformats.org/drawingml/2006/main">
              <a:ext uri="{FF2B5EF4-FFF2-40B4-BE49-F238E27FC236}">
                <a16:creationId xmlns:a16="http://schemas.microsoft.com/office/drawing/2014/main" id="{49FD478F-89B9-4848-898E-758996F4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005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7" name="cell-text-530-462">
            <a:extLst xmlns:a="http://schemas.openxmlformats.org/drawingml/2006/main">
              <a:ext uri="{FF2B5EF4-FFF2-40B4-BE49-F238E27FC236}">
                <a16:creationId xmlns:a16="http://schemas.microsoft.com/office/drawing/2014/main" id="{2F38A7A9-4037-4A6C-BD8F-613A3A6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958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88" name="target-bg-770-462">
            <a:extLst xmlns:a="http://schemas.openxmlformats.org/drawingml/2006/main">
              <a:ext uri="{FF2B5EF4-FFF2-40B4-BE49-F238E27FC236}">
                <a16:creationId xmlns:a16="http://schemas.microsoft.com/office/drawing/2014/main" id="{1B96DC86-3101-46C6-A227-3CC84C75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9" name="pill-Azure-770-462-784">
            <a:extLst xmlns:a="http://schemas.openxmlformats.org/drawingml/2006/main">
              <a:ext uri="{FF2B5EF4-FFF2-40B4-BE49-F238E27FC236}">
                <a16:creationId xmlns:a16="http://schemas.microsoft.com/office/drawing/2014/main" id="{E9882FDE-BA04-44B2-8E16-9E4C78F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339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90" name="pill-Azure-770-462-784-text">
            <a:extLst xmlns:a="http://schemas.openxmlformats.org/drawingml/2006/main">
              <a:ext uri="{FF2B5EF4-FFF2-40B4-BE49-F238E27FC236}">
                <a16:creationId xmlns:a16="http://schemas.microsoft.com/office/drawing/2014/main" id="{1E474FEA-AA07-4BB2-AA36-6D47F7EB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910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91" name="pill-AWS-770-462-926">
            <a:extLst xmlns:a="http://schemas.openxmlformats.org/drawingml/2006/main">
              <a:ext uri="{FF2B5EF4-FFF2-40B4-BE49-F238E27FC236}">
                <a16:creationId xmlns:a16="http://schemas.microsoft.com/office/drawing/2014/main" id="{45B3D46B-2973-4EC1-BED0-B2B48301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339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2" name="pill-AWS-770-462-926-text">
            <a:extLst xmlns:a="http://schemas.openxmlformats.org/drawingml/2006/main">
              <a:ext uri="{FF2B5EF4-FFF2-40B4-BE49-F238E27FC236}">
                <a16:creationId xmlns:a16="http://schemas.microsoft.com/office/drawing/2014/main" id="{9F7D2950-CAF0-4485-B2F9-F294E4F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93" name="cell-260-520">
            <a:extLst xmlns:a="http://schemas.openxmlformats.org/drawingml/2006/main">
              <a:ext uri="{FF2B5EF4-FFF2-40B4-BE49-F238E27FC236}">
                <a16:creationId xmlns:a16="http://schemas.microsoft.com/office/drawing/2014/main" id="{4C0C2F96-77FA-463F-80C6-42E5D679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4" name="cell-text-260-520">
            <a:extLst xmlns:a="http://schemas.openxmlformats.org/drawingml/2006/main">
              <a:ext uri="{FF2B5EF4-FFF2-40B4-BE49-F238E27FC236}">
                <a16:creationId xmlns:a16="http://schemas.microsoft.com/office/drawing/2014/main" id="{71504AD6-DFA9-45F9-8110-D3608BDD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482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 +</a:t>
            </a:r>
          </a:p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Top-down Entry Point</a:t>
            </a:r>
          </a:p>
        </p:txBody>
      </p:sp>
      <p:sp>
        <p:nvSpPr>
          <p:cNvPr id="95" name="cell-530-520">
            <a:extLst xmlns:a="http://schemas.openxmlformats.org/drawingml/2006/main">
              <a:ext uri="{FF2B5EF4-FFF2-40B4-BE49-F238E27FC236}">
                <a16:creationId xmlns:a16="http://schemas.microsoft.com/office/drawing/2014/main" id="{C2AF53D0-0793-402C-AEFF-B8FC6DD4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6" name="cell-text-530-520">
            <a:extLst xmlns:a="http://schemas.openxmlformats.org/drawingml/2006/main">
              <a:ext uri="{FF2B5EF4-FFF2-40B4-BE49-F238E27FC236}">
                <a16:creationId xmlns:a16="http://schemas.microsoft.com/office/drawing/2014/main" id="{E11DDB54-245C-462D-86C8-8E00D610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482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97" name="target-bg-770-520">
            <a:extLst xmlns:a="http://schemas.openxmlformats.org/drawingml/2006/main">
              <a:ext uri="{FF2B5EF4-FFF2-40B4-BE49-F238E27FC236}">
                <a16:creationId xmlns:a16="http://schemas.microsoft.com/office/drawing/2014/main" id="{3D8BE7BC-E962-4EF0-B685-CF7ABBD7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8" name="pill-Azure-770-520-784">
            <a:extLst xmlns:a="http://schemas.openxmlformats.org/drawingml/2006/main">
              <a:ext uri="{FF2B5EF4-FFF2-40B4-BE49-F238E27FC236}">
                <a16:creationId xmlns:a16="http://schemas.microsoft.com/office/drawing/2014/main" id="{42C4636C-5E71-4B20-961D-76AFB8FA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863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99" name="pill-Azure-770-520-784-text">
            <a:extLst xmlns:a="http://schemas.openxmlformats.org/drawingml/2006/main">
              <a:ext uri="{FF2B5EF4-FFF2-40B4-BE49-F238E27FC236}">
                <a16:creationId xmlns:a16="http://schemas.microsoft.com/office/drawing/2014/main" id="{E42D9F6A-3BC8-4103-A23E-623C8BB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100" name="pill-AWS-770-520-926">
            <a:extLst xmlns:a="http://schemas.openxmlformats.org/drawingml/2006/main">
              <a:ext uri="{FF2B5EF4-FFF2-40B4-BE49-F238E27FC236}">
                <a16:creationId xmlns:a16="http://schemas.microsoft.com/office/drawing/2014/main" id="{45967674-FEF6-4F38-9D5A-2F6AFF6F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863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1" name="pill-AWS-770-520-926-text">
            <a:extLst xmlns:a="http://schemas.openxmlformats.org/drawingml/2006/main">
              <a:ext uri="{FF2B5EF4-FFF2-40B4-BE49-F238E27FC236}">
                <a16:creationId xmlns:a16="http://schemas.microsoft.com/office/drawing/2014/main" id="{DA0EE483-1154-472C-9D3E-8532AD9E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102" name="cell-260-578">
            <a:extLst xmlns:a="http://schemas.openxmlformats.org/drawingml/2006/main">
              <a:ext uri="{FF2B5EF4-FFF2-40B4-BE49-F238E27FC236}">
                <a16:creationId xmlns:a16="http://schemas.microsoft.com/office/drawing/2014/main" id="{42581215-3C6E-4AE6-9E6F-E330BA0C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054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3" name="cell-text-260-578">
            <a:extLst xmlns:a="http://schemas.openxmlformats.org/drawingml/2006/main">
              <a:ext uri="{FF2B5EF4-FFF2-40B4-BE49-F238E27FC236}">
                <a16:creationId xmlns:a16="http://schemas.microsoft.com/office/drawing/2014/main" id="{4221CB27-981F-4A7D-ABB6-CC69A890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007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Cloud Discovery +</a:t>
            </a:r>
          </a:p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Tag-based Mapping</a:t>
            </a:r>
          </a:p>
        </p:txBody>
      </p:sp>
      <p:sp>
        <p:nvSpPr>
          <p:cNvPr id="104" name="cell-530-578">
            <a:extLst xmlns:a="http://schemas.openxmlformats.org/drawingml/2006/main">
              <a:ext uri="{FF2B5EF4-FFF2-40B4-BE49-F238E27FC236}">
                <a16:creationId xmlns:a16="http://schemas.microsoft.com/office/drawing/2014/main" id="{ADC72379-7E46-4F5D-BF17-7A74A01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054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5" name="cell-text-530-578">
            <a:extLst xmlns:a="http://schemas.openxmlformats.org/drawingml/2006/main">
              <a:ext uri="{FF2B5EF4-FFF2-40B4-BE49-F238E27FC236}">
                <a16:creationId xmlns:a16="http://schemas.microsoft.com/office/drawing/2014/main" id="{6607503D-4ADB-41EA-8994-8707B773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007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106" name="target-bg-770-578">
            <a:extLst xmlns:a="http://schemas.openxmlformats.org/drawingml/2006/main">
              <a:ext uri="{FF2B5EF4-FFF2-40B4-BE49-F238E27FC236}">
                <a16:creationId xmlns:a16="http://schemas.microsoft.com/office/drawing/2014/main" id="{C4AD8FC8-9882-439E-BD32-6BB7BAF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0545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7" name="pill-Azure-770-578-784">
            <a:extLst xmlns:a="http://schemas.openxmlformats.org/drawingml/2006/main">
              <a:ext uri="{FF2B5EF4-FFF2-40B4-BE49-F238E27FC236}">
                <a16:creationId xmlns:a16="http://schemas.microsoft.com/office/drawing/2014/main" id="{779EE42E-A963-4F45-AD88-C3D45F69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388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108" name="pill-Azure-770-578-784-text">
            <a:extLst xmlns:a="http://schemas.openxmlformats.org/drawingml/2006/main">
              <a:ext uri="{FF2B5EF4-FFF2-40B4-BE49-F238E27FC236}">
                <a16:creationId xmlns:a16="http://schemas.microsoft.com/office/drawing/2014/main" id="{301009CE-8261-4B9D-9800-1A3DA256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109" name="pill-AWS-770-578-926">
            <a:extLst xmlns:a="http://schemas.openxmlformats.org/drawingml/2006/main">
              <a:ext uri="{FF2B5EF4-FFF2-40B4-BE49-F238E27FC236}">
                <a16:creationId xmlns:a16="http://schemas.microsoft.com/office/drawing/2014/main" id="{C3057CE9-174C-45E4-9B60-311A4508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388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0" name="pill-AWS-770-578-926-text">
            <a:extLst xmlns:a="http://schemas.openxmlformats.org/drawingml/2006/main">
              <a:ext uri="{FF2B5EF4-FFF2-40B4-BE49-F238E27FC236}">
                <a16:creationId xmlns:a16="http://schemas.microsoft.com/office/drawing/2014/main" id="{88F531A6-8274-4E75-97EA-311473B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9595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4748B"/>
                </a:solidFill>
              </a:defRPr>
            </a:pPr>
            <a:r>
              <a:rPr sz="863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111" name="cell-260-636">
            <a:extLst xmlns:a="http://schemas.openxmlformats.org/drawingml/2006/main">
              <a:ext uri="{FF2B5EF4-FFF2-40B4-BE49-F238E27FC236}">
                <a16:creationId xmlns:a16="http://schemas.microsoft.com/office/drawing/2014/main" id="{A8A7E8DF-5B5E-460D-8B31-FC66E9F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579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2" name="cell-text-260-636">
            <a:extLst xmlns:a="http://schemas.openxmlformats.org/drawingml/2006/main">
              <a:ext uri="{FF2B5EF4-FFF2-40B4-BE49-F238E27FC236}">
                <a16:creationId xmlns:a16="http://schemas.microsoft.com/office/drawing/2014/main" id="{E2092C1F-3616-4276-8ED2-237F2F5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5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Agent Based</a:t>
            </a:r>
          </a:p>
        </p:txBody>
      </p:sp>
      <p:sp>
        <p:nvSpPr>
          <p:cNvPr id="113" name="cell-530-636">
            <a:extLst xmlns:a="http://schemas.openxmlformats.org/drawingml/2006/main">
              <a:ext uri="{FF2B5EF4-FFF2-40B4-BE49-F238E27FC236}">
                <a16:creationId xmlns:a16="http://schemas.microsoft.com/office/drawing/2014/main" id="{213E8A88-66FC-4DD3-8B66-CEA0756F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579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4" name="cell-text-530-636">
            <a:extLst xmlns:a="http://schemas.openxmlformats.org/drawingml/2006/main">
              <a:ext uri="{FF2B5EF4-FFF2-40B4-BE49-F238E27FC236}">
                <a16:creationId xmlns:a16="http://schemas.microsoft.com/office/drawing/2014/main" id="{8AEF1E93-209B-4E4E-9004-92763799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53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F2933"/>
                </a:solidFill>
              </a:defRPr>
            </a:pPr>
            <a:r>
              <a:rPr sz="1013" b="0">
                <a:solidFill>
                  <a:srgbClr val="1F2933"/>
                </a:solidFill>
              </a:rPr>
              <a:t>Credential</a:t>
            </a:r>
          </a:p>
        </p:txBody>
      </p:sp>
      <p:sp>
        <p:nvSpPr>
          <p:cNvPr id="115" name="target-bg-770-636">
            <a:extLst xmlns:a="http://schemas.openxmlformats.org/drawingml/2006/main">
              <a:ext uri="{FF2B5EF4-FFF2-40B4-BE49-F238E27FC236}">
                <a16:creationId xmlns:a16="http://schemas.microsoft.com/office/drawing/2014/main" id="{EE8FFDF3-68B3-4662-B044-C6763073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000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6" name="pill-Windows-770-636-784">
            <a:extLst xmlns:a="http://schemas.openxmlformats.org/drawingml/2006/main">
              <a:ext uri="{FF2B5EF4-FFF2-40B4-BE49-F238E27FC236}">
                <a16:creationId xmlns:a16="http://schemas.microsoft.com/office/drawing/2014/main" id="{7910DC89-FB1D-464C-B941-FBD2A32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1912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117" name="pill-Windows-770-636-784-text">
            <a:extLst xmlns:a="http://schemas.openxmlformats.org/drawingml/2006/main">
              <a:ext uri="{FF2B5EF4-FFF2-40B4-BE49-F238E27FC236}">
                <a16:creationId xmlns:a16="http://schemas.microsoft.com/office/drawing/2014/main" id="{9659D90D-97DF-44F8-AD91-49BD528F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2484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118" name="pill-Linux-770-636-926">
            <a:extLst xmlns:a="http://schemas.openxmlformats.org/drawingml/2006/main">
              <a:ext uri="{FF2B5EF4-FFF2-40B4-BE49-F238E27FC236}">
                <a16:creationId xmlns:a16="http://schemas.microsoft.com/office/drawing/2014/main" id="{AEB41224-DFD9-44E6-BE95-2AC28773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19125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119" name="pill-Linux-770-636-926-text">
            <a:extLst xmlns:a="http://schemas.openxmlformats.org/drawingml/2006/main">
              <a:ext uri="{FF2B5EF4-FFF2-40B4-BE49-F238E27FC236}">
                <a16:creationId xmlns:a16="http://schemas.microsoft.com/office/drawing/2014/main" id="{10DA5FB6-9592-42DC-9605-5B0BCBB5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484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C65911"/>
                </a:solidFill>
              </a:defRPr>
            </a:pPr>
            <a:r>
              <a:rPr sz="863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120" name="divider-1">
            <a:extLst xmlns:a="http://schemas.openxmlformats.org/drawingml/2006/main">
              <a:ext uri="{FF2B5EF4-FFF2-40B4-BE49-F238E27FC236}">
                <a16:creationId xmlns:a16="http://schemas.microsoft.com/office/drawing/2014/main" id="{C22E15EA-89E9-445D-8397-1B16599C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366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21" name="divider-2">
            <a:extLst xmlns:a="http://schemas.openxmlformats.org/drawingml/2006/main">
              <a:ext uri="{FF2B5EF4-FFF2-40B4-BE49-F238E27FC236}">
                <a16:creationId xmlns:a16="http://schemas.microsoft.com/office/drawing/2014/main" id="{5834F538-ADAE-4FA6-A3AD-6E2AD9D5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366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9525">
            <a:solidFill>
              <a:srgbClr val="548235"/>
            </a:solidFill>
            <a:prstDash val="solid"/>
          </a:ln>
        </p:spPr>
      </p:sp>
      <p:sp>
        <p:nvSpPr>
          <p:cNvPr id="122" name="note-card-1">
            <a:extLst xmlns:a="http://schemas.openxmlformats.org/drawingml/2006/main">
              <a:ext uri="{FF2B5EF4-FFF2-40B4-BE49-F238E27FC236}">
                <a16:creationId xmlns:a16="http://schemas.microsoft.com/office/drawing/2014/main" id="{05076C80-8E89-4D54-B7A6-F7F175FE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38950"/>
            <a:ext cx="4286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23" name="note-card-1-title">
            <a:extLst xmlns:a="http://schemas.openxmlformats.org/drawingml/2006/main">
              <a:ext uri="{FF2B5EF4-FFF2-40B4-BE49-F238E27FC236}">
                <a16:creationId xmlns:a16="http://schemas.microsoft.com/office/drawing/2014/main" id="{B571F5B5-A43E-4644-962F-BB4A5719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65911"/>
                </a:solidFill>
              </a:defRPr>
            </a:pPr>
            <a:r>
              <a:rPr sz="1125" b="1">
                <a:solidFill>
                  <a:srgbClr val="C65911"/>
                </a:solidFill>
              </a:rPr>
              <a:t>补充说明</a:t>
            </a:r>
          </a:p>
        </p:txBody>
      </p:sp>
      <p:sp>
        <p:nvSpPr>
          <p:cNvPr id="124" name="note-card-1-body">
            <a:extLst xmlns:a="http://schemas.openxmlformats.org/drawingml/2006/main">
              <a:ext uri="{FF2B5EF4-FFF2-40B4-BE49-F238E27FC236}">
                <a16:creationId xmlns:a16="http://schemas.microsoft.com/office/drawing/2014/main" id="{CA43070A-1DA0-466E-AFE7-9F4C02C6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8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A3412"/>
                </a:solidFill>
              </a:defRPr>
            </a:pPr>
            <a:r>
              <a:rPr sz="863" b="0">
                <a:solidFill>
                  <a:srgbClr val="9A3412"/>
                </a:solidFill>
              </a:rPr>
              <a:t>NW(PaloAlto) 可作为网络设备发现对象；若客户要求 Discovery 流量经过 Palo Alto，则应使用“网关版 / B案”图说明。</a:t>
            </a:r>
          </a:p>
        </p:txBody>
      </p:sp>
      <p:sp>
        <p:nvSpPr>
          <p:cNvPr id="125" name="note-card-2">
            <a:extLst xmlns:a="http://schemas.openxmlformats.org/drawingml/2006/main">
              <a:ext uri="{FF2B5EF4-FFF2-40B4-BE49-F238E27FC236}">
                <a16:creationId xmlns:a16="http://schemas.microsoft.com/office/drawing/2014/main" id="{F7B0FF91-F173-45A2-ABA7-277B351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838950"/>
            <a:ext cx="4286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26" name="note-card-2-title">
            <a:extLst xmlns:a="http://schemas.openxmlformats.org/drawingml/2006/main">
              <a:ext uri="{FF2B5EF4-FFF2-40B4-BE49-F238E27FC236}">
                <a16:creationId xmlns:a16="http://schemas.microsoft.com/office/drawing/2014/main" id="{8FE15C69-52E3-4ACF-BFCB-8A6D9040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9532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95B"/>
                </a:solidFill>
              </a:defRPr>
            </a:pPr>
            <a:r>
              <a:rPr sz="1125" b="1">
                <a:solidFill>
                  <a:srgbClr val="12395B"/>
                </a:solidFill>
              </a:rPr>
              <a:t>Cloud Discovery</a:t>
            </a:r>
          </a:p>
        </p:txBody>
      </p:sp>
      <p:sp>
        <p:nvSpPr>
          <p:cNvPr id="127" name="note-card-2-body">
            <a:extLst xmlns:a="http://schemas.openxmlformats.org/drawingml/2006/main">
              <a:ext uri="{FF2B5EF4-FFF2-40B4-BE49-F238E27FC236}">
                <a16:creationId xmlns:a16="http://schemas.microsoft.com/office/drawing/2014/main" id="{DFDA7D02-B948-4AF1-BDDF-0F0BE99D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18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395B"/>
                </a:solidFill>
              </a:defRPr>
            </a:pPr>
            <a:r>
              <a:rPr sz="863" b="0">
                <a:solidFill>
                  <a:srgbClr val="12395B"/>
                </a:solidFill>
              </a:rPr>
              <a:t>Azure / AWS は VM 内部ではなく Cloud Account / API 层の资源发现。此次 PoC 建议优先 Azure。</a:t>
            </a:r>
          </a:p>
        </p:txBody>
      </p:sp>
      <p:sp>
        <p:nvSpPr>
          <p:cNvPr id="128" name="note-card-3">
            <a:extLst xmlns:a="http://schemas.openxmlformats.org/drawingml/2006/main">
              <a:ext uri="{FF2B5EF4-FFF2-40B4-BE49-F238E27FC236}">
                <a16:creationId xmlns:a16="http://schemas.microsoft.com/office/drawing/2014/main" id="{ED8D4377-78FE-4A83-8DBB-ECCD5F92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838950"/>
            <a:ext cx="46291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29" name="note-card-3-title">
            <a:extLst xmlns:a="http://schemas.openxmlformats.org/drawingml/2006/main">
              <a:ext uri="{FF2B5EF4-FFF2-40B4-BE49-F238E27FC236}">
                <a16:creationId xmlns:a16="http://schemas.microsoft.com/office/drawing/2014/main" id="{F3AB59FE-0561-483C-B57F-48C7B92D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9532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48235"/>
                </a:solidFill>
              </a:defRPr>
            </a:pPr>
            <a:r>
              <a:rPr sz="1125" b="1">
                <a:solidFill>
                  <a:srgbClr val="548235"/>
                </a:solidFill>
              </a:rPr>
              <a:t>ACC</a:t>
            </a:r>
          </a:p>
        </p:txBody>
      </p:sp>
      <p:sp>
        <p:nvSpPr>
          <p:cNvPr id="130" name="note-card-3-body">
            <a:extLst xmlns:a="http://schemas.openxmlformats.org/drawingml/2006/main">
              <a:ext uri="{FF2B5EF4-FFF2-40B4-BE49-F238E27FC236}">
                <a16:creationId xmlns:a16="http://schemas.microsoft.com/office/drawing/2014/main" id="{CBD1F77B-F434-4170-A874-6B3FA24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181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ACC は Agent Based。Windows / Linux 主机に Agent を導入し、通常 Discovery との差分を確認する。</a:t>
            </a:r>
          </a:p>
        </p:txBody>
      </p:sp>
      <p:sp>
        <p:nvSpPr>
          <p:cNvPr id="131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4B07560-B6F7-4B0D-A3CD-38352355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1366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2" name="footer">
            <a:extLst xmlns:a="http://schemas.openxmlformats.org/drawingml/2006/main">
              <a:ext uri="{FF2B5EF4-FFF2-40B4-BE49-F238E27FC236}">
                <a16:creationId xmlns:a16="http://schemas.microsoft.com/office/drawing/2014/main" id="{2008E997-EF5F-4735-80AE-D5B9E689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105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</a:defRPr>
            </a:pPr>
            <a:r>
              <a:rPr sz="863" b="0">
                <a:solidFill>
                  <a:srgbClr val="475569"/>
                </a:solidFill>
              </a:rPr>
              <a:t>構造：大分類 → 中分類 → 小分類 → 検証対象。原始表の内容を整理し、対象項目をタグ化して可読性を上げたもの。</a:t>
            </a:r>
          </a:p>
        </p:txBody>
      </p:sp>
    </p:spTree>
    <p:extLst>
      <p:ext uri="{BB962C8B-B14F-4D97-AF65-F5344CB8AC3E}">
        <p14:creationId xmlns:p14="http://schemas.microsoft.com/office/powerpoint/2010/main" val="2090962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2026-06-18T04:13:15.1100000Z</dcterms:created>
  <dcterms:modified xsi:type="dcterms:W3CDTF">2026-06-18T04:13:15.1100000Z</dcterms:modified>
</coreProperties>
</file>